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67" r:id="rId3"/>
    <p:sldId id="268" r:id="rId4"/>
    <p:sldId id="272" r:id="rId5"/>
    <p:sldId id="257" r:id="rId6"/>
    <p:sldId id="261" r:id="rId7"/>
    <p:sldId id="269" r:id="rId8"/>
    <p:sldId id="273" r:id="rId9"/>
    <p:sldId id="260" r:id="rId10"/>
    <p:sldId id="275" r:id="rId11"/>
    <p:sldId id="274" r:id="rId12"/>
    <p:sldId id="276" r:id="rId13"/>
    <p:sldId id="277" r:id="rId14"/>
    <p:sldId id="278" r:id="rId15"/>
    <p:sldId id="279" r:id="rId16"/>
    <p:sldId id="271" r:id="rId17"/>
    <p:sldId id="285" r:id="rId18"/>
    <p:sldId id="284" r:id="rId19"/>
    <p:sldId id="283" r:id="rId20"/>
    <p:sldId id="282" r:id="rId21"/>
    <p:sldId id="286" r:id="rId22"/>
    <p:sldId id="287" r:id="rId23"/>
    <p:sldId id="288" r:id="rId24"/>
    <p:sldId id="281" r:id="rId25"/>
    <p:sldId id="280" r:id="rId26"/>
    <p:sldId id="265" r:id="rId27"/>
    <p:sldId id="264" r:id="rId28"/>
    <p:sldId id="26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05-12-2023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74EFEE0-0CD7-45A5-A730-5EC8BDE0D8D9}" type="datetime1">
              <a:rPr lang="en-IN" smtClean="0"/>
              <a:t>05-12-2023</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B7DE58-FC96-420A-ACEA-15241A896A4C}" type="datetime1">
              <a:rPr lang="en-IN" smtClean="0"/>
              <a:t>05-12-2023</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649E9C-B3B6-46FE-A568-B9D577388D42}" type="datetime1">
              <a:rPr lang="en-IN" smtClean="0"/>
              <a:t>05-12-2023</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23CA508-102F-45DB-994A-FCDA0CAE14C8}" type="datetime1">
              <a:rPr lang="en-IN" smtClean="0"/>
              <a:t>05-12-2023</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2CC774E-B8A2-4F5C-B5FA-D785A0C05A2E}" type="datetime1">
              <a:rPr lang="en-IN" smtClean="0"/>
              <a:t>05-12-2023</a:t>
            </a:fld>
            <a:endParaRPr lang="en-IN"/>
          </a:p>
        </p:txBody>
      </p:sp>
      <p:sp>
        <p:nvSpPr>
          <p:cNvPr id="8" name="Footer Placeholder 7"/>
          <p:cNvSpPr>
            <a:spLocks noGrp="1"/>
          </p:cNvSpPr>
          <p:nvPr>
            <p:ph type="ftr" sz="quarter" idx="11"/>
          </p:nvPr>
        </p:nvSpPr>
        <p:spPr/>
        <p:txBody>
          <a:bodyPr/>
          <a:lstStyle/>
          <a:p>
            <a:r>
              <a:rPr lang="en-IN"/>
              <a:t>CS6501 Project I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09F70BE-0155-47E7-8509-A88648CCEC82}" type="datetime1">
              <a:rPr lang="en-IN" smtClean="0"/>
              <a:t>05-12-2023</a:t>
            </a:fld>
            <a:endParaRPr lang="en-IN"/>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D7DE71-85FA-4296-BD22-FA3717DCA8E2}" type="datetime1">
              <a:rPr lang="en-IN" smtClean="0"/>
              <a:t>05-12-2023</a:t>
            </a:fld>
            <a:endParaRPr lang="en-IN"/>
          </a:p>
        </p:txBody>
      </p:sp>
      <p:sp>
        <p:nvSpPr>
          <p:cNvPr id="3" name="Footer Placeholder 2"/>
          <p:cNvSpPr>
            <a:spLocks noGrp="1"/>
          </p:cNvSpPr>
          <p:nvPr>
            <p:ph type="ftr" sz="quarter" idx="11"/>
          </p:nvPr>
        </p:nvSpPr>
        <p:spPr/>
        <p:txBody>
          <a:bodyPr/>
          <a:lstStyle/>
          <a:p>
            <a:r>
              <a:rPr lang="en-IN"/>
              <a:t>CS6501 Project I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C2EEF0E-D1E3-413E-934B-8549D7D1A21A}" type="datetime1">
              <a:rPr lang="en-IN" smtClean="0"/>
              <a:t>05-12-2023</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472768-1913-4B51-9959-F62F8ED684BE}" type="datetime1">
              <a:rPr lang="en-IN" smtClean="0"/>
              <a:t>05-12-2023</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653BA-939B-4E91-B3F4-265E71AFADD6}" type="datetime1">
              <a:rPr lang="en-IN" smtClean="0"/>
              <a:t>05-12-2023</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CF933-5EA4-4E01-9CD8-F0B091D3891D}" type="datetime1">
              <a:rPr lang="en-IN" smtClean="0"/>
              <a:t>05-12-2023</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4838B7-DBF2-4351-ADC6-B01D4416F11D}" type="datetime1">
              <a:rPr lang="en-IN" smtClean="0"/>
              <a:t>05-12-2023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CS6501 Project I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code/jorgegarciainiguez/global-financial-crisis-analytic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568"/>
            <a:ext cx="9144000" cy="4124194"/>
          </a:xfrm>
        </p:spPr>
        <p:txBody>
          <a:bodyPr/>
          <a:lstStyle/>
          <a:p>
            <a:r>
              <a:rPr kumimoji="0" lang="en-US" sz="3200" b="0" i="0" u="none" strike="noStrike" kern="1200" cap="none" spc="0" normalizeH="0" baseline="0" noProof="0" dirty="0">
                <a:ln>
                  <a:noFill/>
                </a:ln>
                <a:solidFill>
                  <a:prstClr val="black"/>
                </a:solidFill>
                <a:effectLst/>
                <a:uLnTx/>
                <a:uFillTx/>
                <a:latin typeface="Calibri" panose="020F0502020204030204"/>
                <a:ea typeface="+mj-ea"/>
                <a:cs typeface="+mj-cs"/>
              </a:rPr>
              <a:t>Project Title: </a:t>
            </a:r>
            <a:r>
              <a:rPr kumimoji="0" lang="en-US" sz="3200" b="1" i="0" u="none" strike="noStrike" kern="1200" cap="none" spc="0" normalizeH="0" baseline="0" noProof="0" dirty="0">
                <a:ln>
                  <a:noFill/>
                </a:ln>
                <a:solidFill>
                  <a:srgbClr val="0F0F0F"/>
                </a:solidFill>
                <a:effectLst/>
                <a:uLnTx/>
                <a:uFillTx/>
                <a:latin typeface="Calibri" panose="020F0502020204030204"/>
                <a:ea typeface="+mj-ea"/>
                <a:cs typeface="+mj-cs"/>
              </a:rPr>
              <a:t>Behavioral Finance Patterns in Predicting Global Financial Crises: An Analytical Approach to Crisis Forecasting</a:t>
            </a:r>
            <a:br>
              <a:rPr kumimoji="0" lang="en-US" sz="3200" b="1" i="0" u="none" strike="noStrike" kern="1200" cap="none" spc="0" normalizeH="0" baseline="0" noProof="0" dirty="0">
                <a:ln>
                  <a:noFill/>
                </a:ln>
                <a:solidFill>
                  <a:srgbClr val="0F0F0F"/>
                </a:solidFill>
                <a:effectLst/>
                <a:uLnTx/>
                <a:uFillTx/>
                <a:latin typeface="Calibri" panose="020F0502020204030204"/>
                <a:ea typeface="+mj-ea"/>
                <a:cs typeface="+mj-cs"/>
              </a:rPr>
            </a:br>
            <a:br>
              <a:rPr kumimoji="0" lang="en-US" sz="3200" b="0" i="0" u="none" strike="noStrike" kern="1200" cap="none" spc="0" normalizeH="0" baseline="0" noProof="0" dirty="0">
                <a:ln>
                  <a:noFill/>
                </a:ln>
                <a:solidFill>
                  <a:prstClr val="black"/>
                </a:solidFill>
                <a:effectLst/>
                <a:uLnTx/>
                <a:uFillTx/>
                <a:latin typeface="Arial Narrow" panose="020B0606020202030204" pitchFamily="34" charset="0"/>
                <a:ea typeface="+mj-ea"/>
                <a:cs typeface="+mj-cs"/>
              </a:rPr>
            </a:br>
            <a:r>
              <a:rPr kumimoji="0" lang="en-US" sz="3200" b="0" i="0" u="none" strike="noStrike" kern="1200" cap="none" spc="0" normalizeH="0" baseline="0" noProof="0" dirty="0">
                <a:ln>
                  <a:noFill/>
                </a:ln>
                <a:solidFill>
                  <a:prstClr val="black"/>
                </a:solidFill>
                <a:effectLst/>
                <a:uLnTx/>
                <a:uFillTx/>
                <a:latin typeface="Arial Narrow" panose="020B0606020202030204" pitchFamily="34" charset="0"/>
                <a:ea typeface="+mj-ea"/>
                <a:cs typeface="+mj-cs"/>
              </a:rPr>
              <a:t>Domain: </a:t>
            </a:r>
            <a:r>
              <a:rPr kumimoji="0" lang="en-US" sz="3200" b="1" i="0" u="none" strike="noStrike" kern="1200" cap="none" spc="0" normalizeH="0" baseline="0" noProof="0" dirty="0">
                <a:ln>
                  <a:noFill/>
                </a:ln>
                <a:solidFill>
                  <a:prstClr val="black"/>
                </a:solidFill>
                <a:effectLst/>
                <a:uLnTx/>
                <a:uFillTx/>
                <a:latin typeface="Arial Narrow" panose="020B0606020202030204" pitchFamily="34" charset="0"/>
                <a:ea typeface="+mj-ea"/>
                <a:cs typeface="+mj-cs"/>
              </a:rPr>
              <a:t>Economics &amp; Finance</a:t>
            </a:r>
            <a:br>
              <a:rPr lang="en-US" dirty="0">
                <a:latin typeface="Arial Narrow" panose="020B0606020202030204" pitchFamily="34" charset="0"/>
              </a:rPr>
            </a:br>
            <a:r>
              <a:rPr lang="en-US" dirty="0">
                <a:latin typeface="Arial Narrow" panose="020B0606020202030204" pitchFamily="34" charset="0"/>
              </a:rPr>
              <a:t> </a:t>
            </a:r>
            <a:endParaRPr lang="en-IN"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sz="2400" b="1" dirty="0">
                <a:solidFill>
                  <a:schemeClr val="tx1"/>
                </a:solidFill>
              </a:rPr>
              <a:t>Register Number: </a:t>
            </a:r>
            <a:r>
              <a:rPr lang="en-US" sz="2400" dirty="0">
                <a:solidFill>
                  <a:schemeClr val="tx1"/>
                </a:solidFill>
              </a:rPr>
              <a:t>23MSP3068</a:t>
            </a:r>
          </a:p>
          <a:p>
            <a:pPr algn="r"/>
            <a:r>
              <a:rPr lang="en-US" sz="2400" b="1" dirty="0">
                <a:solidFill>
                  <a:schemeClr val="tx1"/>
                </a:solidFill>
              </a:rPr>
              <a:t>Name:</a:t>
            </a:r>
            <a:r>
              <a:rPr lang="en-US" sz="2400" dirty="0">
                <a:solidFill>
                  <a:schemeClr val="tx1"/>
                </a:solidFill>
              </a:rPr>
              <a:t> Dha</a:t>
            </a:r>
            <a:r>
              <a:rPr lang="en-US" sz="2400" dirty="0"/>
              <a:t>rshani</a:t>
            </a:r>
            <a:r>
              <a:rPr lang="en-US" sz="2400" dirty="0">
                <a:solidFill>
                  <a:schemeClr val="tx1"/>
                </a:solidFill>
              </a:rPr>
              <a:t> A.</a:t>
            </a:r>
          </a:p>
          <a:p>
            <a:pPr algn="r"/>
            <a:r>
              <a:rPr lang="en-US" sz="2400" b="1" dirty="0">
                <a:solidFill>
                  <a:schemeClr val="tx1"/>
                </a:solidFill>
              </a:rPr>
              <a:t>Date: </a:t>
            </a:r>
            <a:r>
              <a:rPr lang="en-US" sz="2400" dirty="0">
                <a:solidFill>
                  <a:schemeClr val="tx1"/>
                </a:solidFill>
              </a:rPr>
              <a:t>05-12-2023</a:t>
            </a:r>
            <a:endParaRPr lang="en-IN" sz="2400" dirty="0">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Second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latin typeface="Arial Narrow" panose="020B0606020202030204" pitchFamily="34" charset="0"/>
              </a:rPr>
              <a:t>CS6510</a:t>
            </a:r>
          </a:p>
          <a:p>
            <a:r>
              <a:rPr lang="en-US" b="1" dirty="0">
                <a:latin typeface="Arial Narrow" panose="020B0606020202030204" pitchFamily="34" charset="0"/>
              </a:rPr>
              <a:t>Course Title:  </a:t>
            </a:r>
            <a:r>
              <a:rPr lang="en-US">
                <a:latin typeface="Arial Narrow" panose="020B0606020202030204" pitchFamily="34" charset="0"/>
              </a:rPr>
              <a:t>Project 1</a:t>
            </a:r>
            <a:endParaRPr lang="en-IN" dirty="0">
              <a:latin typeface="Arial Narrow" panose="020B0606020202030204" pitchFamily="34" charset="0"/>
            </a:endParaRPr>
          </a:p>
        </p:txBody>
      </p:sp>
      <p:sp>
        <p:nvSpPr>
          <p:cNvPr id="7" name="Footer Placeholder 6"/>
          <p:cNvSpPr>
            <a:spLocks noGrp="1"/>
          </p:cNvSpPr>
          <p:nvPr>
            <p:ph type="ftr" sz="quarter" idx="11"/>
          </p:nvPr>
        </p:nvSpPr>
        <p:spPr/>
        <p:txBody>
          <a:bodyPr/>
          <a:lstStyle/>
          <a:p>
            <a:r>
              <a:rPr lang="en-IN" b="1" dirty="0">
                <a:latin typeface="Arial Narrow" panose="020B0606020202030204" pitchFamily="34" charset="0"/>
              </a:rPr>
              <a:t>CS6501 Project I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223"/>
            <a:ext cx="10515600" cy="1325563"/>
          </a:xfrm>
        </p:spPr>
        <p:txBody>
          <a:bodyPr/>
          <a:lstStyle/>
          <a:p>
            <a:r>
              <a:rPr lang="en-US" b="1" dirty="0">
                <a:latin typeface="Arial Narrow" panose="020B0606020202030204" pitchFamily="34" charset="0"/>
              </a:rPr>
              <a:t>Abstract</a:t>
            </a:r>
            <a:endParaRPr lang="en-IN" b="1" dirty="0">
              <a:latin typeface="Arial Narrow" panose="020B0606020202030204" pitchFamily="34" charset="0"/>
            </a:endParaRPr>
          </a:p>
        </p:txBody>
      </p:sp>
      <p:sp>
        <p:nvSpPr>
          <p:cNvPr id="3" name="Content Placeholder 2"/>
          <p:cNvSpPr>
            <a:spLocks noGrp="1"/>
          </p:cNvSpPr>
          <p:nvPr>
            <p:ph idx="1"/>
          </p:nvPr>
        </p:nvSpPr>
        <p:spPr>
          <a:xfrm>
            <a:off x="127000" y="836007"/>
            <a:ext cx="11938000" cy="5702905"/>
          </a:xfrm>
        </p:spPr>
        <p:txBody>
          <a:bodyPr>
            <a:normAutofit fontScale="85000" lnSpcReduction="10000"/>
          </a:bodyPr>
          <a:lstStyle/>
          <a:p>
            <a:pPr algn="l">
              <a:lnSpc>
                <a:spcPct val="120000"/>
              </a:lnSpc>
            </a:pPr>
            <a:r>
              <a:rPr lang="en-US" b="0" i="0" dirty="0">
                <a:effectLst/>
                <a:latin typeface="Söhne"/>
              </a:rPr>
              <a:t>The financial sector's constant evolution necessitates predictive models for crisis prevention. This study, using a dataset from Global Financial Crisis Analytics, constructs a predictive model by integrating SARIMAX time series analysis with advanced machine learning. </a:t>
            </a:r>
          </a:p>
          <a:p>
            <a:pPr algn="l">
              <a:lnSpc>
                <a:spcPct val="120000"/>
              </a:lnSpc>
            </a:pPr>
            <a:r>
              <a:rPr lang="en-US" b="0" i="0" dirty="0">
                <a:effectLst/>
                <a:latin typeface="Söhne"/>
              </a:rPr>
              <a:t>With goals to predict global financial crises and understand economic fluctuations, the methodology, rooted in behavioral finance, employs regression analysis and pattern recognition. The findings reveal a clear relationship between specific economic indicators and the onset of financial crises.</a:t>
            </a:r>
          </a:p>
          <a:p>
            <a:pPr algn="l">
              <a:lnSpc>
                <a:spcPct val="120000"/>
              </a:lnSpc>
            </a:pPr>
            <a:r>
              <a:rPr lang="en-US" b="0" i="0" dirty="0">
                <a:effectLst/>
                <a:latin typeface="Söhne"/>
              </a:rPr>
              <a:t>The research's outcomes carry significant implications for policymaking and investments, offering new directions to mitigate financial risks. By merging econometric techniques with modern machine learning, this study provides fresh insights into behavioral finance and a robust model for predicting economic downturns.</a:t>
            </a:r>
          </a:p>
          <a:p>
            <a:pPr algn="l">
              <a:lnSpc>
                <a:spcPct val="120000"/>
              </a:lnSpc>
            </a:pPr>
            <a:r>
              <a:rPr lang="en-US" b="0" i="0" dirty="0">
                <a:effectLst/>
                <a:latin typeface="Söhne"/>
              </a:rPr>
              <a:t>Keywords: Global Financial Crisis, Predictive Modeling, Economic Indicators, Machine Learning, Time Series Analysis, SARIMAX, Logistic Regression Analysis, Behavioral Finance.</a:t>
            </a:r>
          </a:p>
          <a:p>
            <a:pPr marL="0" indent="0">
              <a:buNone/>
            </a:pP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dirty="0"/>
          </a:p>
        </p:txBody>
      </p:sp>
    </p:spTree>
    <p:extLst>
      <p:ext uri="{BB962C8B-B14F-4D97-AF65-F5344CB8AC3E}">
        <p14:creationId xmlns:p14="http://schemas.microsoft.com/office/powerpoint/2010/main" val="93000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532" y="-127590"/>
            <a:ext cx="10515600" cy="1325563"/>
          </a:xfrm>
        </p:spPr>
        <p:txBody>
          <a:bodyPr/>
          <a:lstStyle/>
          <a:p>
            <a:r>
              <a:rPr lang="en-US" b="1" dirty="0">
                <a:latin typeface="Arial Narrow" panose="020B0606020202030204" pitchFamily="34" charset="0"/>
              </a:rPr>
              <a:t>Introduction</a:t>
            </a:r>
            <a:endParaRPr lang="en-IN" dirty="0">
              <a:latin typeface="Arial Narrow" panose="020B0606020202030204" pitchFamily="34" charset="0"/>
            </a:endParaRPr>
          </a:p>
        </p:txBody>
      </p:sp>
      <p:sp>
        <p:nvSpPr>
          <p:cNvPr id="3" name="Content Placeholder 2"/>
          <p:cNvSpPr>
            <a:spLocks noGrp="1"/>
          </p:cNvSpPr>
          <p:nvPr>
            <p:ph idx="1"/>
          </p:nvPr>
        </p:nvSpPr>
        <p:spPr>
          <a:xfrm>
            <a:off x="147320" y="1025215"/>
            <a:ext cx="11897360" cy="5428748"/>
          </a:xfrm>
        </p:spPr>
        <p:txBody>
          <a:bodyPr>
            <a:normAutofit/>
          </a:bodyPr>
          <a:lstStyle/>
          <a:p>
            <a:pPr marL="0" indent="0">
              <a:buNone/>
            </a:pPr>
            <a:endParaRPr lang="en-IN" sz="1600" dirty="0"/>
          </a:p>
          <a:p>
            <a:pPr marL="0" indent="0" algn="just">
              <a:buNone/>
            </a:pPr>
            <a:endParaRPr lang="en-IN" sz="1600"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
        <p:nvSpPr>
          <p:cNvPr id="13" name="TextBox 12">
            <a:extLst>
              <a:ext uri="{FF2B5EF4-FFF2-40B4-BE49-F238E27FC236}">
                <a16:creationId xmlns:a16="http://schemas.microsoft.com/office/drawing/2014/main" id="{1CB21E2C-0579-F5F4-6C42-FE338EC85146}"/>
              </a:ext>
            </a:extLst>
          </p:cNvPr>
          <p:cNvSpPr txBox="1"/>
          <p:nvPr/>
        </p:nvSpPr>
        <p:spPr>
          <a:xfrm>
            <a:off x="73660" y="836586"/>
            <a:ext cx="12044680" cy="5632311"/>
          </a:xfrm>
          <a:prstGeom prst="rect">
            <a:avLst/>
          </a:prstGeom>
          <a:noFill/>
        </p:spPr>
        <p:txBody>
          <a:bodyPr wrap="square">
            <a:spAutoFit/>
          </a:bodyPr>
          <a:lstStyle/>
          <a:p>
            <a:pPr marL="342900" indent="-342900">
              <a:buFont typeface="Arial" panose="020B0604020202020204" pitchFamily="34" charset="0"/>
              <a:buChar char="•"/>
            </a:pPr>
            <a:r>
              <a:rPr lang="en-IN" sz="2400" dirty="0"/>
              <a:t>This research conducts a thorough examination of key elements crucial for understanding financial dynamics, with a specific focus on historical economic data and market </a:t>
            </a:r>
            <a:r>
              <a:rPr lang="en-IN" sz="2400" dirty="0" err="1"/>
              <a:t>behaviors</a:t>
            </a:r>
            <a:r>
              <a:rPr lang="en-IN" sz="2400" dirty="0"/>
              <a:t>, especially during past global financial downturns.</a:t>
            </a:r>
          </a:p>
          <a:p>
            <a:pPr marL="342900" indent="-342900">
              <a:buFont typeface="Arial" panose="020B0604020202020204" pitchFamily="34" charset="0"/>
              <a:buChar char="•"/>
            </a:pPr>
            <a:r>
              <a:rPr lang="en-IN" sz="2400" dirty="0"/>
              <a:t>Utilizing datasets from Global Financial Crisis Analytics, the study uniquely integrates SARIMAX time series analysis, advanced machine learning with logistic regression, and LSTM neural networks to develop an innovative approach for identifying patterns indicative of financial crises.</a:t>
            </a:r>
          </a:p>
          <a:p>
            <a:pPr marL="342900" indent="-342900">
              <a:buFont typeface="Arial" panose="020B0604020202020204" pitchFamily="34" charset="0"/>
              <a:buChar char="•"/>
            </a:pPr>
            <a:r>
              <a:rPr lang="en-IN" sz="2400" dirty="0"/>
              <a:t>Rooted in </a:t>
            </a:r>
            <a:r>
              <a:rPr lang="en-IN" sz="2400" dirty="0" err="1"/>
              <a:t>behavioral</a:t>
            </a:r>
            <a:r>
              <a:rPr lang="en-IN" sz="2400" dirty="0"/>
              <a:t> finance principles, the methodology places a strong emphasis on the interplay between market </a:t>
            </a:r>
            <a:r>
              <a:rPr lang="en-IN" sz="2400" dirty="0" err="1"/>
              <a:t>behaviors</a:t>
            </a:r>
            <a:r>
              <a:rPr lang="en-IN" sz="2400" dirty="0"/>
              <a:t> and economic indicators in the lead-up to financial crises.</a:t>
            </a:r>
          </a:p>
          <a:p>
            <a:pPr marL="342900" indent="-342900">
              <a:buFont typeface="Arial" panose="020B0604020202020204" pitchFamily="34" charset="0"/>
              <a:buChar char="•"/>
            </a:pPr>
            <a:r>
              <a:rPr lang="en-IN" sz="2400" dirty="0"/>
              <a:t>With the goal of forecasting and decoding financial instability with analytical precision, the research anticipates outcomes such as global crisis prediction, insights into economic fluctuations, and meaningful implications for policy-making and investment decisions.</a:t>
            </a:r>
          </a:p>
          <a:p>
            <a:pPr marL="342900" indent="-342900">
              <a:buFont typeface="Arial" panose="020B0604020202020204" pitchFamily="34" charset="0"/>
              <a:buChar char="•"/>
            </a:pPr>
            <a:r>
              <a:rPr lang="en-IN" sz="2400" dirty="0"/>
              <a:t>Ultimately, this study aspires to provide accessible insights into </a:t>
            </a:r>
            <a:r>
              <a:rPr lang="en-IN" sz="2400" dirty="0" err="1"/>
              <a:t>behavioral</a:t>
            </a:r>
            <a:r>
              <a:rPr lang="en-IN" sz="2400" dirty="0"/>
              <a:t> finance, enriching our understanding of economic downturns and crisis forecasting within the field.</a:t>
            </a:r>
          </a:p>
        </p:txBody>
      </p:sp>
    </p:spTree>
    <p:extLst>
      <p:ext uri="{BB962C8B-B14F-4D97-AF65-F5344CB8AC3E}">
        <p14:creationId xmlns:p14="http://schemas.microsoft.com/office/powerpoint/2010/main" val="25653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168" y="18255"/>
            <a:ext cx="10515600" cy="1325563"/>
          </a:xfrm>
        </p:spPr>
        <p:txBody>
          <a:bodyPr/>
          <a:lstStyle/>
          <a:p>
            <a:r>
              <a:rPr lang="en-US" b="1" dirty="0">
                <a:latin typeface="Arial Narrow" panose="020B0606020202030204" pitchFamily="34" charset="0"/>
              </a:rPr>
              <a:t>Need for Research</a:t>
            </a:r>
            <a:endParaRPr lang="en-IN" b="1" dirty="0">
              <a:latin typeface="Arial Narrow" panose="020B0606020202030204" pitchFamily="34" charset="0"/>
            </a:endParaRPr>
          </a:p>
        </p:txBody>
      </p:sp>
      <p:sp>
        <p:nvSpPr>
          <p:cNvPr id="3" name="Content Placeholder 2"/>
          <p:cNvSpPr>
            <a:spLocks noGrp="1"/>
          </p:cNvSpPr>
          <p:nvPr>
            <p:ph idx="1"/>
          </p:nvPr>
        </p:nvSpPr>
        <p:spPr>
          <a:xfrm>
            <a:off x="172720" y="1041992"/>
            <a:ext cx="11775440" cy="5409608"/>
          </a:xfrm>
        </p:spPr>
        <p:txBody>
          <a:bodyPr>
            <a:normAutofit/>
          </a:bodyPr>
          <a:lstStyle/>
          <a:p>
            <a:pPr algn="l"/>
            <a:r>
              <a:rPr lang="en-US" sz="3200" b="0" i="0" dirty="0">
                <a:effectLst/>
                <a:latin typeface="Söhne"/>
              </a:rPr>
              <a:t>To ensure ongoing vigilance in the financial sector, policymakers, and among investors for anticipating and mitigating future financial downturns.</a:t>
            </a:r>
          </a:p>
          <a:p>
            <a:pPr algn="l"/>
            <a:r>
              <a:rPr lang="en-US" sz="3200" b="0" i="0" dirty="0">
                <a:effectLst/>
                <a:latin typeface="Söhne"/>
              </a:rPr>
              <a:t>Identifying early warning signals and patterns that historically precede financial crises, offering a proactive approach to maintaining economic stability.</a:t>
            </a:r>
          </a:p>
          <a:p>
            <a:pPr algn="l"/>
            <a:r>
              <a:rPr lang="en-US" sz="3200" b="0" i="0" dirty="0">
                <a:effectLst/>
                <a:latin typeface="Söhne"/>
              </a:rPr>
              <a:t>Analyzing the changes in economic indicators leading up to the 2007-2008 crisis with the aim of forecasting future financial downturns.</a:t>
            </a:r>
          </a:p>
          <a:p>
            <a:pPr algn="l"/>
            <a:r>
              <a:rPr lang="en-US" sz="3200" b="0" i="0" dirty="0">
                <a:effectLst/>
                <a:latin typeface="Söhne"/>
              </a:rPr>
              <a:t>Enabling stakeholders to take preemptive measures to protect the global economy by predicting potential crises.</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88425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a:xfrm>
            <a:off x="345440" y="1462088"/>
            <a:ext cx="11409680" cy="5121591"/>
          </a:xfrm>
        </p:spPr>
        <p:txBody>
          <a:bodyPr>
            <a:normAutofit lnSpcReduction="10000"/>
          </a:bodyPr>
          <a:lstStyle/>
          <a:p>
            <a:r>
              <a:rPr lang="en-US" sz="3000" b="0" i="0" dirty="0">
                <a:effectLst/>
                <a:latin typeface="Söhne"/>
              </a:rPr>
              <a:t>Traditional economic forecasting methods often fall short in accurately predicting financial crises due to their limitations in capturing complex and seasonal trends. </a:t>
            </a:r>
          </a:p>
          <a:p>
            <a:r>
              <a:rPr lang="en-US" sz="3000" b="0" i="0" dirty="0">
                <a:effectLst/>
                <a:latin typeface="Söhne"/>
              </a:rPr>
              <a:t>This study proposes a novel model that integrates SARIMA, known for its proficiency in seasonal analysis, with Neural Networks, renowned for uncovering non-linear patterns. </a:t>
            </a:r>
          </a:p>
          <a:p>
            <a:r>
              <a:rPr lang="en-US" sz="3000" b="0" i="0" dirty="0">
                <a:effectLst/>
                <a:latin typeface="Söhne"/>
              </a:rPr>
              <a:t>By incorporating LSTM into predictive analytics to capture sequential dependencies and time-series predictions, this hybrid approach aims to equip policymakers with timely and actionable insights. </a:t>
            </a:r>
          </a:p>
          <a:p>
            <a:r>
              <a:rPr lang="en-US" sz="3000" b="0" i="0" dirty="0">
                <a:effectLst/>
                <a:latin typeface="Söhne"/>
              </a:rPr>
              <a:t>The goal is to significantly enhance the precision of crisis prediction, thereby fortifying the development of robust economic defense strategies.</a:t>
            </a:r>
            <a:endParaRPr lang="en-IN" sz="3900" dirty="0"/>
          </a:p>
          <a:p>
            <a:endParaRPr lang="en-IN" dirty="0"/>
          </a:p>
        </p:txBody>
      </p:sp>
      <p:sp>
        <p:nvSpPr>
          <p:cNvPr id="4" name="Footer Placeholder 3"/>
          <p:cNvSpPr>
            <a:spLocks noGrp="1"/>
          </p:cNvSpPr>
          <p:nvPr>
            <p:ph type="ftr" sz="quarter" idx="11"/>
          </p:nvPr>
        </p:nvSpPr>
        <p:spPr/>
        <p:txBody>
          <a:bodyPr/>
          <a:lstStyle/>
          <a:p>
            <a:r>
              <a:rPr lang="en-IN" dirty="0"/>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2898404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Arial Narrow" panose="020B0606020202030204" pitchFamily="34" charset="0"/>
              </a:rPr>
              <a:t>Objectives</a:t>
            </a:r>
            <a:endParaRPr lang="en-IN" b="1" dirty="0">
              <a:latin typeface="Arial Narrow" panose="020B0606020202030204" pitchFamily="34" charset="0"/>
            </a:endParaRPr>
          </a:p>
        </p:txBody>
      </p:sp>
      <p:sp>
        <p:nvSpPr>
          <p:cNvPr id="3" name="Content Placeholder 2"/>
          <p:cNvSpPr>
            <a:spLocks noGrp="1"/>
          </p:cNvSpPr>
          <p:nvPr>
            <p:ph idx="1"/>
          </p:nvPr>
        </p:nvSpPr>
        <p:spPr>
          <a:xfrm>
            <a:off x="152400" y="1310640"/>
            <a:ext cx="11938000" cy="5045710"/>
          </a:xfrm>
        </p:spPr>
        <p:txBody>
          <a:bodyPr>
            <a:normAutofit/>
          </a:bodyPr>
          <a:lstStyle/>
          <a:p>
            <a:pPr marL="514350" indent="-514350">
              <a:buFont typeface="+mj-lt"/>
              <a:buAutoNum type="arabicPeriod"/>
            </a:pPr>
            <a:r>
              <a:rPr lang="en-US" b="0" i="0" dirty="0">
                <a:effectLst/>
                <a:latin typeface="__Inter_e66fe9"/>
              </a:rPr>
              <a:t>To undertake data preprocessing and conduct exploratory analysis on the chosen dataset.</a:t>
            </a:r>
          </a:p>
          <a:p>
            <a:pPr marL="514350" indent="-514350">
              <a:buFont typeface="+mj-lt"/>
              <a:buAutoNum type="arabicPeriod"/>
            </a:pPr>
            <a:r>
              <a:rPr lang="en-US" b="0" i="0" dirty="0">
                <a:effectLst/>
                <a:latin typeface="__Inter_e66fe9"/>
              </a:rPr>
              <a:t>To design a model that utilizes the SARIMAX technique, known for its ability to analyze seasonal fluctuations, for the four types of crises (Banking, Systemic, Currency, and Inflation).</a:t>
            </a:r>
          </a:p>
          <a:p>
            <a:pPr marL="514350" indent="-514350">
              <a:buFont typeface="+mj-lt"/>
              <a:buAutoNum type="arabicPeriod"/>
            </a:pPr>
            <a:r>
              <a:rPr lang="en-US" b="0" i="0" dirty="0">
                <a:effectLst/>
                <a:latin typeface="__Inter_e66fe9"/>
              </a:rPr>
              <a:t>To apply LSTM networks to explore and model intricate temporal relationships within economic time-series data.</a:t>
            </a:r>
          </a:p>
          <a:p>
            <a:pPr marL="514350" indent="-514350">
              <a:buFont typeface="+mj-lt"/>
              <a:buAutoNum type="arabicPeriod"/>
            </a:pPr>
            <a:r>
              <a:rPr lang="en-US" b="0" i="0" dirty="0">
                <a:effectLst/>
                <a:latin typeface="__Inter_e66fe9"/>
              </a:rPr>
              <a:t>To innovate a hybrid methodology that combines the strengths of machine learning with econometric models to improve prediction accuracy.</a:t>
            </a:r>
          </a:p>
          <a:p>
            <a:pPr marL="514350" indent="-514350">
              <a:buFont typeface="+mj-lt"/>
              <a:buAutoNum type="arabicPeriod"/>
            </a:pPr>
            <a:r>
              <a:rPr lang="en-US" b="0" i="0" dirty="0">
                <a:effectLst/>
                <a:latin typeface="__Inter_e66fe9"/>
              </a:rPr>
              <a:t>To execute a comparative study to evaluate the performance of the proposed hybrid models against established forecasting techniques.</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spTree>
    <p:extLst>
      <p:ext uri="{BB962C8B-B14F-4D97-AF65-F5344CB8AC3E}">
        <p14:creationId xmlns:p14="http://schemas.microsoft.com/office/powerpoint/2010/main" val="935722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IN" b="1" dirty="0">
                <a:latin typeface="Arial Narrow" panose="020B0606020202030204" pitchFamily="34" charset="0"/>
              </a:rPr>
              <a:t>Related Work</a:t>
            </a:r>
            <a:endParaRPr lang="en-IN" dirty="0">
              <a:latin typeface="Arial Narrow" panose="020B0606020202030204" pitchFamily="34" charset="0"/>
            </a:endParaRPr>
          </a:p>
        </p:txBody>
      </p:sp>
      <p:sp>
        <p:nvSpPr>
          <p:cNvPr id="3" name="Content Placeholder 2"/>
          <p:cNvSpPr>
            <a:spLocks noGrp="1"/>
          </p:cNvSpPr>
          <p:nvPr>
            <p:ph idx="1"/>
          </p:nvPr>
        </p:nvSpPr>
        <p:spPr>
          <a:xfrm>
            <a:off x="246888" y="1225629"/>
            <a:ext cx="11640312" cy="5248910"/>
          </a:xfrm>
        </p:spPr>
        <p:txBody>
          <a:bodyPr>
            <a:noAutofit/>
          </a:bodyPr>
          <a:lstStyle/>
          <a:p>
            <a:pPr>
              <a:buFont typeface="Wingdings" panose="05000000000000000000" pitchFamily="2" charset="2"/>
              <a:buChar char="v"/>
            </a:pPr>
            <a:r>
              <a:rPr lang="en-US" sz="2000" dirty="0"/>
              <a:t> We aim to develop a predictive model for forecasting global financial crises by integrating SARIMAX time series analysis with advanced machine learning techniques. This work builds upon several key studies in this area. </a:t>
            </a:r>
          </a:p>
          <a:p>
            <a:pPr marL="0" indent="0">
              <a:buNone/>
            </a:pPr>
            <a:endParaRPr lang="en-US" sz="2000" dirty="0"/>
          </a:p>
          <a:p>
            <a:pPr marL="0" indent="0">
              <a:buNone/>
            </a:pPr>
            <a:r>
              <a:rPr lang="en-US" sz="2000" b="1" dirty="0"/>
              <a:t>Historical Economic Data and Market Behaviors:</a:t>
            </a:r>
          </a:p>
          <a:p>
            <a:pPr marL="0" indent="0">
              <a:buNone/>
            </a:pPr>
            <a:r>
              <a:rPr lang="en-US" sz="2000" dirty="0"/>
              <a:t>Prior research has emphasized the importance of analyzing historical economic indicators and market behaviors in the lead-up to financial crises. Minsky (1992) first proposed the financial instability hypothesis, arguing that prolonged periods of economic prosperity typically sow the seeds of future crises. Reinhart and Rogoff (2009) conducted an extensive study of eight centuries of financial crises, finding common patterns in asset prices, capital flows, and credit growth preceding downturns. </a:t>
            </a:r>
          </a:p>
          <a:p>
            <a:pPr marL="0" indent="0">
              <a:buNone/>
            </a:pPr>
            <a:endParaRPr lang="en-US" sz="2000" dirty="0"/>
          </a:p>
          <a:p>
            <a:pPr marL="0" indent="0">
              <a:buNone/>
            </a:pPr>
            <a:r>
              <a:rPr lang="en-US" sz="2000" b="1" dirty="0"/>
              <a:t>Behavioral Finance Perspectives:</a:t>
            </a:r>
          </a:p>
          <a:p>
            <a:pPr marL="0" indent="0">
              <a:buNone/>
            </a:pPr>
            <a:r>
              <a:rPr lang="en-US" sz="2000" b="1" dirty="0"/>
              <a:t> </a:t>
            </a:r>
            <a:r>
              <a:rPr lang="en-US" sz="2000" dirty="0"/>
              <a:t>A behavioral finance lens can provide useful insights. Shiller (2005) highlighted the role of changing investor psychologies and social epidemics in driving boom-bust cycles. </a:t>
            </a:r>
            <a:r>
              <a:rPr lang="en-US" sz="2000" dirty="0" err="1"/>
              <a:t>Akerlof</a:t>
            </a:r>
            <a:r>
              <a:rPr lang="en-US" sz="2000" dirty="0"/>
              <a:t> and Shiller (2009) proposed animal spirits as an explanation for economic fluctuations. Kahneman and Tversky (1979) established prospect theory, showing how loss aversion and reference-dependent preferences can influence market behaviors. </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7</a:t>
            </a:fld>
            <a:endParaRPr lang="en-IN"/>
          </a:p>
        </p:txBody>
      </p:sp>
    </p:spTree>
    <p:extLst>
      <p:ext uri="{BB962C8B-B14F-4D97-AF65-F5344CB8AC3E}">
        <p14:creationId xmlns:p14="http://schemas.microsoft.com/office/powerpoint/2010/main" val="130640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4BD1765-3267-C117-F318-44ABE0B430BD}"/>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1BD523D0-3F25-964B-18EA-2A3DD20A148E}"/>
              </a:ext>
            </a:extLst>
          </p:cNvPr>
          <p:cNvSpPr>
            <a:spLocks noGrp="1"/>
          </p:cNvSpPr>
          <p:nvPr>
            <p:ph type="sldNum" sz="quarter" idx="12"/>
          </p:nvPr>
        </p:nvSpPr>
        <p:spPr/>
        <p:txBody>
          <a:bodyPr/>
          <a:lstStyle/>
          <a:p>
            <a:fld id="{90EDC104-672A-4227-99C4-0E2CC007FDBA}" type="slidenum">
              <a:rPr lang="en-IN" smtClean="0"/>
              <a:t>8</a:t>
            </a:fld>
            <a:endParaRPr lang="en-IN"/>
          </a:p>
        </p:txBody>
      </p:sp>
      <p:sp>
        <p:nvSpPr>
          <p:cNvPr id="6" name="Title 1">
            <a:extLst>
              <a:ext uri="{FF2B5EF4-FFF2-40B4-BE49-F238E27FC236}">
                <a16:creationId xmlns:a16="http://schemas.microsoft.com/office/drawing/2014/main" id="{6EC89ECB-841D-AD88-04BE-7C9E3168E180}"/>
              </a:ext>
            </a:extLst>
          </p:cNvPr>
          <p:cNvSpPr>
            <a:spLocks noGrp="1"/>
          </p:cNvSpPr>
          <p:nvPr>
            <p:ph type="title"/>
          </p:nvPr>
        </p:nvSpPr>
        <p:spPr>
          <a:xfrm>
            <a:off x="970280" y="-28575"/>
            <a:ext cx="10515600" cy="1325563"/>
          </a:xfrm>
        </p:spPr>
        <p:txBody>
          <a:bodyPr/>
          <a:lstStyle/>
          <a:p>
            <a:r>
              <a:rPr lang="en-IN" b="1" dirty="0">
                <a:latin typeface="Arial Narrow" panose="020B0606020202030204" pitchFamily="34" charset="0"/>
              </a:rPr>
              <a:t>Related Work</a:t>
            </a:r>
            <a:endParaRPr lang="en-IN" dirty="0">
              <a:latin typeface="Arial Narrow" panose="020B0606020202030204" pitchFamily="34" charset="0"/>
            </a:endParaRPr>
          </a:p>
        </p:txBody>
      </p:sp>
      <p:sp>
        <p:nvSpPr>
          <p:cNvPr id="7" name="Content Placeholder 2">
            <a:extLst>
              <a:ext uri="{FF2B5EF4-FFF2-40B4-BE49-F238E27FC236}">
                <a16:creationId xmlns:a16="http://schemas.microsoft.com/office/drawing/2014/main" id="{6D627B24-6A8B-2BAE-BC24-713B26C6D816}"/>
              </a:ext>
            </a:extLst>
          </p:cNvPr>
          <p:cNvSpPr>
            <a:spLocks noGrp="1"/>
          </p:cNvSpPr>
          <p:nvPr>
            <p:ph idx="1"/>
          </p:nvPr>
        </p:nvSpPr>
        <p:spPr>
          <a:xfrm>
            <a:off x="314960" y="1060610"/>
            <a:ext cx="11572240" cy="5248910"/>
          </a:xfrm>
        </p:spPr>
        <p:txBody>
          <a:bodyPr>
            <a:noAutofit/>
          </a:bodyPr>
          <a:lstStyle/>
          <a:p>
            <a:pPr marL="0" indent="0">
              <a:buNone/>
            </a:pPr>
            <a:r>
              <a:rPr lang="en-US" sz="2000" b="1" dirty="0"/>
              <a:t>Econometric Techniques:</a:t>
            </a:r>
          </a:p>
          <a:p>
            <a:pPr marL="0" indent="0">
              <a:buNone/>
            </a:pPr>
            <a:r>
              <a:rPr lang="en-US" sz="2000" dirty="0"/>
              <a:t>Time series analysis is commonly applied. Sims (1980) pioneered vector autoregression (VAR) modeling to study macroeconomic dynamics. Box and Jenkins (1976) developed autoregressive integrated moving average (ARIMA) models for forecasting and understanding stochastic processes. Engle (1982) introduced autoregressive conditional heteroskedasticity (ARCH) models to capture volatility clustering. </a:t>
            </a:r>
          </a:p>
          <a:p>
            <a:pPr marL="0" indent="0">
              <a:buNone/>
            </a:pPr>
            <a:r>
              <a:rPr lang="en-US" sz="2000" b="1" dirty="0"/>
              <a:t>Machine Learning Applications:</a:t>
            </a:r>
          </a:p>
          <a:p>
            <a:pPr marL="0" indent="0">
              <a:buNone/>
            </a:pPr>
            <a:r>
              <a:rPr lang="en-US" sz="2000" dirty="0"/>
              <a:t>Recent studies have begun combining econometrics with machine learning. </a:t>
            </a:r>
            <a:r>
              <a:rPr lang="en-US" sz="2000" dirty="0" err="1"/>
              <a:t>Borio</a:t>
            </a:r>
            <a:r>
              <a:rPr lang="en-US" sz="2000" dirty="0"/>
              <a:t> et al. (2012) applied signal extraction techniques to detect early warning signs. Aikman et al. (2019) developed deep learning models for forecasting recessions using large datasets. </a:t>
            </a:r>
            <a:r>
              <a:rPr lang="en-US" sz="2000" dirty="0" err="1"/>
              <a:t>Arner</a:t>
            </a:r>
            <a:r>
              <a:rPr lang="en-US" sz="2000" dirty="0"/>
              <a:t> et al. (2020) proposed a hybrid machine learning-macroeconomic approach for systemic risk monitoring. </a:t>
            </a:r>
          </a:p>
          <a:p>
            <a:pPr marL="0" indent="0">
              <a:buNone/>
            </a:pPr>
            <a:endParaRPr lang="en-US" sz="2000" dirty="0"/>
          </a:p>
          <a:p>
            <a:pPr>
              <a:buFont typeface="Wingdings" panose="05000000000000000000" pitchFamily="2" charset="2"/>
              <a:buChar char="v"/>
            </a:pPr>
            <a:r>
              <a:rPr lang="en-US" sz="2000" dirty="0"/>
              <a:t> We aim to advance this literature by uniquely integrating SARIMAX with advanced machine learning methods through a behavioral finance lens. The proposed methodology leverages the strengths of econometrics, machine learning, and behavioral insights to develop a novel predictive model for global financial crises forecasting. This has the potential to significantly impact policymaking and investment decisions.</a:t>
            </a:r>
            <a:endParaRPr lang="en-IN" sz="2000" dirty="0"/>
          </a:p>
        </p:txBody>
      </p:sp>
      <p:sp>
        <p:nvSpPr>
          <p:cNvPr id="8" name="Footer Placeholder 3">
            <a:extLst>
              <a:ext uri="{FF2B5EF4-FFF2-40B4-BE49-F238E27FC236}">
                <a16:creationId xmlns:a16="http://schemas.microsoft.com/office/drawing/2014/main" id="{56DDCE4C-397B-F901-13F5-F275FD981969}"/>
              </a:ext>
            </a:extLst>
          </p:cNvPr>
          <p:cNvSpPr txBox="1">
            <a:spLocks/>
          </p:cNvSpPr>
          <p:nvPr/>
        </p:nvSpPr>
        <p:spPr>
          <a:xfrm>
            <a:off x="4170680" y="630952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CS6501 Project I PGP, ICER, VIT Bangalore</a:t>
            </a:r>
          </a:p>
        </p:txBody>
      </p:sp>
      <p:sp>
        <p:nvSpPr>
          <p:cNvPr id="9" name="Slide Number Placeholder 4">
            <a:extLst>
              <a:ext uri="{FF2B5EF4-FFF2-40B4-BE49-F238E27FC236}">
                <a16:creationId xmlns:a16="http://schemas.microsoft.com/office/drawing/2014/main" id="{17EFF5EA-8D3C-ADF0-CD45-BA8593B19EF1}"/>
              </a:ext>
            </a:extLst>
          </p:cNvPr>
          <p:cNvSpPr txBox="1">
            <a:spLocks/>
          </p:cNvSpPr>
          <p:nvPr/>
        </p:nvSpPr>
        <p:spPr>
          <a:xfrm>
            <a:off x="8742680" y="630952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EDC104-672A-4227-99C4-0E2CC007FDBA}" type="slidenum">
              <a:rPr lang="en-IN" smtClean="0"/>
              <a:pPr/>
              <a:t>8</a:t>
            </a:fld>
            <a:endParaRPr lang="en-IN"/>
          </a:p>
        </p:txBody>
      </p:sp>
    </p:spTree>
    <p:extLst>
      <p:ext uri="{BB962C8B-B14F-4D97-AF65-F5344CB8AC3E}">
        <p14:creationId xmlns:p14="http://schemas.microsoft.com/office/powerpoint/2010/main" val="2699635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136"/>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9</a:t>
            </a:fld>
            <a:endParaRPr lang="en-IN"/>
          </a:p>
        </p:txBody>
      </p:sp>
      <p:pic>
        <p:nvPicPr>
          <p:cNvPr id="6" name="Content Placeholder 5">
            <a:extLst>
              <a:ext uri="{FF2B5EF4-FFF2-40B4-BE49-F238E27FC236}">
                <a16:creationId xmlns:a16="http://schemas.microsoft.com/office/drawing/2014/main" id="{BDF3F242-EDE4-FB6B-4701-851FC79182D0}"/>
              </a:ext>
            </a:extLst>
          </p:cNvPr>
          <p:cNvPicPr>
            <a:picLocks noGrp="1" noChangeAspect="1"/>
          </p:cNvPicPr>
          <p:nvPr>
            <p:ph idx="1"/>
          </p:nvPr>
        </p:nvPicPr>
        <p:blipFill>
          <a:blip r:embed="rId2"/>
          <a:stretch>
            <a:fillRect/>
          </a:stretch>
        </p:blipFill>
        <p:spPr>
          <a:xfrm>
            <a:off x="1985772" y="978408"/>
            <a:ext cx="8220456" cy="5377942"/>
          </a:xfrm>
          <a:prstGeom prst="rect">
            <a:avLst/>
          </a:prstGeom>
        </p:spPr>
      </p:pic>
    </p:spTree>
    <p:extLst>
      <p:ext uri="{BB962C8B-B14F-4D97-AF65-F5344CB8AC3E}">
        <p14:creationId xmlns:p14="http://schemas.microsoft.com/office/powerpoint/2010/main" val="1125428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3985"/>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
        <p:nvSpPr>
          <p:cNvPr id="3" name="Content Placeholder 2"/>
          <p:cNvSpPr>
            <a:spLocks noGrp="1"/>
          </p:cNvSpPr>
          <p:nvPr>
            <p:ph idx="1"/>
          </p:nvPr>
        </p:nvSpPr>
        <p:spPr>
          <a:xfrm>
            <a:off x="375920" y="1073784"/>
            <a:ext cx="11440160" cy="5282565"/>
          </a:xfrm>
        </p:spPr>
        <p:txBody>
          <a:bodyPr/>
          <a:lstStyle/>
          <a:p>
            <a:r>
              <a:rPr lang="en-US" dirty="0"/>
              <a:t>The approach involves:</a:t>
            </a:r>
          </a:p>
          <a:p>
            <a:pPr marL="914400" lvl="1" indent="-457200">
              <a:buFont typeface="+mj-lt"/>
              <a:buAutoNum type="arabicPeriod"/>
            </a:pPr>
            <a:r>
              <a:rPr lang="en-US" dirty="0"/>
              <a:t>Collecting financial datasets and literature</a:t>
            </a:r>
          </a:p>
          <a:p>
            <a:pPr marL="914400" lvl="1" indent="-457200">
              <a:buFont typeface="+mj-lt"/>
              <a:buAutoNum type="arabicPeriod"/>
            </a:pPr>
            <a:r>
              <a:rPr lang="en-US" dirty="0"/>
              <a:t>Preprocessing data </a:t>
            </a:r>
          </a:p>
          <a:p>
            <a:pPr marL="914400" lvl="1" indent="-457200">
              <a:buFont typeface="+mj-lt"/>
              <a:buAutoNum type="arabicPeriod"/>
            </a:pPr>
            <a:r>
              <a:rPr lang="en-US" dirty="0"/>
              <a:t>Applying SARIMAX to detect seasonal trends</a:t>
            </a:r>
          </a:p>
          <a:p>
            <a:pPr marL="914400" lvl="1" indent="-457200">
              <a:buFont typeface="+mj-lt"/>
              <a:buAutoNum type="arabicPeriod"/>
            </a:pPr>
            <a:r>
              <a:rPr lang="en-US" dirty="0"/>
              <a:t>Identifying patterns in crisis indicators using LSTM neural networks </a:t>
            </a:r>
          </a:p>
          <a:p>
            <a:r>
              <a:rPr lang="en-US" dirty="0"/>
              <a:t>The analysis merges time series with machine learning for depth and employs neural networks to interpret SARIMAX outcomes. </a:t>
            </a:r>
          </a:p>
          <a:p>
            <a:r>
              <a:rPr lang="en-US" dirty="0"/>
              <a:t>Behavioral finance principles aid in forecasting financial instability, providing actionable insights for policymakers and investors. </a:t>
            </a:r>
          </a:p>
          <a:p>
            <a:r>
              <a:rPr lang="en-US" dirty="0"/>
              <a:t>Comparisons will be made against historical averages, traditional ARIMA models, and expert financial analysis to validate the approach's efficacy.</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10</a:t>
            </a:fld>
            <a:endParaRPr lang="en-IN"/>
          </a:p>
        </p:txBody>
      </p:sp>
    </p:spTree>
    <p:extLst>
      <p:ext uri="{BB962C8B-B14F-4D97-AF65-F5344CB8AC3E}">
        <p14:creationId xmlns:p14="http://schemas.microsoft.com/office/powerpoint/2010/main" val="3775260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9874"/>
            <a:ext cx="10515600" cy="1325563"/>
          </a:xfrm>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
        <p:nvSpPr>
          <p:cNvPr id="3" name="Content Placeholder 2"/>
          <p:cNvSpPr>
            <a:spLocks noGrp="1"/>
          </p:cNvSpPr>
          <p:nvPr>
            <p:ph idx="1"/>
          </p:nvPr>
        </p:nvSpPr>
        <p:spPr>
          <a:xfrm>
            <a:off x="538480" y="1564640"/>
            <a:ext cx="11379200" cy="4876483"/>
          </a:xfrm>
        </p:spPr>
        <p:txBody>
          <a:bodyPr>
            <a:normAutofit/>
          </a:bodyPr>
          <a:lstStyle/>
          <a:p>
            <a:pPr marL="0" indent="0">
              <a:buNone/>
            </a:pPr>
            <a:r>
              <a:rPr lang="en-US" sz="3600" b="0" i="0" dirty="0">
                <a:effectLst/>
                <a:latin typeface="Söhne"/>
              </a:rPr>
              <a:t>When it comes to baselines to compare against…</a:t>
            </a:r>
          </a:p>
          <a:p>
            <a:pPr marL="0" indent="0">
              <a:buNone/>
            </a:pPr>
            <a:endParaRPr lang="en-US" b="0" i="0" dirty="0">
              <a:effectLst/>
              <a:latin typeface="Söhne"/>
            </a:endParaRPr>
          </a:p>
          <a:p>
            <a:pPr lvl="1"/>
            <a:r>
              <a:rPr lang="en-US" sz="2800" b="0" i="0" dirty="0">
                <a:effectLst/>
                <a:latin typeface="Söhne"/>
              </a:rPr>
              <a:t>Historical Averages: Comparing the model's performance against the simple historical average to ensure that the model provides a significantly better forecast. </a:t>
            </a:r>
          </a:p>
          <a:p>
            <a:pPr lvl="1"/>
            <a:r>
              <a:rPr lang="en-US" sz="2800" b="0" i="0" dirty="0">
                <a:effectLst/>
                <a:latin typeface="Söhne"/>
              </a:rPr>
              <a:t>Traditional Time Series Models: Such as ARIMA, to show the added value of using more complex models like SARIMAX and LSTM. </a:t>
            </a:r>
          </a:p>
          <a:p>
            <a:pPr lvl="1"/>
            <a:r>
              <a:rPr lang="en-US" sz="2800" b="0" i="0" dirty="0">
                <a:effectLst/>
                <a:latin typeface="Söhne"/>
              </a:rPr>
              <a:t>Expert Analysis: Comparing the model's insights against those from financial analysts to validate the model's practical relevance.</a:t>
            </a:r>
            <a:endParaRPr lang="en-IN" sz="2800"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11</a:t>
            </a:fld>
            <a:endParaRPr lang="en-IN"/>
          </a:p>
        </p:txBody>
      </p:sp>
    </p:spTree>
    <p:extLst>
      <p:ext uri="{BB962C8B-B14F-4D97-AF65-F5344CB8AC3E}">
        <p14:creationId xmlns:p14="http://schemas.microsoft.com/office/powerpoint/2010/main" val="3461092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12</a:t>
            </a:fld>
            <a:endParaRPr lang="en-IN"/>
          </a:p>
        </p:txBody>
      </p:sp>
      <p:sp>
        <p:nvSpPr>
          <p:cNvPr id="8" name="Title 1">
            <a:extLst>
              <a:ext uri="{FF2B5EF4-FFF2-40B4-BE49-F238E27FC236}">
                <a16:creationId xmlns:a16="http://schemas.microsoft.com/office/drawing/2014/main" id="{CF09579F-A7CE-9F6F-88B6-60DF8FC26632}"/>
              </a:ext>
            </a:extLst>
          </p:cNvPr>
          <p:cNvSpPr txBox="1">
            <a:spLocks/>
          </p:cNvSpPr>
          <p:nvPr/>
        </p:nvSpPr>
        <p:spPr>
          <a:xfrm>
            <a:off x="838200" y="365126"/>
            <a:ext cx="10515600" cy="63590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latin typeface="Arial Narrow" panose="020B0606020202030204" pitchFamily="34" charset="0"/>
              </a:rPr>
              <a:t>Dataset</a:t>
            </a:r>
            <a:endParaRPr lang="en-IN" b="1" dirty="0">
              <a:latin typeface="Arial Narrow" panose="020B0606020202030204" pitchFamily="34" charset="0"/>
            </a:endParaRPr>
          </a:p>
        </p:txBody>
      </p:sp>
      <p:sp>
        <p:nvSpPr>
          <p:cNvPr id="9" name="Content Placeholder 2">
            <a:extLst>
              <a:ext uri="{FF2B5EF4-FFF2-40B4-BE49-F238E27FC236}">
                <a16:creationId xmlns:a16="http://schemas.microsoft.com/office/drawing/2014/main" id="{1F04036A-4B44-F196-26CD-31D27DC73393}"/>
              </a:ext>
            </a:extLst>
          </p:cNvPr>
          <p:cNvSpPr txBox="1">
            <a:spLocks/>
          </p:cNvSpPr>
          <p:nvPr/>
        </p:nvSpPr>
        <p:spPr>
          <a:xfrm>
            <a:off x="105878" y="1087655"/>
            <a:ext cx="12086122" cy="5633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Arial Narrow" panose="020B0606020202030204" pitchFamily="34" charset="0"/>
              </a:rPr>
              <a:t>Source of the Dataset: </a:t>
            </a:r>
            <a:r>
              <a:rPr lang="en-IN">
                <a:hlinkClick r:id="rId2"/>
              </a:rPr>
              <a:t>Global Financial Crisis Analytics | Kaggle</a:t>
            </a:r>
            <a:endParaRPr lang="en-US">
              <a:latin typeface="Arial Narrow" panose="020B0606020202030204" pitchFamily="34" charset="0"/>
            </a:endParaRPr>
          </a:p>
          <a:p>
            <a:r>
              <a:rPr lang="en-US">
                <a:latin typeface="Arial Narrow" panose="020B0606020202030204" pitchFamily="34" charset="0"/>
              </a:rPr>
              <a:t>No. of Observations: 15,192</a:t>
            </a:r>
          </a:p>
          <a:p>
            <a:r>
              <a:rPr lang="en-US">
                <a:latin typeface="Arial Narrow" panose="020B0606020202030204" pitchFamily="34" charset="0"/>
              </a:rPr>
              <a:t> Screenshot of the dataset</a:t>
            </a:r>
          </a:p>
          <a:p>
            <a:pPr marL="0" indent="0">
              <a:buFont typeface="Arial" panose="020B0604020202020204" pitchFamily="34" charset="0"/>
              <a:buNone/>
            </a:pPr>
            <a:br>
              <a:rPr lang="en-US">
                <a:latin typeface="Arial Narrow" panose="020B0606020202030204" pitchFamily="34" charset="0"/>
              </a:rPr>
            </a:br>
            <a:endParaRPr lang="en-US">
              <a:latin typeface="Arial Narrow" panose="020B0606020202030204" pitchFamily="34" charset="0"/>
            </a:endParaRPr>
          </a:p>
          <a:p>
            <a:endParaRPr lang="en-US" dirty="0">
              <a:latin typeface="Arial Narrow" panose="020B0606020202030204" pitchFamily="34" charset="0"/>
            </a:endParaRPr>
          </a:p>
        </p:txBody>
      </p:sp>
      <p:sp>
        <p:nvSpPr>
          <p:cNvPr id="10" name="Footer Placeholder 3">
            <a:extLst>
              <a:ext uri="{FF2B5EF4-FFF2-40B4-BE49-F238E27FC236}">
                <a16:creationId xmlns:a16="http://schemas.microsoft.com/office/drawing/2014/main" id="{E66B78C0-21C0-1F54-027E-8A698F7FCE4A}"/>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CS6501 Project I PGP, ICER, VIT Bangalore</a:t>
            </a:r>
          </a:p>
        </p:txBody>
      </p:sp>
      <p:sp>
        <p:nvSpPr>
          <p:cNvPr id="11" name="Slide Number Placeholder 4">
            <a:extLst>
              <a:ext uri="{FF2B5EF4-FFF2-40B4-BE49-F238E27FC236}">
                <a16:creationId xmlns:a16="http://schemas.microsoft.com/office/drawing/2014/main" id="{BEBC40F0-5463-7C2E-C540-6337C0193AEC}"/>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EDC104-672A-4227-99C4-0E2CC007FDBA}" type="slidenum">
              <a:rPr lang="en-IN" smtClean="0"/>
              <a:pPr/>
              <a:t>12</a:t>
            </a:fld>
            <a:endParaRPr lang="en-IN"/>
          </a:p>
        </p:txBody>
      </p:sp>
      <p:pic>
        <p:nvPicPr>
          <p:cNvPr id="12" name="Content Placeholder 6">
            <a:extLst>
              <a:ext uri="{FF2B5EF4-FFF2-40B4-BE49-F238E27FC236}">
                <a16:creationId xmlns:a16="http://schemas.microsoft.com/office/drawing/2014/main" id="{1D791EA8-383A-F9A9-6D66-85583CB23937}"/>
              </a:ext>
            </a:extLst>
          </p:cNvPr>
          <p:cNvPicPr>
            <a:picLocks noChangeAspect="1"/>
          </p:cNvPicPr>
          <p:nvPr/>
        </p:nvPicPr>
        <p:blipFill>
          <a:blip r:embed="rId3"/>
          <a:stretch>
            <a:fillRect/>
          </a:stretch>
        </p:blipFill>
        <p:spPr>
          <a:xfrm>
            <a:off x="448375" y="2565471"/>
            <a:ext cx="11034563" cy="3936205"/>
          </a:xfrm>
          <a:prstGeom prst="rect">
            <a:avLst/>
          </a:prstGeom>
        </p:spPr>
      </p:pic>
    </p:spTree>
    <p:extLst>
      <p:ext uri="{BB962C8B-B14F-4D97-AF65-F5344CB8AC3E}">
        <p14:creationId xmlns:p14="http://schemas.microsoft.com/office/powerpoint/2010/main" val="846223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7A179BB-E353-C3DA-88C6-1592BB5DBB62}"/>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55A1E2E2-8212-A20D-E1CE-65136FE4E249}"/>
              </a:ext>
            </a:extLst>
          </p:cNvPr>
          <p:cNvSpPr>
            <a:spLocks noGrp="1"/>
          </p:cNvSpPr>
          <p:nvPr>
            <p:ph type="sldNum" sz="quarter" idx="12"/>
          </p:nvPr>
        </p:nvSpPr>
        <p:spPr/>
        <p:txBody>
          <a:bodyPr/>
          <a:lstStyle/>
          <a:p>
            <a:fld id="{90EDC104-672A-4227-99C4-0E2CC007FDBA}" type="slidenum">
              <a:rPr lang="en-IN" smtClean="0"/>
              <a:t>13</a:t>
            </a:fld>
            <a:endParaRPr lang="en-IN"/>
          </a:p>
        </p:txBody>
      </p:sp>
      <p:sp>
        <p:nvSpPr>
          <p:cNvPr id="6" name="Title 1">
            <a:extLst>
              <a:ext uri="{FF2B5EF4-FFF2-40B4-BE49-F238E27FC236}">
                <a16:creationId xmlns:a16="http://schemas.microsoft.com/office/drawing/2014/main" id="{25A3DE97-5737-F7D5-92B2-F1CBD466D4CD}"/>
              </a:ext>
            </a:extLst>
          </p:cNvPr>
          <p:cNvSpPr>
            <a:spLocks noGrp="1"/>
          </p:cNvSpPr>
          <p:nvPr>
            <p:ph type="title"/>
          </p:nvPr>
        </p:nvSpPr>
        <p:spPr>
          <a:xfrm>
            <a:off x="990600" y="517525"/>
            <a:ext cx="10515600" cy="607027"/>
          </a:xfrm>
        </p:spPr>
        <p:txBody>
          <a:bodyPr>
            <a:normAutofit fontScale="90000"/>
          </a:bodyPr>
          <a:lstStyle/>
          <a:p>
            <a:r>
              <a:rPr lang="en-US" b="1" dirty="0">
                <a:latin typeface="Arial Narrow" panose="020B0606020202030204" pitchFamily="34" charset="0"/>
              </a:rPr>
              <a:t>Column/Feature Details of the Dataset</a:t>
            </a:r>
            <a:endParaRPr lang="en-IN" dirty="0"/>
          </a:p>
        </p:txBody>
      </p:sp>
      <p:sp>
        <p:nvSpPr>
          <p:cNvPr id="7" name="Content Placeholder 2">
            <a:extLst>
              <a:ext uri="{FF2B5EF4-FFF2-40B4-BE49-F238E27FC236}">
                <a16:creationId xmlns:a16="http://schemas.microsoft.com/office/drawing/2014/main" id="{C39D83B5-2698-FD77-3935-96ED16C6EC0F}"/>
              </a:ext>
            </a:extLst>
          </p:cNvPr>
          <p:cNvSpPr>
            <a:spLocks noGrp="1"/>
          </p:cNvSpPr>
          <p:nvPr>
            <p:ph idx="1"/>
          </p:nvPr>
        </p:nvSpPr>
        <p:spPr>
          <a:xfrm>
            <a:off x="489285" y="1432560"/>
            <a:ext cx="11482938" cy="5441315"/>
          </a:xfrm>
        </p:spPr>
        <p:txBody>
          <a:bodyPr>
            <a:noAutofit/>
          </a:bodyPr>
          <a:lstStyle/>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1.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Case</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A numeric identifier for each record. Each country appears to have a unique case number.</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2.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CC3</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three-letter country code, following the standard ISO alpha-3 country codes.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3.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Country</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name of the country to which the data row corresponds.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4.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Year</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year for which the data is recorded.</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5.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Banking Crisis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Indicates the occurrence of a banking crisis. '0' indicates no crisis, while '1’ indicates a crisis.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6. </a:t>
            </a:r>
            <a:r>
              <a:rPr lang="en-US" sz="1900" b="1" kern="100" dirty="0" err="1">
                <a:effectLst/>
                <a:latin typeface="Calibri" panose="020F0502020204030204" pitchFamily="34" charset="0"/>
                <a:ea typeface="Calibri" panose="020F0502020204030204" pitchFamily="34" charset="0"/>
                <a:cs typeface="Times New Roman" panose="02020603050405020304" pitchFamily="18" charset="0"/>
              </a:rPr>
              <a:t>Banking_Crisis_Notes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Additional notes or explanations about the banking crisis, if any.</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7.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Systemic Crisis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Indicates whether a systemic crisis occurred in that year. Similar to 'Banking Crisis', '0' likely means no systemic crisis.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8.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Gold Standard</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Indicates whether the country was on the gold standard in that year.</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9. </a:t>
            </a:r>
            <a:r>
              <a:rPr lang="en-US" sz="1900" b="1" kern="100" dirty="0" err="1">
                <a:effectLst/>
                <a:latin typeface="Calibri" panose="020F0502020204030204" pitchFamily="34" charset="0"/>
                <a:ea typeface="Calibri" panose="020F0502020204030204" pitchFamily="34" charset="0"/>
                <a:cs typeface="Times New Roman" panose="02020603050405020304" pitchFamily="18" charset="0"/>
              </a:rPr>
              <a:t>exch_usd</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The exchange rate of the country's currency to the US dollar.</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10.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exch_usd_alt1, exch_usd_alt2, exch_usd_alt3</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Alternative exchange rate values, representing different sources or calculation methods.</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900" kern="100" dirty="0">
                <a:effectLst/>
                <a:latin typeface="Calibri" panose="020F0502020204030204" pitchFamily="34" charset="0"/>
                <a:ea typeface="Calibri" panose="020F0502020204030204" pitchFamily="34" charset="0"/>
                <a:cs typeface="Times New Roman" panose="02020603050405020304" pitchFamily="18" charset="0"/>
              </a:rPr>
              <a:t>11. </a:t>
            </a:r>
            <a:r>
              <a:rPr lang="en-US" sz="1900" b="1" kern="100" dirty="0">
                <a:effectLst/>
                <a:latin typeface="Calibri" panose="020F0502020204030204" pitchFamily="34" charset="0"/>
                <a:ea typeface="Calibri" panose="020F0502020204030204" pitchFamily="34" charset="0"/>
                <a:cs typeface="Times New Roman" panose="02020603050405020304" pitchFamily="18" charset="0"/>
              </a:rPr>
              <a:t>Conversion to USD notes/sources</a:t>
            </a:r>
            <a:r>
              <a:rPr lang="en-US" sz="1900" kern="100" dirty="0">
                <a:effectLst/>
                <a:latin typeface="Calibri" panose="020F0502020204030204" pitchFamily="34" charset="0"/>
                <a:ea typeface="Calibri" panose="020F0502020204030204" pitchFamily="34" charset="0"/>
                <a:cs typeface="Times New Roman" panose="02020603050405020304" pitchFamily="18" charset="0"/>
              </a:rPr>
              <a:t>: Notes or sources for the exchange rate data.</a:t>
            </a:r>
            <a:endParaRPr lang="en-IN"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900" dirty="0"/>
          </a:p>
        </p:txBody>
      </p:sp>
    </p:spTree>
    <p:extLst>
      <p:ext uri="{BB962C8B-B14F-4D97-AF65-F5344CB8AC3E}">
        <p14:creationId xmlns:p14="http://schemas.microsoft.com/office/powerpoint/2010/main" val="1057572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3A82320-2960-BA37-EEB8-41EAC3D3E289}"/>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1E0B31D4-6924-8CAA-91CA-DC455400000D}"/>
              </a:ext>
            </a:extLst>
          </p:cNvPr>
          <p:cNvSpPr>
            <a:spLocks noGrp="1"/>
          </p:cNvSpPr>
          <p:nvPr>
            <p:ph type="sldNum" sz="quarter" idx="12"/>
          </p:nvPr>
        </p:nvSpPr>
        <p:spPr/>
        <p:txBody>
          <a:bodyPr/>
          <a:lstStyle/>
          <a:p>
            <a:fld id="{90EDC104-672A-4227-99C4-0E2CC007FDBA}" type="slidenum">
              <a:rPr lang="en-IN" smtClean="0"/>
              <a:t>14</a:t>
            </a:fld>
            <a:endParaRPr lang="en-IN"/>
          </a:p>
        </p:txBody>
      </p:sp>
      <p:sp>
        <p:nvSpPr>
          <p:cNvPr id="6" name="Title 1">
            <a:extLst>
              <a:ext uri="{FF2B5EF4-FFF2-40B4-BE49-F238E27FC236}">
                <a16:creationId xmlns:a16="http://schemas.microsoft.com/office/drawing/2014/main" id="{39A5D958-C9A6-06A2-6C45-077879085050}"/>
              </a:ext>
            </a:extLst>
          </p:cNvPr>
          <p:cNvSpPr>
            <a:spLocks noGrp="1"/>
          </p:cNvSpPr>
          <p:nvPr>
            <p:ph type="title"/>
          </p:nvPr>
        </p:nvSpPr>
        <p:spPr>
          <a:xfrm>
            <a:off x="990600" y="152400"/>
            <a:ext cx="10515600" cy="1325563"/>
          </a:xfrm>
        </p:spPr>
        <p:txBody>
          <a:bodyPr>
            <a:normAutofit/>
          </a:bodyPr>
          <a:lstStyle/>
          <a:p>
            <a:r>
              <a:rPr lang="en-US" sz="4000" b="1" dirty="0">
                <a:latin typeface="Arial Narrow" panose="020B0606020202030204" pitchFamily="34" charset="0"/>
              </a:rPr>
              <a:t>Column/Feature Details of the Dataset (continued)</a:t>
            </a:r>
            <a:endParaRPr lang="en-IN" sz="4000" dirty="0"/>
          </a:p>
        </p:txBody>
      </p:sp>
      <p:sp>
        <p:nvSpPr>
          <p:cNvPr id="7" name="Content Placeholder 2">
            <a:extLst>
              <a:ext uri="{FF2B5EF4-FFF2-40B4-BE49-F238E27FC236}">
                <a16:creationId xmlns:a16="http://schemas.microsoft.com/office/drawing/2014/main" id="{902C5805-DE68-610C-F8F0-4BEEACDC5B4C}"/>
              </a:ext>
            </a:extLst>
          </p:cNvPr>
          <p:cNvSpPr>
            <a:spLocks noGrp="1"/>
          </p:cNvSpPr>
          <p:nvPr>
            <p:ph idx="1"/>
          </p:nvPr>
        </p:nvSpPr>
        <p:spPr>
          <a:xfrm>
            <a:off x="566285" y="1336785"/>
            <a:ext cx="11405937" cy="5313144"/>
          </a:xfrm>
        </p:spPr>
        <p:txBody>
          <a:bodyPr>
            <a:noAutofit/>
          </a:bodyPr>
          <a:lstStyle/>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12.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Domestic Debt In Default</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whether there was a default on domestic debt.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13.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Domestic_Debt</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_ Notes/Sources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Notes or sources regarding the domestic debt data.</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14.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SOVEREIGN EXTERNAL DEBT 1 and 2</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whether there was a default or restructuring of sovereign external debt. Different columns might represent different categorizations or time periods of the debt.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15.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Defaults_External_Notes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Notes about external debt defaults.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16.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GDP_Weighted_default</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 measure of defaults weighted by GDP, possibly indicating the severity or impact of the default relative to the country's economy.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17.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Inflation, Annual percentages of average consumer prices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The annual inflation rate, measured as the percentage change in consumer prices.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18.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Independence</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whether the country was independent in that year.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19.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Currency Crises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the occurrence of a currency crisis.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20.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Inflation Crises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Indicates the occurrence of an inflation crisis.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1453073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866E-7AB3-F891-E09C-1CDECDFD8444}"/>
              </a:ext>
            </a:extLst>
          </p:cNvPr>
          <p:cNvSpPr>
            <a:spLocks noGrp="1"/>
          </p:cNvSpPr>
          <p:nvPr>
            <p:ph type="title"/>
          </p:nvPr>
        </p:nvSpPr>
        <p:spPr/>
        <p:txBody>
          <a:bodyPr/>
          <a:lstStyle/>
          <a:p>
            <a:r>
              <a:rPr lang="en-IN" b="1" i="0" dirty="0">
                <a:effectLst/>
                <a:latin typeface="Arial Narrow" panose="020B0606020202030204" pitchFamily="34" charset="0"/>
              </a:rPr>
              <a:t>Details about the columns</a:t>
            </a:r>
            <a:endParaRPr lang="en-IN"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EDF906E4-96D9-E269-8349-D6AB696995F2}"/>
              </a:ext>
            </a:extLst>
          </p:cNvPr>
          <p:cNvSpPr>
            <a:spLocks noGrp="1"/>
          </p:cNvSpPr>
          <p:nvPr>
            <p:ph idx="1"/>
          </p:nvPr>
        </p:nvSpPr>
        <p:spPr>
          <a:xfrm>
            <a:off x="355600" y="1825625"/>
            <a:ext cx="11369040" cy="4667250"/>
          </a:xfrm>
        </p:spPr>
        <p:txBody>
          <a:bodyPr>
            <a:normAutofit fontScale="77500" lnSpcReduction="20000"/>
          </a:bodyPr>
          <a:lstStyle/>
          <a:p>
            <a:pPr marL="0" indent="0">
              <a:buNone/>
            </a:pPr>
            <a:r>
              <a:rPr lang="en-IN" b="1" dirty="0"/>
              <a:t>Categorical Columns</a:t>
            </a:r>
            <a:r>
              <a:rPr lang="en-IN" dirty="0"/>
              <a:t>:</a:t>
            </a:r>
          </a:p>
          <a:p>
            <a:pPr marL="0" indent="0">
              <a:buNone/>
            </a:pPr>
            <a:r>
              <a:rPr lang="en-IN" dirty="0"/>
              <a:t>CC3, Country, Banking Crisis, </a:t>
            </a:r>
            <a:r>
              <a:rPr lang="en-IN" dirty="0" err="1"/>
              <a:t>Banking_Crisis_Notes</a:t>
            </a:r>
            <a:r>
              <a:rPr lang="en-IN" dirty="0"/>
              <a:t>, Systemic Crisis, Gold Standard, </a:t>
            </a:r>
            <a:r>
              <a:rPr lang="en-IN" dirty="0" err="1"/>
              <a:t>exch_usd</a:t>
            </a:r>
            <a:r>
              <a:rPr lang="en-IN" dirty="0"/>
              <a:t>, exch_usd_alt2, exch_usd_alt3, </a:t>
            </a:r>
            <a:r>
              <a:rPr lang="en-IN" dirty="0" err="1"/>
              <a:t>conversion_notes</a:t>
            </a:r>
            <a:r>
              <a:rPr lang="en-IN" dirty="0"/>
              <a:t>, national currency, </a:t>
            </a:r>
            <a:r>
              <a:rPr lang="en-IN" dirty="0" err="1"/>
              <a:t>exch_primary</a:t>
            </a:r>
            <a:r>
              <a:rPr lang="en-IN" dirty="0"/>
              <a:t> source code, </a:t>
            </a:r>
            <a:r>
              <a:rPr lang="en-IN" dirty="0" err="1"/>
              <a:t>exch_sources</a:t>
            </a:r>
            <a:r>
              <a:rPr lang="en-IN" dirty="0"/>
              <a:t>, </a:t>
            </a:r>
            <a:r>
              <a:rPr lang="en-IN" dirty="0" err="1"/>
              <a:t>Domestic_Debt_In_Default</a:t>
            </a:r>
            <a:r>
              <a:rPr lang="en-IN" dirty="0"/>
              <a:t>, </a:t>
            </a:r>
            <a:r>
              <a:rPr lang="en-IN" dirty="0" err="1"/>
              <a:t>Domestic_Debt_Notes</a:t>
            </a:r>
            <a:r>
              <a:rPr lang="en-IN" dirty="0"/>
              <a:t>/Sources, SOVEREIGN EXTERNAL DEBT 1: DEFAULT and RESTRUCTURINGS, 1800-2012, SOVEREIGN EXTERNAL DEBT 2: DEFAULT and RESTRUCTURINGS, 1800-2012, </a:t>
            </a:r>
            <a:r>
              <a:rPr lang="en-IN" dirty="0" err="1"/>
              <a:t>Defaults_External_Notes</a:t>
            </a:r>
            <a:r>
              <a:rPr lang="en-IN" dirty="0"/>
              <a:t>, </a:t>
            </a:r>
            <a:r>
              <a:rPr lang="en-IN" dirty="0" err="1"/>
              <a:t>GDP_Weighted_default</a:t>
            </a:r>
            <a:r>
              <a:rPr lang="en-IN" dirty="0"/>
              <a:t>, "&lt;", Inflation, Annual percentages of average consumer prices, Independence, Currency Crises, Inflation Crises.</a:t>
            </a:r>
          </a:p>
          <a:p>
            <a:pPr marL="0" indent="0">
              <a:buNone/>
            </a:pPr>
            <a:endParaRPr lang="en-IN" dirty="0"/>
          </a:p>
          <a:p>
            <a:pPr marL="0" indent="0">
              <a:buNone/>
            </a:pPr>
            <a:r>
              <a:rPr lang="en-IN" b="1" dirty="0"/>
              <a:t>Continuous Columns</a:t>
            </a:r>
            <a:r>
              <a:rPr lang="en-IN" dirty="0"/>
              <a:t>:</a:t>
            </a:r>
          </a:p>
          <a:p>
            <a:pPr marL="0" indent="0">
              <a:buNone/>
            </a:pPr>
            <a:r>
              <a:rPr lang="en-IN" dirty="0"/>
              <a:t>Case, Year, exch_usd_alt1.</a:t>
            </a:r>
          </a:p>
          <a:p>
            <a:pPr marL="0" indent="0">
              <a:buNone/>
            </a:pPr>
            <a:endParaRPr lang="en-IN" dirty="0"/>
          </a:p>
          <a:p>
            <a:pPr marL="0" indent="0">
              <a:buNone/>
            </a:pPr>
            <a:r>
              <a:rPr lang="en-IN" b="1" dirty="0"/>
              <a:t>Discrete Columns</a:t>
            </a:r>
            <a:r>
              <a:rPr lang="en-IN" dirty="0"/>
              <a:t>:</a:t>
            </a:r>
          </a:p>
          <a:p>
            <a:pPr marL="0" indent="0">
              <a:buNone/>
            </a:pPr>
            <a:r>
              <a:rPr lang="en-IN" dirty="0"/>
              <a:t>None identified as discrete based on the provided data.</a:t>
            </a:r>
          </a:p>
        </p:txBody>
      </p:sp>
      <p:sp>
        <p:nvSpPr>
          <p:cNvPr id="4" name="Footer Placeholder 3">
            <a:extLst>
              <a:ext uri="{FF2B5EF4-FFF2-40B4-BE49-F238E27FC236}">
                <a16:creationId xmlns:a16="http://schemas.microsoft.com/office/drawing/2014/main" id="{99D4B456-8BE1-B42D-19A0-5FF4E0D6BD85}"/>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A503AD71-124A-2FDD-F7B5-1B70D5A5C8A6}"/>
              </a:ext>
            </a:extLst>
          </p:cNvPr>
          <p:cNvSpPr>
            <a:spLocks noGrp="1"/>
          </p:cNvSpPr>
          <p:nvPr>
            <p:ph type="sldNum" sz="quarter" idx="12"/>
          </p:nvPr>
        </p:nvSpPr>
        <p:spPr/>
        <p:txBody>
          <a:bodyPr/>
          <a:lstStyle/>
          <a:p>
            <a:fld id="{90EDC104-672A-4227-99C4-0E2CC007FDBA}" type="slidenum">
              <a:rPr lang="en-IN" smtClean="0"/>
              <a:t>15</a:t>
            </a:fld>
            <a:endParaRPr lang="en-IN"/>
          </a:p>
        </p:txBody>
      </p:sp>
    </p:spTree>
    <p:extLst>
      <p:ext uri="{BB962C8B-B14F-4D97-AF65-F5344CB8AC3E}">
        <p14:creationId xmlns:p14="http://schemas.microsoft.com/office/powerpoint/2010/main" val="751544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016165"/>
          </a:xfrm>
        </p:spPr>
        <p:txBody>
          <a:bodyPr/>
          <a:lstStyle/>
          <a:p>
            <a:r>
              <a:rPr lang="en-US" b="1" dirty="0">
                <a:latin typeface="Arial Narrow" panose="020B0606020202030204" pitchFamily="34" charset="0"/>
              </a:rPr>
              <a:t>Performance Analysis</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pPr marL="0" indent="0">
              <a:buNone/>
            </a:pPr>
            <a:endParaRPr lang="en-IN" dirty="0">
              <a:solidFill>
                <a:srgbClr val="FF0000"/>
              </a:solidFill>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16</a:t>
            </a:fld>
            <a:endParaRPr lang="en-IN"/>
          </a:p>
        </p:txBody>
      </p:sp>
      <p:graphicFrame>
        <p:nvGraphicFramePr>
          <p:cNvPr id="7" name="Table 6">
            <a:extLst>
              <a:ext uri="{FF2B5EF4-FFF2-40B4-BE49-F238E27FC236}">
                <a16:creationId xmlns:a16="http://schemas.microsoft.com/office/drawing/2014/main" id="{6A4AC6AB-FB7E-F8C5-EB71-A16AE57098FA}"/>
              </a:ext>
            </a:extLst>
          </p:cNvPr>
          <p:cNvGraphicFramePr>
            <a:graphicFrameLocks noGrp="1"/>
          </p:cNvGraphicFramePr>
          <p:nvPr>
            <p:extLst>
              <p:ext uri="{D42A27DB-BD31-4B8C-83A1-F6EECF244321}">
                <p14:modId xmlns:p14="http://schemas.microsoft.com/office/powerpoint/2010/main" val="791568995"/>
              </p:ext>
            </p:extLst>
          </p:nvPr>
        </p:nvGraphicFramePr>
        <p:xfrm>
          <a:off x="264160" y="812801"/>
          <a:ext cx="11694160" cy="5600466"/>
        </p:xfrm>
        <a:graphic>
          <a:graphicData uri="http://schemas.openxmlformats.org/drawingml/2006/table">
            <a:tbl>
              <a:tblPr firstRow="1" firstCol="1" bandRow="1">
                <a:tableStyleId>{5C22544A-7EE6-4342-B048-85BDC9FD1C3A}</a:tableStyleId>
              </a:tblPr>
              <a:tblGrid>
                <a:gridCol w="482810">
                  <a:extLst>
                    <a:ext uri="{9D8B030D-6E8A-4147-A177-3AD203B41FA5}">
                      <a16:colId xmlns:a16="http://schemas.microsoft.com/office/drawing/2014/main" val="164219056"/>
                    </a:ext>
                  </a:extLst>
                </a:gridCol>
                <a:gridCol w="1391288">
                  <a:extLst>
                    <a:ext uri="{9D8B030D-6E8A-4147-A177-3AD203B41FA5}">
                      <a16:colId xmlns:a16="http://schemas.microsoft.com/office/drawing/2014/main" val="3091583126"/>
                    </a:ext>
                  </a:extLst>
                </a:gridCol>
                <a:gridCol w="513290">
                  <a:extLst>
                    <a:ext uri="{9D8B030D-6E8A-4147-A177-3AD203B41FA5}">
                      <a16:colId xmlns:a16="http://schemas.microsoft.com/office/drawing/2014/main" val="410618623"/>
                    </a:ext>
                  </a:extLst>
                </a:gridCol>
                <a:gridCol w="2809592">
                  <a:extLst>
                    <a:ext uri="{9D8B030D-6E8A-4147-A177-3AD203B41FA5}">
                      <a16:colId xmlns:a16="http://schemas.microsoft.com/office/drawing/2014/main" val="2586742546"/>
                    </a:ext>
                  </a:extLst>
                </a:gridCol>
                <a:gridCol w="2512423">
                  <a:extLst>
                    <a:ext uri="{9D8B030D-6E8A-4147-A177-3AD203B41FA5}">
                      <a16:colId xmlns:a16="http://schemas.microsoft.com/office/drawing/2014/main" val="3581580691"/>
                    </a:ext>
                  </a:extLst>
                </a:gridCol>
                <a:gridCol w="3984757">
                  <a:extLst>
                    <a:ext uri="{9D8B030D-6E8A-4147-A177-3AD203B41FA5}">
                      <a16:colId xmlns:a16="http://schemas.microsoft.com/office/drawing/2014/main" val="3579281515"/>
                    </a:ext>
                  </a:extLst>
                </a:gridCol>
              </a:tblGrid>
              <a:tr h="322707">
                <a:tc>
                  <a:txBody>
                    <a:bodyPr/>
                    <a:lstStyle/>
                    <a:p>
                      <a:pPr algn="ctr">
                        <a:lnSpc>
                          <a:spcPct val="107000"/>
                        </a:lnSpc>
                        <a:spcAft>
                          <a:spcPts val="800"/>
                        </a:spcAft>
                      </a:pPr>
                      <a:r>
                        <a:rPr lang="en-IN" sz="1200" kern="0" dirty="0" err="1">
                          <a:effectLst/>
                        </a:rPr>
                        <a:t>S.No</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gn="ctr">
                        <a:lnSpc>
                          <a:spcPct val="107000"/>
                        </a:lnSpc>
                        <a:spcAft>
                          <a:spcPts val="800"/>
                        </a:spcAft>
                      </a:pPr>
                      <a:r>
                        <a:rPr lang="en-IN" sz="1200" kern="0" dirty="0">
                          <a:effectLst/>
                        </a:rPr>
                        <a:t>Authors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gn="ctr">
                        <a:lnSpc>
                          <a:spcPct val="107000"/>
                        </a:lnSpc>
                        <a:spcAft>
                          <a:spcPts val="800"/>
                        </a:spcAft>
                      </a:pPr>
                      <a:r>
                        <a:rPr lang="en-IN" sz="1200" kern="0" dirty="0">
                          <a:effectLst/>
                        </a:rPr>
                        <a:t>Year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gn="ctr">
                        <a:lnSpc>
                          <a:spcPct val="107000"/>
                        </a:lnSpc>
                        <a:spcAft>
                          <a:spcPts val="800"/>
                        </a:spcAft>
                      </a:pPr>
                      <a:r>
                        <a:rPr lang="en-IN" sz="1200" kern="0" dirty="0">
                          <a:effectLst/>
                        </a:rPr>
                        <a:t>Methodology Used</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gn="ctr">
                        <a:lnSpc>
                          <a:spcPct val="107000"/>
                        </a:lnSpc>
                        <a:spcAft>
                          <a:spcPts val="800"/>
                        </a:spcAft>
                      </a:pPr>
                      <a:r>
                        <a:rPr lang="en-IN" sz="1200" kern="0" dirty="0">
                          <a:effectLst/>
                        </a:rPr>
                        <a:t>Performance Metrics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gn="ctr">
                        <a:lnSpc>
                          <a:spcPct val="107000"/>
                        </a:lnSpc>
                        <a:spcAft>
                          <a:spcPts val="800"/>
                        </a:spcAft>
                      </a:pPr>
                      <a:r>
                        <a:rPr lang="en-IN" sz="1200" kern="0" dirty="0">
                          <a:effectLst/>
                        </a:rPr>
                        <a:t>My Methodology</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3175165036"/>
                  </a:ext>
                </a:extLst>
              </a:tr>
              <a:tr h="451680">
                <a:tc>
                  <a:txBody>
                    <a:bodyPr/>
                    <a:lstStyle/>
                    <a:p>
                      <a:pPr algn="ctr">
                        <a:lnSpc>
                          <a:spcPct val="107000"/>
                        </a:lnSpc>
                        <a:spcAft>
                          <a:spcPts val="800"/>
                        </a:spcAft>
                      </a:pPr>
                      <a:r>
                        <a:rPr lang="en-IN" sz="1000" kern="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Harvard Business School</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2018</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Regression, Econometrics, Machine Learning</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Analysis of financial risks and instabilities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SARIMAX, LSTM, and other advanced ML models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4079162581"/>
                  </a:ext>
                </a:extLst>
              </a:tr>
              <a:tr h="451680">
                <a:tc>
                  <a:txBody>
                    <a:bodyPr/>
                    <a:lstStyle/>
                    <a:p>
                      <a:pPr algn="ctr">
                        <a:lnSpc>
                          <a:spcPct val="107000"/>
                        </a:lnSpc>
                        <a:spcAft>
                          <a:spcPts val="800"/>
                        </a:spcAft>
                      </a:pPr>
                      <a:r>
                        <a:rPr lang="en-IN" sz="1000" kern="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Tekin H.</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2020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Cash Management Strategies Analysis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Changes in Cash Management Strategies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Enhanced predictive accuracy using SARIMAX and LSTM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3181785763"/>
                  </a:ext>
                </a:extLst>
              </a:tr>
              <a:tr h="451680">
                <a:tc>
                  <a:txBody>
                    <a:bodyPr/>
                    <a:lstStyle/>
                    <a:p>
                      <a:pPr algn="ctr">
                        <a:lnSpc>
                          <a:spcPct val="107000"/>
                        </a:lnSpc>
                        <a:spcAft>
                          <a:spcPts val="800"/>
                        </a:spcAft>
                      </a:pPr>
                      <a:r>
                        <a:rPr lang="en-IN" sz="1000" kern="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World Bank</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2020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Analytical Review of Bank Regulation and Supervision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Policy and regulatory insights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Combining SARIMAX with LSTM for deeper economic insights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2046464841"/>
                  </a:ext>
                </a:extLst>
              </a:tr>
              <a:tr h="451680">
                <a:tc>
                  <a:txBody>
                    <a:bodyPr/>
                    <a:lstStyle/>
                    <a:p>
                      <a:pPr algn="ctr">
                        <a:lnSpc>
                          <a:spcPct val="107000"/>
                        </a:lnSpc>
                        <a:spcAft>
                          <a:spcPts val="800"/>
                        </a:spcAft>
                      </a:pPr>
                      <a:r>
                        <a:rPr lang="en-IN" sz="1000" kern="0">
                          <a:effectLst/>
                        </a:rPr>
                        <a:t>4</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Lajili K. et al.</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2023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Corporate Risk Disclosure Analysis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Analytical and Evaluative Research</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Leveraging SARIMAX and LSTM for risk prediction</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3836373766"/>
                  </a:ext>
                </a:extLst>
              </a:tr>
              <a:tr h="564905">
                <a:tc>
                  <a:txBody>
                    <a:bodyPr/>
                    <a:lstStyle/>
                    <a:p>
                      <a:pPr algn="ctr">
                        <a:lnSpc>
                          <a:spcPct val="107000"/>
                        </a:lnSpc>
                        <a:spcAft>
                          <a:spcPts val="800"/>
                        </a:spcAft>
                      </a:pPr>
                      <a:r>
                        <a:rPr lang="en-IN" sz="1000" kern="0">
                          <a:effectLst/>
                        </a:rPr>
                        <a:t>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Shehzad K. et al.</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2020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Comparative Analysis of COVID-19 and Financial Crisis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Comparative Analysis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Applying SARIMAX and LSTM to model crisis scenarios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3137114681"/>
                  </a:ext>
                </a:extLst>
              </a:tr>
              <a:tr h="564905">
                <a:tc>
                  <a:txBody>
                    <a:bodyPr/>
                    <a:lstStyle/>
                    <a:p>
                      <a:pPr algn="ctr">
                        <a:lnSpc>
                          <a:spcPct val="107000"/>
                        </a:lnSpc>
                        <a:spcAft>
                          <a:spcPts val="800"/>
                        </a:spcAft>
                      </a:pPr>
                      <a:r>
                        <a:rPr lang="en-IN" sz="1000" kern="0">
                          <a:effectLst/>
                        </a:rPr>
                        <a:t>6</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Lolea I.-C. et al.</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2021</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ARIMA, Machine Learning (Prophet, KNN, Neural Networks)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Neural Networks excel in Predictive Accuracy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Integrating SARIMAX and LSTM for enhanced forecasting</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2542673073"/>
                  </a:ext>
                </a:extLst>
              </a:tr>
              <a:tr h="451680">
                <a:tc>
                  <a:txBody>
                    <a:bodyPr/>
                    <a:lstStyle/>
                    <a:p>
                      <a:pPr algn="ctr">
                        <a:lnSpc>
                          <a:spcPct val="107000"/>
                        </a:lnSpc>
                        <a:spcAft>
                          <a:spcPts val="800"/>
                        </a:spcAft>
                      </a:pPr>
                      <a:r>
                        <a:rPr lang="en-IN" sz="1000" kern="0">
                          <a:effectLst/>
                        </a:rPr>
                        <a:t>7</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Tang Y. M. et al.</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2020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AI-Driven Time Series Forecasting in Logistics Sector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Advanced Analytical Approach</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SARIMAX and LSTM for robust time series analysis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3123308918"/>
                  </a:ext>
                </a:extLst>
              </a:tr>
              <a:tr h="564905">
                <a:tc>
                  <a:txBody>
                    <a:bodyPr/>
                    <a:lstStyle/>
                    <a:p>
                      <a:pPr algn="ctr">
                        <a:lnSpc>
                          <a:spcPct val="107000"/>
                        </a:lnSpc>
                        <a:spcAft>
                          <a:spcPts val="800"/>
                        </a:spcAft>
                      </a:pPr>
                      <a:r>
                        <a:rPr lang="en-IN" sz="1000" kern="0">
                          <a:effectLst/>
                        </a:rPr>
                        <a:t>8</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Liu J. et al.</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2023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ARIMA, GARCH, Random Forest during Russia-Ukraine War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Comprehensive Economic Analysis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SARIMAX and LSTM for complex economic event analysis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427340940"/>
                  </a:ext>
                </a:extLst>
              </a:tr>
              <a:tr h="564905">
                <a:tc>
                  <a:txBody>
                    <a:bodyPr/>
                    <a:lstStyle/>
                    <a:p>
                      <a:pPr algn="ctr">
                        <a:lnSpc>
                          <a:spcPct val="107000"/>
                        </a:lnSpc>
                        <a:spcAft>
                          <a:spcPts val="800"/>
                        </a:spcAft>
                      </a:pPr>
                      <a:r>
                        <a:rPr lang="en-IN" sz="1000" kern="0">
                          <a:effectLst/>
                        </a:rPr>
                        <a:t>9</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Zulkefly R. N. et al.</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2020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Financial Inclusiveness and Economic Growth Analysis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Impact of Financial Inclusiveness</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Applying SARIMAX and LSTM for economic growth analysis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3205836197"/>
                  </a:ext>
                </a:extLst>
              </a:tr>
              <a:tr h="702824">
                <a:tc>
                  <a:txBody>
                    <a:bodyPr/>
                    <a:lstStyle/>
                    <a:p>
                      <a:pPr algn="ctr">
                        <a:lnSpc>
                          <a:spcPct val="107000"/>
                        </a:lnSpc>
                        <a:spcAft>
                          <a:spcPts val="800"/>
                        </a:spcAft>
                      </a:pPr>
                      <a:r>
                        <a:rPr lang="en-IN" sz="1000" kern="0" dirty="0">
                          <a:effectLst/>
                        </a:rPr>
                        <a:t>10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Hossain M. J.</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2023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SARIMAX, ARIMA, Random Forest for GDP and Unemployment Rate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a:effectLst/>
                        </a:rPr>
                        <a:t>Predictive Capabilities and Differences Noted</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tc>
                  <a:txBody>
                    <a:bodyPr/>
                    <a:lstStyle/>
                    <a:p>
                      <a:pPr>
                        <a:lnSpc>
                          <a:spcPct val="107000"/>
                        </a:lnSpc>
                        <a:spcAft>
                          <a:spcPts val="800"/>
                        </a:spcAft>
                      </a:pPr>
                      <a:r>
                        <a:rPr lang="en-IN" sz="1400" kern="0" dirty="0">
                          <a:effectLst/>
                        </a:rPr>
                        <a:t>Advanced ML techniques for refined economic predictions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8297" marR="8297" marT="8297" marB="8297" anchor="b"/>
                </a:tc>
                <a:extLst>
                  <a:ext uri="{0D108BD9-81ED-4DB2-BD59-A6C34878D82A}">
                    <a16:rowId xmlns:a16="http://schemas.microsoft.com/office/drawing/2014/main" val="3172146909"/>
                  </a:ext>
                </a:extLst>
              </a:tr>
            </a:tbl>
          </a:graphicData>
        </a:graphic>
      </p:graphicFrame>
    </p:spTree>
    <p:extLst>
      <p:ext uri="{BB962C8B-B14F-4D97-AF65-F5344CB8AC3E}">
        <p14:creationId xmlns:p14="http://schemas.microsoft.com/office/powerpoint/2010/main" val="3443624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17</a:t>
            </a:fld>
            <a:endParaRPr lang="en-IN"/>
          </a:p>
        </p:txBody>
      </p:sp>
      <p:pic>
        <p:nvPicPr>
          <p:cNvPr id="6" name="Content Placeholder 5">
            <a:extLst>
              <a:ext uri="{FF2B5EF4-FFF2-40B4-BE49-F238E27FC236}">
                <a16:creationId xmlns:a16="http://schemas.microsoft.com/office/drawing/2014/main" id="{190338B8-DDA9-C54E-FBC6-06F9469443C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0" y="1025525"/>
            <a:ext cx="5635941" cy="5330825"/>
          </a:xfrm>
          <a:prstGeom prst="rect">
            <a:avLst/>
          </a:prstGeom>
          <a:noFill/>
          <a:ln>
            <a:noFill/>
          </a:ln>
        </p:spPr>
      </p:pic>
      <p:sp>
        <p:nvSpPr>
          <p:cNvPr id="7" name="TextBox 6">
            <a:extLst>
              <a:ext uri="{FF2B5EF4-FFF2-40B4-BE49-F238E27FC236}">
                <a16:creationId xmlns:a16="http://schemas.microsoft.com/office/drawing/2014/main" id="{D649A119-FEA9-1D44-5DB9-039E9A2AC85A}"/>
              </a:ext>
            </a:extLst>
          </p:cNvPr>
          <p:cNvSpPr txBox="1"/>
          <p:nvPr/>
        </p:nvSpPr>
        <p:spPr>
          <a:xfrm>
            <a:off x="294640" y="1201837"/>
            <a:ext cx="5635941" cy="5078313"/>
          </a:xfrm>
          <a:prstGeom prst="rect">
            <a:avLst/>
          </a:prstGeom>
          <a:noFill/>
        </p:spPr>
        <p:txBody>
          <a:bodyPr wrap="square" rtlCol="0">
            <a:spAutoFit/>
          </a:bodyPr>
          <a:lstStyle/>
          <a:p>
            <a:pPr marL="285750" indent="-285750">
              <a:buFont typeface="Arial" panose="020B0604020202020204" pitchFamily="34" charset="0"/>
              <a:buChar char="•"/>
            </a:pPr>
            <a:r>
              <a:rPr lang="en-US" b="1" dirty="0"/>
              <a:t>Banking Crisis and Systemic Crisis (0.73): </a:t>
            </a:r>
            <a:r>
              <a:rPr lang="en-US" dirty="0"/>
              <a:t>A strong positive correlation, indicating that these types of crises often occur together.</a:t>
            </a:r>
          </a:p>
          <a:p>
            <a:endParaRPr lang="en-US" dirty="0"/>
          </a:p>
          <a:p>
            <a:pPr marL="285750" indent="-285750">
              <a:buFont typeface="Arial" panose="020B0604020202020204" pitchFamily="34" charset="0"/>
              <a:buChar char="•"/>
            </a:pPr>
            <a:r>
              <a:rPr lang="en-US" b="1" dirty="0" err="1"/>
              <a:t>Domestic_Debt_In_Default</a:t>
            </a:r>
            <a:r>
              <a:rPr lang="en-US" b="1" dirty="0"/>
              <a:t> and </a:t>
            </a:r>
            <a:r>
              <a:rPr lang="en-US" b="1" dirty="0" err="1"/>
              <a:t>GDP_Weighted_default</a:t>
            </a:r>
            <a:r>
              <a:rPr lang="en-US" b="1" dirty="0"/>
              <a:t> (0.34): </a:t>
            </a:r>
            <a:r>
              <a:rPr lang="en-US" dirty="0"/>
              <a:t>A moderate positive correlation, suggesting a relationship between GDP-weighted defaults and domestic debt defaults.</a:t>
            </a:r>
          </a:p>
          <a:p>
            <a:endParaRPr lang="en-US" dirty="0"/>
          </a:p>
          <a:p>
            <a:pPr marL="285750" indent="-285750">
              <a:buFont typeface="Arial" panose="020B0604020202020204" pitchFamily="34" charset="0"/>
              <a:buChar char="•"/>
            </a:pPr>
            <a:r>
              <a:rPr lang="en-US" b="1" dirty="0"/>
              <a:t>Currency Crises and Inflation Crises (0.36): </a:t>
            </a:r>
            <a:r>
              <a:rPr lang="en-US" dirty="0"/>
              <a:t>A moderate positive correlation, implying that currency crises might be linked with inflation crises.</a:t>
            </a:r>
          </a:p>
          <a:p>
            <a:endParaRPr lang="en-US" dirty="0"/>
          </a:p>
          <a:p>
            <a:pPr marL="285750" indent="-285750">
              <a:buFont typeface="Arial" panose="020B0604020202020204" pitchFamily="34" charset="0"/>
              <a:buChar char="•"/>
            </a:pPr>
            <a:r>
              <a:rPr lang="en-US" b="1" dirty="0"/>
              <a:t>Inflation (annual percentages of average consumer prices) and Exchange Rate (</a:t>
            </a:r>
            <a:r>
              <a:rPr lang="en-US" b="1" dirty="0" err="1"/>
              <a:t>exch_usd</a:t>
            </a:r>
            <a:r>
              <a:rPr lang="en-US" b="1" dirty="0"/>
              <a:t>) (0.59): </a:t>
            </a:r>
            <a:r>
              <a:rPr lang="en-US" dirty="0"/>
              <a:t>A strong positive correlation, indicating that higher inflation rates are often associated with a weaker currency against the US dollar.</a:t>
            </a:r>
            <a:endParaRPr lang="en-IN" dirty="0"/>
          </a:p>
        </p:txBody>
      </p:sp>
    </p:spTree>
    <p:extLst>
      <p:ext uri="{BB962C8B-B14F-4D97-AF65-F5344CB8AC3E}">
        <p14:creationId xmlns:p14="http://schemas.microsoft.com/office/powerpoint/2010/main" val="3100446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a:xfrm>
            <a:off x="111760" y="1026160"/>
            <a:ext cx="11998960" cy="5330190"/>
          </a:xfrm>
        </p:spPr>
        <p:txBody>
          <a:bodyPr>
            <a:normAutofit/>
          </a:bodyPr>
          <a:lstStyle/>
          <a:p>
            <a:pPr marL="0" indent="0">
              <a:buNone/>
            </a:pPr>
            <a:endParaRPr lang="en-US"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18</a:t>
            </a:fld>
            <a:endParaRPr lang="en-IN"/>
          </a:p>
        </p:txBody>
      </p:sp>
      <p:pic>
        <p:nvPicPr>
          <p:cNvPr id="9" name="Picture 8">
            <a:extLst>
              <a:ext uri="{FF2B5EF4-FFF2-40B4-BE49-F238E27FC236}">
                <a16:creationId xmlns:a16="http://schemas.microsoft.com/office/drawing/2014/main" id="{C85FD907-B6C4-B13E-111B-0A942284A3E2}"/>
              </a:ext>
            </a:extLst>
          </p:cNvPr>
          <p:cNvPicPr>
            <a:picLocks noChangeAspect="1"/>
          </p:cNvPicPr>
          <p:nvPr/>
        </p:nvPicPr>
        <p:blipFill rotWithShape="1">
          <a:blip r:embed="rId2">
            <a:extLst>
              <a:ext uri="{28A0092B-C50C-407E-A947-70E740481C1C}">
                <a14:useLocalDpi xmlns:a14="http://schemas.microsoft.com/office/drawing/2010/main" val="0"/>
              </a:ext>
            </a:extLst>
          </a:blip>
          <a:srcRect t="50286"/>
          <a:stretch/>
        </p:blipFill>
        <p:spPr bwMode="auto">
          <a:xfrm>
            <a:off x="6174373" y="882016"/>
            <a:ext cx="5905867" cy="5254624"/>
          </a:xfrm>
          <a:prstGeom prst="rect">
            <a:avLst/>
          </a:prstGeom>
          <a:noFill/>
          <a:ln>
            <a:noFill/>
          </a:ln>
        </p:spPr>
      </p:pic>
      <p:pic>
        <p:nvPicPr>
          <p:cNvPr id="10" name="Picture 9">
            <a:extLst>
              <a:ext uri="{FF2B5EF4-FFF2-40B4-BE49-F238E27FC236}">
                <a16:creationId xmlns:a16="http://schemas.microsoft.com/office/drawing/2014/main" id="{D4A8A352-43B8-141A-5F83-B96A2511BE27}"/>
              </a:ext>
            </a:extLst>
          </p:cNvPr>
          <p:cNvPicPr>
            <a:picLocks noChangeAspect="1"/>
          </p:cNvPicPr>
          <p:nvPr/>
        </p:nvPicPr>
        <p:blipFill rotWithShape="1">
          <a:blip r:embed="rId2">
            <a:extLst>
              <a:ext uri="{28A0092B-C50C-407E-A947-70E740481C1C}">
                <a14:useLocalDpi xmlns:a14="http://schemas.microsoft.com/office/drawing/2010/main" val="0"/>
              </a:ext>
            </a:extLst>
          </a:blip>
          <a:srcRect b="50286"/>
          <a:stretch/>
        </p:blipFill>
        <p:spPr bwMode="auto">
          <a:xfrm>
            <a:off x="195897" y="882016"/>
            <a:ext cx="5905867" cy="5254624"/>
          </a:xfrm>
          <a:prstGeom prst="rect">
            <a:avLst/>
          </a:prstGeom>
          <a:noFill/>
          <a:ln>
            <a:noFill/>
          </a:ln>
        </p:spPr>
      </p:pic>
    </p:spTree>
    <p:extLst>
      <p:ext uri="{BB962C8B-B14F-4D97-AF65-F5344CB8AC3E}">
        <p14:creationId xmlns:p14="http://schemas.microsoft.com/office/powerpoint/2010/main" val="2125972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19</a:t>
            </a:fld>
            <a:endParaRPr lang="en-IN" dirty="0"/>
          </a:p>
        </p:txBody>
      </p:sp>
      <p:pic>
        <p:nvPicPr>
          <p:cNvPr id="6" name="Content Placeholder 5">
            <a:extLst>
              <a:ext uri="{FF2B5EF4-FFF2-40B4-BE49-F238E27FC236}">
                <a16:creationId xmlns:a16="http://schemas.microsoft.com/office/drawing/2014/main" id="{4CC4BDDE-5E56-A08F-2394-B022C8406552}"/>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1" b="50723"/>
          <a:stretch/>
        </p:blipFill>
        <p:spPr bwMode="auto">
          <a:xfrm>
            <a:off x="0" y="945673"/>
            <a:ext cx="5969635" cy="2413647"/>
          </a:xfrm>
          <a:prstGeom prst="rect">
            <a:avLst/>
          </a:prstGeom>
          <a:noFill/>
          <a:ln>
            <a:noFill/>
          </a:ln>
        </p:spPr>
      </p:pic>
      <p:pic>
        <p:nvPicPr>
          <p:cNvPr id="7" name="Picture 6">
            <a:extLst>
              <a:ext uri="{FF2B5EF4-FFF2-40B4-BE49-F238E27FC236}">
                <a16:creationId xmlns:a16="http://schemas.microsoft.com/office/drawing/2014/main" id="{A490FE1A-DED2-F9C5-4722-CD66B769F24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9264"/>
          <a:stretch/>
        </p:blipFill>
        <p:spPr bwMode="auto">
          <a:xfrm>
            <a:off x="5969635" y="979902"/>
            <a:ext cx="5969635" cy="2485125"/>
          </a:xfrm>
          <a:prstGeom prst="rect">
            <a:avLst/>
          </a:prstGeom>
          <a:noFill/>
          <a:ln>
            <a:noFill/>
          </a:ln>
        </p:spPr>
      </p:pic>
      <p:pic>
        <p:nvPicPr>
          <p:cNvPr id="8" name="Picture 7">
            <a:extLst>
              <a:ext uri="{FF2B5EF4-FFF2-40B4-BE49-F238E27FC236}">
                <a16:creationId xmlns:a16="http://schemas.microsoft.com/office/drawing/2014/main" id="{223DEDAA-3332-BD24-3784-2734A838287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9062" y="3607202"/>
            <a:ext cx="5731510" cy="2501265"/>
          </a:xfrm>
          <a:prstGeom prst="rect">
            <a:avLst/>
          </a:prstGeom>
          <a:noFill/>
          <a:ln>
            <a:noFill/>
          </a:ln>
        </p:spPr>
      </p:pic>
      <p:sp>
        <p:nvSpPr>
          <p:cNvPr id="9" name="TextBox 8">
            <a:extLst>
              <a:ext uri="{FF2B5EF4-FFF2-40B4-BE49-F238E27FC236}">
                <a16:creationId xmlns:a16="http://schemas.microsoft.com/office/drawing/2014/main" id="{006A3B9F-080B-E53E-C1DD-C4E6C3C212FB}"/>
              </a:ext>
            </a:extLst>
          </p:cNvPr>
          <p:cNvSpPr txBox="1"/>
          <p:nvPr/>
        </p:nvSpPr>
        <p:spPr>
          <a:xfrm>
            <a:off x="6096000" y="3717063"/>
            <a:ext cx="5731510" cy="2392578"/>
          </a:xfrm>
          <a:prstGeom prst="rect">
            <a:avLst/>
          </a:prstGeom>
          <a:noFill/>
        </p:spPr>
        <p:txBody>
          <a:bodyPr wrap="square" rtlCol="0">
            <a:spAutoFit/>
          </a:bodyPr>
          <a:lstStyle/>
          <a:p>
            <a:pPr>
              <a:lnSpc>
                <a:spcPct val="107000"/>
              </a:lnSpc>
              <a:spcAft>
                <a:spcPts val="800"/>
              </a:spcAft>
            </a:pPr>
            <a:r>
              <a:rPr lang="en-IN" kern="100" dirty="0">
                <a:effectLst/>
                <a:latin typeface="Calibri" panose="020F0502020204030204" pitchFamily="34" charset="0"/>
                <a:ea typeface="Calibri" panose="020F0502020204030204" pitchFamily="34" charset="0"/>
                <a:cs typeface="Times New Roman" panose="02020603050405020304" pitchFamily="18" charset="0"/>
              </a:rPr>
              <a:t>The graph indicates that all types of crises have become more common over time, with inflation crises showing the most pronounced increase. This could reflect various economic trends, policy changes, and evolving financial systems globally. The cumulative nature of the graph underscores the continuing impact and rising frequency of these economic events over time.</a:t>
            </a:r>
          </a:p>
          <a:p>
            <a:endParaRPr lang="en-IN" sz="800" dirty="0"/>
          </a:p>
        </p:txBody>
      </p:sp>
    </p:spTree>
    <p:extLst>
      <p:ext uri="{BB962C8B-B14F-4D97-AF65-F5344CB8AC3E}">
        <p14:creationId xmlns:p14="http://schemas.microsoft.com/office/powerpoint/2010/main" val="3430558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27"/>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a:xfrm>
            <a:off x="96520" y="1045401"/>
            <a:ext cx="11998960" cy="5330190"/>
          </a:xfrm>
        </p:spPr>
        <p:txBody>
          <a:bodyPr>
            <a:normAutofit/>
          </a:bodyPr>
          <a:lstStyle/>
          <a:p>
            <a:pPr marL="0" indent="0" algn="ctr">
              <a:buNone/>
            </a:pPr>
            <a:r>
              <a:rPr lang="en-US" b="1" dirty="0"/>
              <a:t>ARIMA vs. SARIMAX – Banking Crisis</a:t>
            </a:r>
          </a:p>
          <a:p>
            <a:pPr marL="0" indent="0" algn="ctr">
              <a:buNone/>
            </a:pPr>
            <a:endParaRPr lang="en-US"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20</a:t>
            </a:fld>
            <a:endParaRPr lang="en-IN"/>
          </a:p>
        </p:txBody>
      </p:sp>
      <p:pic>
        <p:nvPicPr>
          <p:cNvPr id="12" name="Picture 11">
            <a:extLst>
              <a:ext uri="{FF2B5EF4-FFF2-40B4-BE49-F238E27FC236}">
                <a16:creationId xmlns:a16="http://schemas.microsoft.com/office/drawing/2014/main" id="{8087C8F0-367F-1BD9-9323-F696FC2433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5020" y="1513208"/>
            <a:ext cx="7442681" cy="2221425"/>
          </a:xfrm>
          <a:prstGeom prst="rect">
            <a:avLst/>
          </a:prstGeom>
          <a:noFill/>
          <a:ln>
            <a:noFill/>
          </a:ln>
        </p:spPr>
      </p:pic>
      <p:pic>
        <p:nvPicPr>
          <p:cNvPr id="13" name="Picture 12">
            <a:extLst>
              <a:ext uri="{FF2B5EF4-FFF2-40B4-BE49-F238E27FC236}">
                <a16:creationId xmlns:a16="http://schemas.microsoft.com/office/drawing/2014/main" id="{D5953014-8D5A-3D41-A7F2-1DBFDAFBC6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5020" y="3767893"/>
            <a:ext cx="7442681" cy="1510635"/>
          </a:xfrm>
          <a:prstGeom prst="rect">
            <a:avLst/>
          </a:prstGeom>
          <a:noFill/>
          <a:ln>
            <a:noFill/>
          </a:ln>
        </p:spPr>
      </p:pic>
      <p:pic>
        <p:nvPicPr>
          <p:cNvPr id="14" name="Picture 13">
            <a:extLst>
              <a:ext uri="{FF2B5EF4-FFF2-40B4-BE49-F238E27FC236}">
                <a16:creationId xmlns:a16="http://schemas.microsoft.com/office/drawing/2014/main" id="{FB29DFD3-A41F-3AD5-3148-85E856BF005E}"/>
              </a:ext>
            </a:extLst>
          </p:cNvPr>
          <p:cNvPicPr>
            <a:picLocks noChangeAspect="1"/>
          </p:cNvPicPr>
          <p:nvPr/>
        </p:nvPicPr>
        <p:blipFill rotWithShape="1">
          <a:blip r:embed="rId4"/>
          <a:srcRect r="75072" b="47356"/>
          <a:stretch/>
        </p:blipFill>
        <p:spPr bwMode="auto">
          <a:xfrm>
            <a:off x="8479381" y="1704974"/>
            <a:ext cx="2874419" cy="2912745"/>
          </a:xfrm>
          <a:prstGeom prst="rect">
            <a:avLst/>
          </a:prstGeom>
          <a:ln>
            <a:noFill/>
          </a:ln>
          <a:extLst>
            <a:ext uri="{53640926-AAD7-44D8-BBD7-CCE9431645EC}">
              <a14:shadowObscured xmlns:a14="http://schemas.microsoft.com/office/drawing/2010/main"/>
            </a:ext>
          </a:extLst>
        </p:spPr>
      </p:pic>
      <p:sp>
        <p:nvSpPr>
          <p:cNvPr id="15" name="TextBox 14">
            <a:extLst>
              <a:ext uri="{FF2B5EF4-FFF2-40B4-BE49-F238E27FC236}">
                <a16:creationId xmlns:a16="http://schemas.microsoft.com/office/drawing/2014/main" id="{22AAEB2C-E88D-C23F-CAEA-8B518F860F29}"/>
              </a:ext>
            </a:extLst>
          </p:cNvPr>
          <p:cNvSpPr txBox="1"/>
          <p:nvPr/>
        </p:nvSpPr>
        <p:spPr>
          <a:xfrm>
            <a:off x="612648" y="5449824"/>
            <a:ext cx="10607040" cy="968278"/>
          </a:xfrm>
          <a:prstGeom prst="rect">
            <a:avLst/>
          </a:prstGeom>
          <a:noFill/>
        </p:spPr>
        <p:txBody>
          <a:bodyPr wrap="square" rtlCol="0">
            <a:spAutoFit/>
          </a:bodyPr>
          <a:lstStyle/>
          <a:p>
            <a:pPr>
              <a:lnSpc>
                <a:spcPct val="107000"/>
              </a:lnSpc>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The graph 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isplays a time series forecast for banking crises, with historical occurrences shown in blue and future predictions in red. The forecast predicts a fluctuating trend of crises severity from 2017 to 2028, with increasing uncertainty over time.</a:t>
            </a:r>
          </a:p>
        </p:txBody>
      </p:sp>
    </p:spTree>
    <p:extLst>
      <p:ext uri="{BB962C8B-B14F-4D97-AF65-F5344CB8AC3E}">
        <p14:creationId xmlns:p14="http://schemas.microsoft.com/office/powerpoint/2010/main" val="2066938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27"/>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a:xfrm>
            <a:off x="96520" y="1045401"/>
            <a:ext cx="11998960" cy="5330190"/>
          </a:xfrm>
        </p:spPr>
        <p:txBody>
          <a:bodyPr>
            <a:normAutofit/>
          </a:bodyPr>
          <a:lstStyle/>
          <a:p>
            <a:pPr marL="0" indent="0" algn="ctr">
              <a:buNone/>
            </a:pPr>
            <a:r>
              <a:rPr lang="en-US" b="1" dirty="0"/>
              <a:t>ARIMA vs. SARIMAX – Systemic Crisis</a:t>
            </a:r>
          </a:p>
          <a:p>
            <a:pPr marL="0" indent="0" algn="ctr">
              <a:buNone/>
            </a:pPr>
            <a:endParaRPr lang="en-US"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21</a:t>
            </a:fld>
            <a:endParaRPr lang="en-IN"/>
          </a:p>
        </p:txBody>
      </p:sp>
      <p:sp>
        <p:nvSpPr>
          <p:cNvPr id="15" name="TextBox 14">
            <a:extLst>
              <a:ext uri="{FF2B5EF4-FFF2-40B4-BE49-F238E27FC236}">
                <a16:creationId xmlns:a16="http://schemas.microsoft.com/office/drawing/2014/main" id="{22AAEB2C-E88D-C23F-CAEA-8B518F860F29}"/>
              </a:ext>
            </a:extLst>
          </p:cNvPr>
          <p:cNvSpPr txBox="1"/>
          <p:nvPr/>
        </p:nvSpPr>
        <p:spPr>
          <a:xfrm>
            <a:off x="612648" y="5449824"/>
            <a:ext cx="10607040" cy="671915"/>
          </a:xfrm>
          <a:prstGeom prst="rect">
            <a:avLst/>
          </a:prstGeom>
          <a:noFill/>
        </p:spPr>
        <p:txBody>
          <a:bodyPr wrap="square" rtlCol="0">
            <a:sp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graph shows past systemic crises and projects future trends from 2017 to 2028. The forecast indicates a decrease in crisis severity, with growing predictive uncertainty as time advances.</a:t>
            </a:r>
          </a:p>
        </p:txBody>
      </p:sp>
      <p:pic>
        <p:nvPicPr>
          <p:cNvPr id="6" name="Picture 5">
            <a:extLst>
              <a:ext uri="{FF2B5EF4-FFF2-40B4-BE49-F238E27FC236}">
                <a16:creationId xmlns:a16="http://schemas.microsoft.com/office/drawing/2014/main" id="{DB872C4C-96E3-9841-83AC-9EAB150C79C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4208" y="1546135"/>
            <a:ext cx="7373479" cy="2221193"/>
          </a:xfrm>
          <a:prstGeom prst="rect">
            <a:avLst/>
          </a:prstGeom>
          <a:noFill/>
          <a:ln>
            <a:noFill/>
          </a:ln>
        </p:spPr>
      </p:pic>
      <p:pic>
        <p:nvPicPr>
          <p:cNvPr id="7" name="Picture 6">
            <a:extLst>
              <a:ext uri="{FF2B5EF4-FFF2-40B4-BE49-F238E27FC236}">
                <a16:creationId xmlns:a16="http://schemas.microsoft.com/office/drawing/2014/main" id="{815FF813-189B-416C-8C8A-FCF3D1667E3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489" y="3799782"/>
            <a:ext cx="7253197" cy="1481015"/>
          </a:xfrm>
          <a:prstGeom prst="rect">
            <a:avLst/>
          </a:prstGeom>
          <a:noFill/>
          <a:ln>
            <a:noFill/>
          </a:ln>
        </p:spPr>
      </p:pic>
      <p:pic>
        <p:nvPicPr>
          <p:cNvPr id="8" name="Picture 7">
            <a:extLst>
              <a:ext uri="{FF2B5EF4-FFF2-40B4-BE49-F238E27FC236}">
                <a16:creationId xmlns:a16="http://schemas.microsoft.com/office/drawing/2014/main" id="{BE4E61D6-A41C-B13B-7D2B-8014B413279F}"/>
              </a:ext>
            </a:extLst>
          </p:cNvPr>
          <p:cNvPicPr>
            <a:picLocks noChangeAspect="1"/>
          </p:cNvPicPr>
          <p:nvPr/>
        </p:nvPicPr>
        <p:blipFill rotWithShape="1">
          <a:blip r:embed="rId4"/>
          <a:srcRect r="73964" b="47950"/>
          <a:stretch/>
        </p:blipFill>
        <p:spPr bwMode="auto">
          <a:xfrm>
            <a:off x="8503920" y="1730130"/>
            <a:ext cx="3052619" cy="29357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63946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27"/>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a:xfrm>
            <a:off x="96520" y="1045401"/>
            <a:ext cx="11998960" cy="5330190"/>
          </a:xfrm>
        </p:spPr>
        <p:txBody>
          <a:bodyPr>
            <a:normAutofit/>
          </a:bodyPr>
          <a:lstStyle/>
          <a:p>
            <a:pPr marL="0" indent="0" algn="ctr">
              <a:buNone/>
            </a:pPr>
            <a:r>
              <a:rPr lang="en-US" b="1" dirty="0"/>
              <a:t>ARIMA vs. SARIMAX – Currency Crisis</a:t>
            </a:r>
          </a:p>
          <a:p>
            <a:pPr marL="0" indent="0" algn="ctr">
              <a:buNone/>
            </a:pPr>
            <a:endParaRPr lang="en-US"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22</a:t>
            </a:fld>
            <a:endParaRPr lang="en-IN"/>
          </a:p>
        </p:txBody>
      </p:sp>
      <p:sp>
        <p:nvSpPr>
          <p:cNvPr id="15" name="TextBox 14">
            <a:extLst>
              <a:ext uri="{FF2B5EF4-FFF2-40B4-BE49-F238E27FC236}">
                <a16:creationId xmlns:a16="http://schemas.microsoft.com/office/drawing/2014/main" id="{22AAEB2C-E88D-C23F-CAEA-8B518F860F29}"/>
              </a:ext>
            </a:extLst>
          </p:cNvPr>
          <p:cNvSpPr txBox="1"/>
          <p:nvPr/>
        </p:nvSpPr>
        <p:spPr>
          <a:xfrm>
            <a:off x="612648" y="5449824"/>
            <a:ext cx="10607040" cy="968278"/>
          </a:xfrm>
          <a:prstGeom prst="rect">
            <a:avLst/>
          </a:prstGeom>
          <a:noFill/>
        </p:spPr>
        <p:txBody>
          <a:bodyPr wrap="square" rtlCol="0">
            <a:sp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image shows a forecast for currency crises, with historical data in blue and predictions in red extending from 2017 to 2028. The model suggests a potential decline in crisis severity, amid increasing forecast uncertainty over time.</a:t>
            </a:r>
          </a:p>
        </p:txBody>
      </p:sp>
      <p:pic>
        <p:nvPicPr>
          <p:cNvPr id="6" name="Picture 5">
            <a:extLst>
              <a:ext uri="{FF2B5EF4-FFF2-40B4-BE49-F238E27FC236}">
                <a16:creationId xmlns:a16="http://schemas.microsoft.com/office/drawing/2014/main" id="{8E5731F8-573C-749A-CC60-4FDC328C0E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040" y="1536922"/>
            <a:ext cx="7333405" cy="2188809"/>
          </a:xfrm>
          <a:prstGeom prst="rect">
            <a:avLst/>
          </a:prstGeom>
          <a:noFill/>
          <a:ln>
            <a:noFill/>
          </a:ln>
        </p:spPr>
      </p:pic>
      <p:pic>
        <p:nvPicPr>
          <p:cNvPr id="7" name="Picture 6">
            <a:extLst>
              <a:ext uri="{FF2B5EF4-FFF2-40B4-BE49-F238E27FC236}">
                <a16:creationId xmlns:a16="http://schemas.microsoft.com/office/drawing/2014/main" id="{38A0D351-268C-BF7E-87FF-BA3243FDE07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489" y="3710496"/>
            <a:ext cx="7288955" cy="1488316"/>
          </a:xfrm>
          <a:prstGeom prst="rect">
            <a:avLst/>
          </a:prstGeom>
          <a:noFill/>
          <a:ln>
            <a:noFill/>
          </a:ln>
        </p:spPr>
      </p:pic>
      <p:pic>
        <p:nvPicPr>
          <p:cNvPr id="8" name="Picture 7">
            <a:extLst>
              <a:ext uri="{FF2B5EF4-FFF2-40B4-BE49-F238E27FC236}">
                <a16:creationId xmlns:a16="http://schemas.microsoft.com/office/drawing/2014/main" id="{45A5E1FF-0025-69C1-F168-E6E73D92283D}"/>
              </a:ext>
            </a:extLst>
          </p:cNvPr>
          <p:cNvPicPr>
            <a:picLocks noChangeAspect="1"/>
          </p:cNvPicPr>
          <p:nvPr/>
        </p:nvPicPr>
        <p:blipFill rotWithShape="1">
          <a:blip r:embed="rId4"/>
          <a:srcRect r="74075" b="47910"/>
          <a:stretch/>
        </p:blipFill>
        <p:spPr bwMode="auto">
          <a:xfrm>
            <a:off x="8385255" y="1588132"/>
            <a:ext cx="2968545" cy="289242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97084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927"/>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a:xfrm>
            <a:off x="96520" y="1045401"/>
            <a:ext cx="11998960" cy="5330190"/>
          </a:xfrm>
        </p:spPr>
        <p:txBody>
          <a:bodyPr>
            <a:normAutofit/>
          </a:bodyPr>
          <a:lstStyle/>
          <a:p>
            <a:pPr marL="0" indent="0" algn="ctr">
              <a:buNone/>
            </a:pPr>
            <a:r>
              <a:rPr lang="en-US" b="1" dirty="0"/>
              <a:t>ARIMA vs. SARIMAX – Inflation Crisis</a:t>
            </a:r>
          </a:p>
          <a:p>
            <a:pPr marL="0" indent="0" algn="ctr">
              <a:buNone/>
            </a:pPr>
            <a:endParaRPr lang="en-US"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23</a:t>
            </a:fld>
            <a:endParaRPr lang="en-IN"/>
          </a:p>
        </p:txBody>
      </p:sp>
      <p:sp>
        <p:nvSpPr>
          <p:cNvPr id="15" name="TextBox 14">
            <a:extLst>
              <a:ext uri="{FF2B5EF4-FFF2-40B4-BE49-F238E27FC236}">
                <a16:creationId xmlns:a16="http://schemas.microsoft.com/office/drawing/2014/main" id="{22AAEB2C-E88D-C23F-CAEA-8B518F860F29}"/>
              </a:ext>
            </a:extLst>
          </p:cNvPr>
          <p:cNvSpPr txBox="1"/>
          <p:nvPr/>
        </p:nvSpPr>
        <p:spPr>
          <a:xfrm>
            <a:off x="612648" y="5449824"/>
            <a:ext cx="10607040" cy="968278"/>
          </a:xfrm>
          <a:prstGeom prst="rect">
            <a:avLst/>
          </a:prstGeom>
          <a:noFill/>
        </p:spPr>
        <p:txBody>
          <a:bodyPr wrap="square" rtlCol="0">
            <a:sp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graph displays a forecast for inflation crises, showing historical occurrences in blue and future predictions in red through 2028. The trend predicts an increase in the frequency or severity of inflation crises, with a widening range of uncertainty.</a:t>
            </a:r>
          </a:p>
        </p:txBody>
      </p:sp>
      <p:pic>
        <p:nvPicPr>
          <p:cNvPr id="6" name="Picture 5">
            <a:extLst>
              <a:ext uri="{FF2B5EF4-FFF2-40B4-BE49-F238E27FC236}">
                <a16:creationId xmlns:a16="http://schemas.microsoft.com/office/drawing/2014/main" id="{3F89A4AD-0B74-1E51-5452-2553CADF4EB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4696" y="1556584"/>
            <a:ext cx="7461899" cy="2227161"/>
          </a:xfrm>
          <a:prstGeom prst="rect">
            <a:avLst/>
          </a:prstGeom>
          <a:noFill/>
          <a:ln>
            <a:noFill/>
          </a:ln>
        </p:spPr>
      </p:pic>
      <p:pic>
        <p:nvPicPr>
          <p:cNvPr id="7" name="Picture 6">
            <a:extLst>
              <a:ext uri="{FF2B5EF4-FFF2-40B4-BE49-F238E27FC236}">
                <a16:creationId xmlns:a16="http://schemas.microsoft.com/office/drawing/2014/main" id="{5F02932C-DD25-0C7F-D062-B153EBFFE52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6759" y="3783744"/>
            <a:ext cx="7432715" cy="1517671"/>
          </a:xfrm>
          <a:prstGeom prst="rect">
            <a:avLst/>
          </a:prstGeom>
          <a:noFill/>
          <a:ln>
            <a:noFill/>
          </a:ln>
        </p:spPr>
      </p:pic>
      <p:pic>
        <p:nvPicPr>
          <p:cNvPr id="8" name="Picture 7">
            <a:extLst>
              <a:ext uri="{FF2B5EF4-FFF2-40B4-BE49-F238E27FC236}">
                <a16:creationId xmlns:a16="http://schemas.microsoft.com/office/drawing/2014/main" id="{6CA808BF-3665-6213-A9AA-727E79A1F134}"/>
              </a:ext>
            </a:extLst>
          </p:cNvPr>
          <p:cNvPicPr>
            <a:picLocks noChangeAspect="1"/>
          </p:cNvPicPr>
          <p:nvPr/>
        </p:nvPicPr>
        <p:blipFill rotWithShape="1">
          <a:blip r:embed="rId4"/>
          <a:srcRect r="74075" b="47734"/>
          <a:stretch/>
        </p:blipFill>
        <p:spPr bwMode="auto">
          <a:xfrm>
            <a:off x="8342391" y="1553152"/>
            <a:ext cx="3125709" cy="30188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06088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24</a:t>
            </a:fld>
            <a:endParaRPr lang="en-IN"/>
          </a:p>
        </p:txBody>
      </p:sp>
      <p:pic>
        <p:nvPicPr>
          <p:cNvPr id="8" name="Picture 7">
            <a:extLst>
              <a:ext uri="{FF2B5EF4-FFF2-40B4-BE49-F238E27FC236}">
                <a16:creationId xmlns:a16="http://schemas.microsoft.com/office/drawing/2014/main" id="{5127EBA7-BB12-9925-D7F7-E1CE1D7C8F41}"/>
              </a:ext>
            </a:extLst>
          </p:cNvPr>
          <p:cNvPicPr>
            <a:picLocks noChangeAspect="1"/>
          </p:cNvPicPr>
          <p:nvPr/>
        </p:nvPicPr>
        <p:blipFill>
          <a:blip r:embed="rId2"/>
          <a:stretch>
            <a:fillRect/>
          </a:stretch>
        </p:blipFill>
        <p:spPr>
          <a:xfrm>
            <a:off x="215821" y="854709"/>
            <a:ext cx="5087700" cy="4898488"/>
          </a:xfrm>
          <a:prstGeom prst="rect">
            <a:avLst/>
          </a:prstGeom>
        </p:spPr>
      </p:pic>
      <p:sp>
        <p:nvSpPr>
          <p:cNvPr id="15" name="TextBox 14">
            <a:extLst>
              <a:ext uri="{FF2B5EF4-FFF2-40B4-BE49-F238E27FC236}">
                <a16:creationId xmlns:a16="http://schemas.microsoft.com/office/drawing/2014/main" id="{F441AA05-B726-3F3B-3265-30D65381EF5D}"/>
              </a:ext>
            </a:extLst>
          </p:cNvPr>
          <p:cNvSpPr txBox="1"/>
          <p:nvPr/>
        </p:nvSpPr>
        <p:spPr>
          <a:xfrm>
            <a:off x="5452717" y="1145043"/>
            <a:ext cx="6094476" cy="830997"/>
          </a:xfrm>
          <a:prstGeom prst="rect">
            <a:avLst/>
          </a:prstGeom>
          <a:noFill/>
        </p:spPr>
        <p:txBody>
          <a:bodyPr wrap="square">
            <a:spAutoFit/>
          </a:bodyPr>
          <a:lstStyle/>
          <a:p>
            <a:r>
              <a:rPr lang="en-IN" sz="1600" dirty="0">
                <a:effectLst/>
                <a:latin typeface="Calibri" panose="020F0502020204030204" pitchFamily="34" charset="0"/>
                <a:ea typeface="Calibri" panose="020F0502020204030204" pitchFamily="34" charset="0"/>
                <a:cs typeface="Times New Roman" panose="02020603050405020304" pitchFamily="18" charset="0"/>
              </a:rPr>
              <a:t>The p-value of 0.918148 is very high, suggesting that there is no significant autocorrelation at any of the first 10 lags of the residual time series for banking crises.</a:t>
            </a:r>
            <a:endParaRPr lang="en-IN" sz="1600" dirty="0"/>
          </a:p>
        </p:txBody>
      </p:sp>
      <p:sp>
        <p:nvSpPr>
          <p:cNvPr id="17" name="TextBox 16">
            <a:extLst>
              <a:ext uri="{FF2B5EF4-FFF2-40B4-BE49-F238E27FC236}">
                <a16:creationId xmlns:a16="http://schemas.microsoft.com/office/drawing/2014/main" id="{270CC49D-BF48-C3E1-90B1-09CE6EE83282}"/>
              </a:ext>
            </a:extLst>
          </p:cNvPr>
          <p:cNvSpPr txBox="1"/>
          <p:nvPr/>
        </p:nvSpPr>
        <p:spPr>
          <a:xfrm>
            <a:off x="5452717" y="2470153"/>
            <a:ext cx="6094476" cy="607539"/>
          </a:xfrm>
          <a:prstGeom prst="rect">
            <a:avLst/>
          </a:prstGeom>
          <a:noFill/>
        </p:spPr>
        <p:txBody>
          <a:bodyPr wrap="square">
            <a:spAutoFit/>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The p-value of 0.551086 is also high, indicating no significant autocorrelation at the first 10 lags for systemic crises.</a:t>
            </a:r>
          </a:p>
        </p:txBody>
      </p:sp>
      <p:sp>
        <p:nvSpPr>
          <p:cNvPr id="19" name="TextBox 18">
            <a:extLst>
              <a:ext uri="{FF2B5EF4-FFF2-40B4-BE49-F238E27FC236}">
                <a16:creationId xmlns:a16="http://schemas.microsoft.com/office/drawing/2014/main" id="{9A9C128E-D6F1-A53B-181E-5830E723E2F0}"/>
              </a:ext>
            </a:extLst>
          </p:cNvPr>
          <p:cNvSpPr txBox="1"/>
          <p:nvPr/>
        </p:nvSpPr>
        <p:spPr>
          <a:xfrm>
            <a:off x="5452717" y="3590853"/>
            <a:ext cx="6094476" cy="871008"/>
          </a:xfrm>
          <a:prstGeom prst="rect">
            <a:avLst/>
          </a:prstGeom>
          <a:noFill/>
        </p:spPr>
        <p:txBody>
          <a:bodyPr wrap="square">
            <a:spAutoFit/>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With a p-value of 0.124681, this result is lower but still above the common significance threshold of 0.05, suggesting no significant autocorrelation at the first 10 lags for currency crises.</a:t>
            </a:r>
          </a:p>
        </p:txBody>
      </p:sp>
      <p:sp>
        <p:nvSpPr>
          <p:cNvPr id="21" name="TextBox 20">
            <a:extLst>
              <a:ext uri="{FF2B5EF4-FFF2-40B4-BE49-F238E27FC236}">
                <a16:creationId xmlns:a16="http://schemas.microsoft.com/office/drawing/2014/main" id="{07FBE295-1AB4-A4C3-0AB3-3966C6713BF4}"/>
              </a:ext>
            </a:extLst>
          </p:cNvPr>
          <p:cNvSpPr txBox="1"/>
          <p:nvPr/>
        </p:nvSpPr>
        <p:spPr>
          <a:xfrm>
            <a:off x="5452717" y="4801566"/>
            <a:ext cx="6094476" cy="607539"/>
          </a:xfrm>
          <a:prstGeom prst="rect">
            <a:avLst/>
          </a:prstGeom>
          <a:noFill/>
        </p:spPr>
        <p:txBody>
          <a:bodyPr wrap="square">
            <a:spAutoFit/>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The p-value of 0.364523 indicates no significant autocorrelation at the first 10 lags for inflation crises.</a:t>
            </a:r>
          </a:p>
        </p:txBody>
      </p:sp>
      <p:sp>
        <p:nvSpPr>
          <p:cNvPr id="22" name="TextBox 21">
            <a:extLst>
              <a:ext uri="{FF2B5EF4-FFF2-40B4-BE49-F238E27FC236}">
                <a16:creationId xmlns:a16="http://schemas.microsoft.com/office/drawing/2014/main" id="{668EAEA7-59FB-6A08-59C6-A6EFB0281F39}"/>
              </a:ext>
            </a:extLst>
          </p:cNvPr>
          <p:cNvSpPr txBox="1"/>
          <p:nvPr/>
        </p:nvSpPr>
        <p:spPr>
          <a:xfrm>
            <a:off x="950976" y="5691103"/>
            <a:ext cx="10290048" cy="871008"/>
          </a:xfrm>
          <a:prstGeom prst="rect">
            <a:avLst/>
          </a:prstGeom>
          <a:noFill/>
        </p:spPr>
        <p:txBody>
          <a:bodyPr wrap="square" rtlCol="0">
            <a:spAutoFit/>
          </a:bodyPr>
          <a:lstStyle/>
          <a:p>
            <a:pPr>
              <a:lnSpc>
                <a:spcPct val="107000"/>
              </a:lnSpc>
              <a:spcAft>
                <a:spcPts val="800"/>
              </a:spcAft>
            </a:pPr>
            <a:r>
              <a:rPr lang="en-IN" sz="1600" i="1" kern="100" dirty="0">
                <a:effectLst/>
                <a:latin typeface="Calibri" panose="020F0502020204030204" pitchFamily="34" charset="0"/>
                <a:ea typeface="Calibri" panose="020F0502020204030204" pitchFamily="34" charset="0"/>
                <a:cs typeface="Times New Roman" panose="02020603050405020304" pitchFamily="18" charset="0"/>
              </a:rPr>
              <a:t>In all cases, the </a:t>
            </a:r>
            <a:r>
              <a:rPr lang="en-IN" sz="1600" i="1" kern="100" dirty="0" err="1">
                <a:effectLst/>
                <a:latin typeface="Calibri" panose="020F0502020204030204" pitchFamily="34" charset="0"/>
                <a:ea typeface="Calibri" panose="020F0502020204030204" pitchFamily="34" charset="0"/>
                <a:cs typeface="Times New Roman" panose="02020603050405020304" pitchFamily="18" charset="0"/>
              </a:rPr>
              <a:t>Ljung</a:t>
            </a:r>
            <a:r>
              <a:rPr lang="en-IN" sz="1600" i="1" kern="100" dirty="0">
                <a:effectLst/>
                <a:latin typeface="Calibri" panose="020F0502020204030204" pitchFamily="34" charset="0"/>
                <a:ea typeface="Calibri" panose="020F0502020204030204" pitchFamily="34" charset="0"/>
                <a:cs typeface="Times New Roman" panose="02020603050405020304" pitchFamily="18" charset="0"/>
              </a:rPr>
              <a:t>-Box test does not provide evidence against the null hypothesis of no autocorrelation, which suggests that the residuals of the time series models for these crises are random, indicating a good model fit without autocorrelation issues.</a:t>
            </a:r>
          </a:p>
        </p:txBody>
      </p:sp>
    </p:spTree>
    <p:extLst>
      <p:ext uri="{BB962C8B-B14F-4D97-AF65-F5344CB8AC3E}">
        <p14:creationId xmlns:p14="http://schemas.microsoft.com/office/powerpoint/2010/main" val="345049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09651"/>
          </a:xfrm>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25</a:t>
            </a:fld>
            <a:endParaRPr lang="en-IN"/>
          </a:p>
        </p:txBody>
      </p:sp>
      <p:pic>
        <p:nvPicPr>
          <p:cNvPr id="6" name="Content Placeholder 5">
            <a:extLst>
              <a:ext uri="{FF2B5EF4-FFF2-40B4-BE49-F238E27FC236}">
                <a16:creationId xmlns:a16="http://schemas.microsoft.com/office/drawing/2014/main" id="{D1BEA82A-465A-FA02-A90C-796DF6487DC5}"/>
              </a:ext>
            </a:extLst>
          </p:cNvPr>
          <p:cNvPicPr>
            <a:picLocks noGrp="1" noChangeAspect="1"/>
          </p:cNvPicPr>
          <p:nvPr>
            <p:ph idx="1"/>
          </p:nvPr>
        </p:nvPicPr>
        <p:blipFill>
          <a:blip r:embed="rId2"/>
          <a:stretch>
            <a:fillRect/>
          </a:stretch>
        </p:blipFill>
        <p:spPr>
          <a:xfrm>
            <a:off x="620346" y="1999210"/>
            <a:ext cx="4459402" cy="545464"/>
          </a:xfrm>
          <a:prstGeom prst="rect">
            <a:avLst/>
          </a:prstGeom>
          <a:ln w="3175">
            <a:solidFill>
              <a:schemeClr val="tx1"/>
            </a:solidFill>
          </a:ln>
        </p:spPr>
      </p:pic>
      <p:pic>
        <p:nvPicPr>
          <p:cNvPr id="7" name="Picture 6">
            <a:extLst>
              <a:ext uri="{FF2B5EF4-FFF2-40B4-BE49-F238E27FC236}">
                <a16:creationId xmlns:a16="http://schemas.microsoft.com/office/drawing/2014/main" id="{ED0BAFE4-2662-7FDD-6DAD-1EBA8FBD61E4}"/>
              </a:ext>
            </a:extLst>
          </p:cNvPr>
          <p:cNvPicPr>
            <a:picLocks noChangeAspect="1"/>
          </p:cNvPicPr>
          <p:nvPr/>
        </p:nvPicPr>
        <p:blipFill>
          <a:blip r:embed="rId3"/>
          <a:stretch>
            <a:fillRect/>
          </a:stretch>
        </p:blipFill>
        <p:spPr>
          <a:xfrm>
            <a:off x="6056278" y="1993437"/>
            <a:ext cx="4767759" cy="545464"/>
          </a:xfrm>
          <a:prstGeom prst="rect">
            <a:avLst/>
          </a:prstGeom>
          <a:ln w="3175">
            <a:solidFill>
              <a:schemeClr val="tx1"/>
            </a:solidFill>
          </a:ln>
        </p:spPr>
      </p:pic>
      <p:pic>
        <p:nvPicPr>
          <p:cNvPr id="8" name="Picture 7">
            <a:extLst>
              <a:ext uri="{FF2B5EF4-FFF2-40B4-BE49-F238E27FC236}">
                <a16:creationId xmlns:a16="http://schemas.microsoft.com/office/drawing/2014/main" id="{7D2DB79F-92E6-40AC-2C5C-464B87E39E75}"/>
              </a:ext>
            </a:extLst>
          </p:cNvPr>
          <p:cNvPicPr>
            <a:picLocks noChangeAspect="1"/>
          </p:cNvPicPr>
          <p:nvPr/>
        </p:nvPicPr>
        <p:blipFill rotWithShape="1">
          <a:blip r:embed="rId4"/>
          <a:srcRect t="10526"/>
          <a:stretch/>
        </p:blipFill>
        <p:spPr bwMode="auto">
          <a:xfrm>
            <a:off x="571341" y="4164266"/>
            <a:ext cx="4429041" cy="478663"/>
          </a:xfrm>
          <a:prstGeom prst="rect">
            <a:avLst/>
          </a:prstGeom>
          <a:ln w="3175">
            <a:solidFill>
              <a:schemeClr val="tx1"/>
            </a:solid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827D8B74-3627-B372-BFEB-9BE96F031B75}"/>
              </a:ext>
            </a:extLst>
          </p:cNvPr>
          <p:cNvPicPr>
            <a:picLocks noChangeAspect="1"/>
          </p:cNvPicPr>
          <p:nvPr/>
        </p:nvPicPr>
        <p:blipFill>
          <a:blip r:embed="rId5"/>
          <a:stretch>
            <a:fillRect/>
          </a:stretch>
        </p:blipFill>
        <p:spPr>
          <a:xfrm>
            <a:off x="6056278" y="4120933"/>
            <a:ext cx="4688316" cy="565327"/>
          </a:xfrm>
          <a:prstGeom prst="rect">
            <a:avLst/>
          </a:prstGeom>
          <a:ln w="3175">
            <a:solidFill>
              <a:schemeClr val="tx1"/>
            </a:solidFill>
          </a:ln>
        </p:spPr>
      </p:pic>
      <p:sp>
        <p:nvSpPr>
          <p:cNvPr id="10" name="TextBox 9">
            <a:extLst>
              <a:ext uri="{FF2B5EF4-FFF2-40B4-BE49-F238E27FC236}">
                <a16:creationId xmlns:a16="http://schemas.microsoft.com/office/drawing/2014/main" id="{5ADD19C6-8801-9BD2-7D58-E7CB45E6869B}"/>
              </a:ext>
            </a:extLst>
          </p:cNvPr>
          <p:cNvSpPr txBox="1"/>
          <p:nvPr/>
        </p:nvSpPr>
        <p:spPr>
          <a:xfrm>
            <a:off x="650707" y="2809024"/>
            <a:ext cx="4429041" cy="1077218"/>
          </a:xfrm>
          <a:prstGeom prst="rect">
            <a:avLst/>
          </a:prstGeom>
          <a:noFill/>
        </p:spPr>
        <p:txBody>
          <a:bodyPr wrap="square" rtlCol="0">
            <a:spAutoFit/>
          </a:bodyPr>
          <a:lstStyle/>
          <a:p>
            <a:r>
              <a:rPr lang="en-US" sz="1600" dirty="0"/>
              <a:t>The LSTM model's RMSE of 2.42 for training shows a close fit to training data, while 6.31 for testing indicates less accuracy in predicting new data, reflecting its generalization capability.</a:t>
            </a:r>
            <a:endParaRPr lang="en-IN" sz="1600" dirty="0"/>
          </a:p>
        </p:txBody>
      </p:sp>
      <p:sp>
        <p:nvSpPr>
          <p:cNvPr id="11" name="TextBox 10">
            <a:extLst>
              <a:ext uri="{FF2B5EF4-FFF2-40B4-BE49-F238E27FC236}">
                <a16:creationId xmlns:a16="http://schemas.microsoft.com/office/drawing/2014/main" id="{D1D88A09-E997-95DC-A976-EA419CBE69CA}"/>
              </a:ext>
            </a:extLst>
          </p:cNvPr>
          <p:cNvSpPr txBox="1"/>
          <p:nvPr/>
        </p:nvSpPr>
        <p:spPr>
          <a:xfrm>
            <a:off x="6096000" y="2798864"/>
            <a:ext cx="4767759" cy="1077218"/>
          </a:xfrm>
          <a:prstGeom prst="rect">
            <a:avLst/>
          </a:prstGeom>
          <a:noFill/>
        </p:spPr>
        <p:txBody>
          <a:bodyPr wrap="square" rtlCol="0">
            <a:spAutoFit/>
          </a:bodyPr>
          <a:lstStyle/>
          <a:p>
            <a:r>
              <a:rPr lang="en-US" sz="1600" dirty="0"/>
              <a:t>The LSTM model's RMSE of 0.14 for training and 0.15 for testing suggests high accuracy and effective generalization, with predictions closely aligning with actual values in both datasets.</a:t>
            </a:r>
            <a:endParaRPr lang="en-IN" sz="1600" dirty="0"/>
          </a:p>
        </p:txBody>
      </p:sp>
      <p:sp>
        <p:nvSpPr>
          <p:cNvPr id="12" name="TextBox 11">
            <a:extLst>
              <a:ext uri="{FF2B5EF4-FFF2-40B4-BE49-F238E27FC236}">
                <a16:creationId xmlns:a16="http://schemas.microsoft.com/office/drawing/2014/main" id="{D0A7FF8F-E008-ED60-65AD-B2D60DAC2F0D}"/>
              </a:ext>
            </a:extLst>
          </p:cNvPr>
          <p:cNvSpPr txBox="1"/>
          <p:nvPr/>
        </p:nvSpPr>
        <p:spPr>
          <a:xfrm>
            <a:off x="571341" y="4836287"/>
            <a:ext cx="4413860" cy="1077218"/>
          </a:xfrm>
          <a:prstGeom prst="rect">
            <a:avLst/>
          </a:prstGeom>
          <a:noFill/>
        </p:spPr>
        <p:txBody>
          <a:bodyPr wrap="square" rtlCol="0">
            <a:spAutoFit/>
          </a:bodyPr>
          <a:lstStyle/>
          <a:p>
            <a:r>
              <a:rPr lang="en-US" sz="1600" dirty="0"/>
              <a:t>The LSTM model shows strong fit and accuracy with RMSEs of 0.25 for training and 0.28 for testing, indicating reliable predictions for both training and unseen data.</a:t>
            </a:r>
            <a:endParaRPr lang="en-IN" sz="1600" dirty="0"/>
          </a:p>
        </p:txBody>
      </p:sp>
      <p:sp>
        <p:nvSpPr>
          <p:cNvPr id="13" name="TextBox 12">
            <a:extLst>
              <a:ext uri="{FF2B5EF4-FFF2-40B4-BE49-F238E27FC236}">
                <a16:creationId xmlns:a16="http://schemas.microsoft.com/office/drawing/2014/main" id="{308599C4-9D17-8F4F-CA4A-90D7452B1377}"/>
              </a:ext>
            </a:extLst>
          </p:cNvPr>
          <p:cNvSpPr txBox="1"/>
          <p:nvPr/>
        </p:nvSpPr>
        <p:spPr>
          <a:xfrm>
            <a:off x="6109580" y="4836287"/>
            <a:ext cx="4688316" cy="1077218"/>
          </a:xfrm>
          <a:prstGeom prst="rect">
            <a:avLst/>
          </a:prstGeom>
          <a:noFill/>
        </p:spPr>
        <p:txBody>
          <a:bodyPr wrap="square" rtlCol="0">
            <a:spAutoFit/>
          </a:bodyPr>
          <a:lstStyle/>
          <a:p>
            <a:r>
              <a:rPr lang="en-US" sz="1600" dirty="0"/>
              <a:t>The LSTM model's RMSE of 0.23 for training and 0.21 for testing indicates high accuracy and effective generalization, with closer predictions to actual values in both training and unseen data.</a:t>
            </a:r>
            <a:endParaRPr lang="en-IN" sz="1600" dirty="0"/>
          </a:p>
        </p:txBody>
      </p:sp>
      <p:sp>
        <p:nvSpPr>
          <p:cNvPr id="14" name="TextBox 13">
            <a:extLst>
              <a:ext uri="{FF2B5EF4-FFF2-40B4-BE49-F238E27FC236}">
                <a16:creationId xmlns:a16="http://schemas.microsoft.com/office/drawing/2014/main" id="{58BE3D60-8727-BC95-4C35-3C52C5FACD92}"/>
              </a:ext>
            </a:extLst>
          </p:cNvPr>
          <p:cNvSpPr txBox="1"/>
          <p:nvPr/>
        </p:nvSpPr>
        <p:spPr>
          <a:xfrm>
            <a:off x="451006" y="1188911"/>
            <a:ext cx="11210544" cy="461665"/>
          </a:xfrm>
          <a:prstGeom prst="rect">
            <a:avLst/>
          </a:prstGeom>
          <a:noFill/>
        </p:spPr>
        <p:txBody>
          <a:bodyPr wrap="square" rtlCol="0">
            <a:spAutoFit/>
          </a:bodyPr>
          <a:lstStyle/>
          <a:p>
            <a:pPr algn="ctr"/>
            <a:r>
              <a:rPr lang="en-US" sz="2400" b="1" dirty="0"/>
              <a:t>Performance Evaluation of LSTM Model Across Different Economic Crises</a:t>
            </a:r>
            <a:endParaRPr lang="en-IN" sz="2400" b="1" dirty="0"/>
          </a:p>
        </p:txBody>
      </p:sp>
    </p:spTree>
    <p:extLst>
      <p:ext uri="{BB962C8B-B14F-4D97-AF65-F5344CB8AC3E}">
        <p14:creationId xmlns:p14="http://schemas.microsoft.com/office/powerpoint/2010/main" val="2712322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0385"/>
            <a:ext cx="10515600" cy="928688"/>
          </a:xfrm>
        </p:spPr>
        <p:txBody>
          <a:bodyPr>
            <a:normAutofit/>
          </a:bodyPr>
          <a:lstStyle/>
          <a:p>
            <a:r>
              <a:rPr lang="en-US" sz="4800" b="1" dirty="0">
                <a:latin typeface="Arial Narrow" panose="020B0606020202030204" pitchFamily="34" charset="0"/>
              </a:rPr>
              <a:t>Conclusion</a:t>
            </a:r>
            <a:endParaRPr lang="en-IN" sz="4800" b="1" dirty="0">
              <a:latin typeface="Arial Narrow" panose="020B0606020202030204" pitchFamily="34" charset="0"/>
            </a:endParaRPr>
          </a:p>
        </p:txBody>
      </p:sp>
      <p:sp>
        <p:nvSpPr>
          <p:cNvPr id="3" name="Content Placeholder 2"/>
          <p:cNvSpPr>
            <a:spLocks noGrp="1"/>
          </p:cNvSpPr>
          <p:nvPr>
            <p:ph idx="1"/>
          </p:nvPr>
        </p:nvSpPr>
        <p:spPr>
          <a:xfrm>
            <a:off x="355600" y="1333500"/>
            <a:ext cx="11490960" cy="5387975"/>
          </a:xfrm>
        </p:spPr>
        <p:txBody>
          <a:bodyPr>
            <a:normAutofit fontScale="92500"/>
          </a:bodyPr>
          <a:lstStyle/>
          <a:p>
            <a:endParaRPr lang="en-US" dirty="0"/>
          </a:p>
          <a:p>
            <a:pPr>
              <a:lnSpc>
                <a:spcPct val="150000"/>
              </a:lnSpc>
            </a:pPr>
            <a:r>
              <a:rPr lang="en-US" dirty="0"/>
              <a:t>Validated LSTM and SARIMAX models' predictive precision for economic crises.</a:t>
            </a:r>
          </a:p>
          <a:p>
            <a:pPr>
              <a:lnSpc>
                <a:spcPct val="150000"/>
              </a:lnSpc>
            </a:pPr>
            <a:r>
              <a:rPr lang="en-US" dirty="0"/>
              <a:t>Demonstrated superior performance of SARIMAX over traditional ARIMA methods.</a:t>
            </a:r>
          </a:p>
          <a:p>
            <a:pPr>
              <a:lnSpc>
                <a:spcPct val="150000"/>
              </a:lnSpc>
            </a:pPr>
            <a:r>
              <a:rPr lang="en-US" dirty="0"/>
              <a:t>Revealed potential applications in policy-making and investment strategy enhancement.</a:t>
            </a:r>
          </a:p>
          <a:p>
            <a:pPr>
              <a:lnSpc>
                <a:spcPct val="150000"/>
              </a:lnSpc>
            </a:pPr>
            <a:r>
              <a:rPr lang="en-US" dirty="0"/>
              <a:t>Contributed new insights to behavioral finance and crisis prediction literature.</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26</a:t>
            </a:fld>
            <a:endParaRPr lang="en-IN"/>
          </a:p>
        </p:txBody>
      </p:sp>
    </p:spTree>
    <p:extLst>
      <p:ext uri="{BB962C8B-B14F-4D97-AF65-F5344CB8AC3E}">
        <p14:creationId xmlns:p14="http://schemas.microsoft.com/office/powerpoint/2010/main" val="597937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Future Enhancements</a:t>
            </a:r>
            <a:endParaRPr lang="en-IN" b="1" dirty="0">
              <a:latin typeface="Arial Narrow" panose="020B0606020202030204" pitchFamily="34" charset="0"/>
            </a:endParaRPr>
          </a:p>
        </p:txBody>
      </p:sp>
      <p:sp>
        <p:nvSpPr>
          <p:cNvPr id="3" name="Content Placeholder 2"/>
          <p:cNvSpPr>
            <a:spLocks noGrp="1"/>
          </p:cNvSpPr>
          <p:nvPr>
            <p:ph idx="1"/>
          </p:nvPr>
        </p:nvSpPr>
        <p:spPr>
          <a:xfrm>
            <a:off x="447040" y="1825625"/>
            <a:ext cx="11247120" cy="4351338"/>
          </a:xfrm>
        </p:spPr>
        <p:txBody>
          <a:bodyPr/>
          <a:lstStyle/>
          <a:p>
            <a:pPr>
              <a:lnSpc>
                <a:spcPct val="150000"/>
              </a:lnSpc>
            </a:pPr>
            <a:r>
              <a:rPr lang="en-US" dirty="0"/>
              <a:t>Expand datasets to include more diverse economic indicators.</a:t>
            </a:r>
          </a:p>
          <a:p>
            <a:pPr>
              <a:lnSpc>
                <a:spcPct val="150000"/>
              </a:lnSpc>
            </a:pPr>
            <a:r>
              <a:rPr lang="en-US" dirty="0"/>
              <a:t>Explore real-time data integration for dynamic forecasting.</a:t>
            </a:r>
          </a:p>
          <a:p>
            <a:pPr>
              <a:lnSpc>
                <a:spcPct val="150000"/>
              </a:lnSpc>
            </a:pPr>
            <a:r>
              <a:rPr lang="en-US" dirty="0"/>
              <a:t>Test additional ML algorithms for improved accuracy.</a:t>
            </a:r>
          </a:p>
          <a:p>
            <a:pPr>
              <a:lnSpc>
                <a:spcPct val="150000"/>
              </a:lnSpc>
            </a:pPr>
            <a:r>
              <a:rPr lang="en-US" dirty="0"/>
              <a:t>Conduct cross-country analyses for universal applicability.</a:t>
            </a:r>
          </a:p>
          <a:p>
            <a:pPr>
              <a:lnSpc>
                <a:spcPct val="150000"/>
              </a:lnSpc>
            </a:pPr>
            <a:r>
              <a:rPr lang="en-US" dirty="0"/>
              <a:t>Develop a more sophisticated model blending for robust predictions.</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27</a:t>
            </a:fld>
            <a:endParaRPr lang="en-IN"/>
          </a:p>
        </p:txBody>
      </p:sp>
    </p:spTree>
    <p:extLst>
      <p:ext uri="{BB962C8B-B14F-4D97-AF65-F5344CB8AC3E}">
        <p14:creationId xmlns:p14="http://schemas.microsoft.com/office/powerpoint/2010/main" val="1810526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E67B6DC-75E0-78F3-9005-6E676FE6B401}"/>
              </a:ext>
            </a:extLst>
          </p:cNvPr>
          <p:cNvSpPr>
            <a:spLocks noGrp="1"/>
          </p:cNvSpPr>
          <p:nvPr>
            <p:ph type="title"/>
          </p:nvPr>
        </p:nvSpPr>
        <p:spPr>
          <a:xfrm>
            <a:off x="838200" y="-272939"/>
            <a:ext cx="10515600" cy="1325563"/>
          </a:xfrm>
        </p:spPr>
        <p:txBody>
          <a:bodyPr/>
          <a:lstStyle/>
          <a:p>
            <a:r>
              <a:rPr lang="en-US" b="1" dirty="0">
                <a:latin typeface="Arial Narrow" panose="020B0606020202030204" pitchFamily="34" charset="0"/>
              </a:rPr>
              <a:t>References : APA format</a:t>
            </a:r>
            <a:endParaRPr lang="en-IN" b="1" dirty="0">
              <a:latin typeface="Arial Narrow" panose="020B0606020202030204" pitchFamily="34" charset="0"/>
            </a:endParaRPr>
          </a:p>
        </p:txBody>
      </p:sp>
      <p:sp>
        <p:nvSpPr>
          <p:cNvPr id="9" name="Content Placeholder 2">
            <a:extLst>
              <a:ext uri="{FF2B5EF4-FFF2-40B4-BE49-F238E27FC236}">
                <a16:creationId xmlns:a16="http://schemas.microsoft.com/office/drawing/2014/main" id="{9B421509-4ECC-990B-F651-85B2277C07C1}"/>
              </a:ext>
            </a:extLst>
          </p:cNvPr>
          <p:cNvSpPr>
            <a:spLocks noGrp="1"/>
          </p:cNvSpPr>
          <p:nvPr>
            <p:ph idx="1"/>
          </p:nvPr>
        </p:nvSpPr>
        <p:spPr>
          <a:xfrm>
            <a:off x="0" y="850605"/>
            <a:ext cx="12192000" cy="5870870"/>
          </a:xfrm>
        </p:spPr>
        <p:txBody>
          <a:bodyPr>
            <a:noAutofit/>
          </a:bodyPr>
          <a:lstStyle/>
          <a:p>
            <a:pPr algn="l">
              <a:buFont typeface="+mj-lt"/>
              <a:buAutoNum type="arabicPeriod"/>
            </a:pPr>
            <a:r>
              <a:rPr lang="en-US" sz="1800" b="0" i="0" dirty="0">
                <a:effectLst/>
              </a:rPr>
              <a:t>Harvard Business School. (2018). </a:t>
            </a:r>
            <a:r>
              <a:rPr lang="en-US" sz="1800" b="0" i="1" dirty="0">
                <a:effectLst/>
              </a:rPr>
              <a:t>2018 Financial Risk and Regulation Survey: Behavioral Finance &amp; Financial Stability</a:t>
            </a:r>
            <a:r>
              <a:rPr lang="en-US" sz="1800" b="0" i="0" dirty="0">
                <a:effectLst/>
              </a:rPr>
              <a:t>.</a:t>
            </a:r>
          </a:p>
          <a:p>
            <a:pPr algn="l">
              <a:buFont typeface="+mj-lt"/>
              <a:buAutoNum type="arabicPeriod"/>
            </a:pPr>
            <a:r>
              <a:rPr lang="en-US" sz="1800" b="0" i="0" dirty="0" err="1">
                <a:effectLst/>
              </a:rPr>
              <a:t>Tekin</a:t>
            </a:r>
            <a:r>
              <a:rPr lang="en-US" sz="1800" b="0" i="0" dirty="0">
                <a:effectLst/>
              </a:rPr>
              <a:t>, H. (2020). </a:t>
            </a:r>
            <a:r>
              <a:rPr lang="en-US" sz="1800" b="0" i="1" dirty="0">
                <a:effectLst/>
              </a:rPr>
              <a:t>How optimal cash changed by the global financial crisis?</a:t>
            </a:r>
            <a:r>
              <a:rPr lang="en-US" sz="1800" b="0" i="0" dirty="0">
                <a:effectLst/>
              </a:rPr>
              <a:t>. Economics and Business Letters, 9(2), 114-123.</a:t>
            </a:r>
          </a:p>
          <a:p>
            <a:pPr algn="l">
              <a:buFont typeface="+mj-lt"/>
              <a:buAutoNum type="arabicPeriod"/>
            </a:pPr>
            <a:r>
              <a:rPr lang="en-US" sz="1800" b="0" i="0" dirty="0">
                <a:effectLst/>
              </a:rPr>
              <a:t>World Bank. (2020). </a:t>
            </a:r>
            <a:r>
              <a:rPr lang="en-US" sz="1800" b="0" i="1" dirty="0">
                <a:effectLst/>
              </a:rPr>
              <a:t>Global Financial Development Report 2019/2020: Bank Regulation and Supervision a Decade after the Global Financial Crisis</a:t>
            </a:r>
            <a:r>
              <a:rPr lang="en-US" sz="1800" b="0" i="0" dirty="0">
                <a:effectLst/>
              </a:rPr>
              <a:t>.</a:t>
            </a:r>
          </a:p>
          <a:p>
            <a:pPr algn="l">
              <a:buFont typeface="+mj-lt"/>
              <a:buAutoNum type="arabicPeriod"/>
            </a:pPr>
            <a:r>
              <a:rPr lang="en-US" sz="1800" b="0" i="0" dirty="0" err="1">
                <a:effectLst/>
              </a:rPr>
              <a:t>Lajili</a:t>
            </a:r>
            <a:r>
              <a:rPr lang="en-US" sz="1800" b="0" i="0" dirty="0">
                <a:effectLst/>
              </a:rPr>
              <a:t>, K., Li, T. M., </a:t>
            </a:r>
            <a:r>
              <a:rPr lang="en-US" sz="1800" b="0" i="0" dirty="0" err="1">
                <a:effectLst/>
              </a:rPr>
              <a:t>Chourou</a:t>
            </a:r>
            <a:r>
              <a:rPr lang="en-US" sz="1800" b="0" i="0" dirty="0">
                <a:effectLst/>
              </a:rPr>
              <a:t>, L., </a:t>
            </a:r>
            <a:r>
              <a:rPr lang="en-US" sz="1800" b="0" i="0" dirty="0" err="1">
                <a:effectLst/>
              </a:rPr>
              <a:t>Dobler</a:t>
            </a:r>
            <a:r>
              <a:rPr lang="en-US" sz="1800" b="0" i="0" dirty="0">
                <a:effectLst/>
              </a:rPr>
              <a:t>, M., &amp; </a:t>
            </a:r>
            <a:r>
              <a:rPr lang="en-US" sz="1800" b="0" i="0" dirty="0" err="1">
                <a:effectLst/>
              </a:rPr>
              <a:t>Zéghal</a:t>
            </a:r>
            <a:r>
              <a:rPr lang="en-US" sz="1800" b="0" i="0" dirty="0">
                <a:effectLst/>
              </a:rPr>
              <a:t>, D. (2023). </a:t>
            </a:r>
            <a:r>
              <a:rPr lang="en-US" sz="1800" b="0" i="1" dirty="0">
                <a:effectLst/>
              </a:rPr>
              <a:t>Corporate risk disclosures in turbulent times: An international analysis in the global financial crisis</a:t>
            </a:r>
            <a:r>
              <a:rPr lang="en-US" sz="1800" b="0" i="0" dirty="0">
                <a:effectLst/>
              </a:rPr>
              <a:t>. Journal of International Financial Management &amp; Accounting.</a:t>
            </a:r>
          </a:p>
          <a:p>
            <a:pPr algn="l">
              <a:buFont typeface="+mj-lt"/>
              <a:buAutoNum type="arabicPeriod"/>
            </a:pPr>
            <a:r>
              <a:rPr lang="en-US" sz="1800" b="0" i="0" dirty="0">
                <a:effectLst/>
              </a:rPr>
              <a:t>Shehzad, K., Xiaoxing, L., &amp; </a:t>
            </a:r>
            <a:r>
              <a:rPr lang="en-US" sz="1800" b="0" i="0" dirty="0" err="1">
                <a:effectLst/>
              </a:rPr>
              <a:t>Kazouz</a:t>
            </a:r>
            <a:r>
              <a:rPr lang="en-US" sz="1800" b="0" i="0" dirty="0">
                <a:effectLst/>
              </a:rPr>
              <a:t>, H. (2020). </a:t>
            </a:r>
            <a:r>
              <a:rPr lang="en-US" sz="1800" b="0" i="1" dirty="0">
                <a:effectLst/>
              </a:rPr>
              <a:t>COVID-19’s disasters are perilous than Global Financial Crisis: A rumor or fact?</a:t>
            </a:r>
            <a:r>
              <a:rPr lang="en-US" sz="1800" b="0" i="0" dirty="0">
                <a:effectLst/>
              </a:rPr>
              <a:t>. Finance Research Letters, 36.</a:t>
            </a:r>
          </a:p>
          <a:p>
            <a:pPr algn="l">
              <a:buFont typeface="+mj-lt"/>
              <a:buAutoNum type="arabicPeriod"/>
            </a:pPr>
            <a:r>
              <a:rPr lang="en-US" sz="1800" b="0" i="0" dirty="0" err="1">
                <a:effectLst/>
              </a:rPr>
              <a:t>Lolea</a:t>
            </a:r>
            <a:r>
              <a:rPr lang="en-US" sz="1800" b="0" i="0" dirty="0">
                <a:effectLst/>
              </a:rPr>
              <a:t>, I.-C., </a:t>
            </a:r>
            <a:r>
              <a:rPr lang="en-US" sz="1800" b="0" i="0" dirty="0" err="1">
                <a:effectLst/>
              </a:rPr>
              <a:t>Petrariu</a:t>
            </a:r>
            <a:r>
              <a:rPr lang="en-US" sz="1800" b="0" i="0" dirty="0">
                <a:effectLst/>
              </a:rPr>
              <a:t>, I.-R., &amp; Giurgiu, A. (2021). </a:t>
            </a:r>
            <a:r>
              <a:rPr lang="en-US" sz="1800" b="0" i="1" dirty="0">
                <a:effectLst/>
              </a:rPr>
              <a:t>ARIMA vs. MACHINE LEARNING IN TERMS OF EQUITY MARKET FORECASTING</a:t>
            </a:r>
            <a:r>
              <a:rPr lang="en-US" sz="1800" b="0" i="0" dirty="0">
                <a:effectLst/>
              </a:rPr>
              <a:t>. The Annals of the University of Oradea. Economic Sciences, XXX(2), 299-308.</a:t>
            </a:r>
          </a:p>
          <a:p>
            <a:pPr algn="l">
              <a:buFont typeface="+mj-lt"/>
              <a:buAutoNum type="arabicPeriod"/>
            </a:pPr>
            <a:r>
              <a:rPr lang="en-US" sz="1800" b="0" i="0" dirty="0">
                <a:effectLst/>
              </a:rPr>
              <a:t>Tang, Y. M., Chau, K.-Y., Li, W., &amp; Wan, T. W. (2020). </a:t>
            </a:r>
            <a:r>
              <a:rPr lang="en-US" sz="1800" b="0" i="1" dirty="0">
                <a:effectLst/>
              </a:rPr>
              <a:t>Forecasting Economic Recession through Share Price in the Logistics Industry with Artificial Intelligence (AI)</a:t>
            </a:r>
            <a:r>
              <a:rPr lang="en-US" sz="1800" b="0" i="0" dirty="0">
                <a:effectLst/>
              </a:rPr>
              <a:t>. Computation, 8(3).</a:t>
            </a:r>
          </a:p>
          <a:p>
            <a:pPr algn="l">
              <a:buFont typeface="+mj-lt"/>
              <a:buAutoNum type="arabicPeriod"/>
            </a:pPr>
            <a:r>
              <a:rPr lang="en-US" sz="1800" b="0" i="0" dirty="0">
                <a:effectLst/>
              </a:rPr>
              <a:t>Liu, J., Yan, R., &amp; Zhang, Y. (2023). </a:t>
            </a:r>
            <a:r>
              <a:rPr lang="en-US" sz="1800" b="0" i="1" dirty="0">
                <a:effectLst/>
              </a:rPr>
              <a:t>Stock Market Forecasting Using the ARIMA GARCH and Random Forest Model During The Russia–Ukraine War</a:t>
            </a:r>
            <a:r>
              <a:rPr lang="en-US" sz="1800" b="0" i="0" dirty="0">
                <a:effectLst/>
              </a:rPr>
              <a:t>. Applied Economics and Policy Studies book series (AEPS), Springer.</a:t>
            </a:r>
          </a:p>
          <a:p>
            <a:pPr algn="l">
              <a:buFont typeface="+mj-lt"/>
              <a:buAutoNum type="arabicPeriod"/>
            </a:pPr>
            <a:r>
              <a:rPr lang="en-US" sz="1800" b="0" i="0" dirty="0" err="1">
                <a:effectLst/>
              </a:rPr>
              <a:t>Zulkefly</a:t>
            </a:r>
            <a:r>
              <a:rPr lang="en-US" sz="1800" b="0" i="0" dirty="0">
                <a:effectLst/>
              </a:rPr>
              <a:t>, R. N., Karim, A. A., Rahman, A. A., &amp; </a:t>
            </a:r>
            <a:r>
              <a:rPr lang="en-US" sz="1800" b="0" i="0" dirty="0" err="1">
                <a:effectLst/>
              </a:rPr>
              <a:t>Sarmidi</a:t>
            </a:r>
            <a:r>
              <a:rPr lang="en-US" sz="1800" b="0" i="0" dirty="0">
                <a:effectLst/>
              </a:rPr>
              <a:t>, T. (2020). </a:t>
            </a:r>
            <a:r>
              <a:rPr lang="en-US" sz="1800" b="0" i="1" dirty="0">
                <a:effectLst/>
              </a:rPr>
              <a:t>Financial inclusiveness and economic growth: New evidence using a threshold regression analysis</a:t>
            </a:r>
            <a:r>
              <a:rPr lang="en-US" sz="1800" b="0" i="0" dirty="0">
                <a:effectLst/>
              </a:rPr>
              <a:t>. Economic Research-</a:t>
            </a:r>
            <a:r>
              <a:rPr lang="en-US" sz="1800" b="0" i="0" dirty="0" err="1">
                <a:effectLst/>
              </a:rPr>
              <a:t>Ekonomska</a:t>
            </a:r>
            <a:r>
              <a:rPr lang="en-US" sz="1800" b="0" i="0" dirty="0">
                <a:effectLst/>
              </a:rPr>
              <a:t> </a:t>
            </a:r>
            <a:r>
              <a:rPr lang="en-US" sz="1800" b="0" i="0" dirty="0" err="1">
                <a:effectLst/>
              </a:rPr>
              <a:t>Istraživanja</a:t>
            </a:r>
            <a:r>
              <a:rPr lang="en-US" sz="1800" b="0" i="0" dirty="0">
                <a:effectLst/>
              </a:rPr>
              <a:t>, 33(1), 1465-1484.</a:t>
            </a:r>
          </a:p>
          <a:p>
            <a:pPr algn="l">
              <a:buFont typeface="+mj-lt"/>
              <a:buAutoNum type="arabicPeriod"/>
            </a:pPr>
            <a:r>
              <a:rPr lang="en-US" sz="1800" b="0" i="0" dirty="0">
                <a:effectLst/>
              </a:rPr>
              <a:t>Hossain, M. J. (2023). </a:t>
            </a:r>
            <a:r>
              <a:rPr lang="en-US" sz="1800" b="0" i="1" dirty="0">
                <a:effectLst/>
              </a:rPr>
              <a:t>Comparative Analysis of ARIMA SARIMAX and Random Forest Models for Forecasting Future GDP in Relation to Unemployment Rate</a:t>
            </a:r>
            <a:r>
              <a:rPr lang="en-US" sz="1800" b="0" i="0" dirty="0">
                <a:effectLst/>
              </a:rPr>
              <a:t>.</a:t>
            </a:r>
          </a:p>
        </p:txBody>
      </p:sp>
      <p:sp>
        <p:nvSpPr>
          <p:cNvPr id="10" name="Footer Placeholder 3">
            <a:extLst>
              <a:ext uri="{FF2B5EF4-FFF2-40B4-BE49-F238E27FC236}">
                <a16:creationId xmlns:a16="http://schemas.microsoft.com/office/drawing/2014/main" id="{C375BA2F-D9CF-8D67-949D-06E2B2F41AFD}"/>
              </a:ext>
            </a:extLst>
          </p:cNvPr>
          <p:cNvSpPr>
            <a:spLocks noGrp="1"/>
          </p:cNvSpPr>
          <p:nvPr>
            <p:ph type="ftr" sz="quarter" idx="11"/>
          </p:nvPr>
        </p:nvSpPr>
        <p:spPr>
          <a:xfrm>
            <a:off x="4038600" y="6356350"/>
            <a:ext cx="4114800" cy="365125"/>
          </a:xfrm>
        </p:spPr>
        <p:txBody>
          <a:bodyPr/>
          <a:lstStyle/>
          <a:p>
            <a:r>
              <a:rPr lang="en-IN"/>
              <a:t>CS6501 Project I PGP, ICER, VIT Bangalore</a:t>
            </a:r>
          </a:p>
        </p:txBody>
      </p:sp>
      <p:sp>
        <p:nvSpPr>
          <p:cNvPr id="11" name="Slide Number Placeholder 4">
            <a:extLst>
              <a:ext uri="{FF2B5EF4-FFF2-40B4-BE49-F238E27FC236}">
                <a16:creationId xmlns:a16="http://schemas.microsoft.com/office/drawing/2014/main" id="{B1E97513-6936-35CE-A799-8BAD7373E5C4}"/>
              </a:ext>
            </a:extLst>
          </p:cNvPr>
          <p:cNvSpPr>
            <a:spLocks noGrp="1"/>
          </p:cNvSpPr>
          <p:nvPr>
            <p:ph type="sldNum" sz="quarter" idx="12"/>
          </p:nvPr>
        </p:nvSpPr>
        <p:spPr>
          <a:xfrm>
            <a:off x="8610600" y="6356350"/>
            <a:ext cx="2743200" cy="365125"/>
          </a:xfrm>
        </p:spPr>
        <p:txBody>
          <a:bodyPr/>
          <a:lstStyle/>
          <a:p>
            <a:fld id="{90EDC104-672A-4227-99C4-0E2CC007FDBA}" type="slidenum">
              <a:rPr lang="en-IN" smtClean="0"/>
              <a:t>28</a:t>
            </a:fld>
            <a:endParaRPr lang="en-IN" dirty="0"/>
          </a:p>
        </p:txBody>
      </p:sp>
    </p:spTree>
    <p:extLst>
      <p:ext uri="{BB962C8B-B14F-4D97-AF65-F5344CB8AC3E}">
        <p14:creationId xmlns:p14="http://schemas.microsoft.com/office/powerpoint/2010/main" val="4144063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890</TotalTime>
  <Words>3541</Words>
  <Application>Microsoft Office PowerPoint</Application>
  <PresentationFormat>Widescreen</PresentationFormat>
  <Paragraphs>286</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__Inter_e66fe9</vt:lpstr>
      <vt:lpstr>Arial</vt:lpstr>
      <vt:lpstr>Arial Narrow</vt:lpstr>
      <vt:lpstr>Calibri</vt:lpstr>
      <vt:lpstr>Calibri Light</vt:lpstr>
      <vt:lpstr>Söhne</vt:lpstr>
      <vt:lpstr>Wingdings</vt:lpstr>
      <vt:lpstr>Office Theme</vt:lpstr>
      <vt:lpstr>Project Title: Behavioral Finance Patterns in Predicting Global Financial Crises: An Analytical Approach to Crisis Forecasting  Domain: Economics &amp; Finance  </vt:lpstr>
      <vt:lpstr>Abstract</vt:lpstr>
      <vt:lpstr>Introduction</vt:lpstr>
      <vt:lpstr>Need for Research</vt:lpstr>
      <vt:lpstr>Problem Statement</vt:lpstr>
      <vt:lpstr>Objectives</vt:lpstr>
      <vt:lpstr>Related Work</vt:lpstr>
      <vt:lpstr>Related Work</vt:lpstr>
      <vt:lpstr>Proposed Methodology</vt:lpstr>
      <vt:lpstr>Proposed Methodology</vt:lpstr>
      <vt:lpstr>Proposed Methodology</vt:lpstr>
      <vt:lpstr>PowerPoint Presentation</vt:lpstr>
      <vt:lpstr>Column/Feature Details of the Dataset</vt:lpstr>
      <vt:lpstr>Column/Feature Details of the Dataset (continued)</vt:lpstr>
      <vt:lpstr>Details about the columns</vt:lpstr>
      <vt:lpstr>Performance Analysis</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Results and Discussion</vt:lpstr>
      <vt:lpstr>Conclusion</vt:lpstr>
      <vt:lpstr>Future Enhancements</vt:lpstr>
      <vt:lpstr>References : APA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Dharshani A</cp:lastModifiedBy>
  <cp:revision>22</cp:revision>
  <dcterms:created xsi:type="dcterms:W3CDTF">2023-11-15T14:09:37Z</dcterms:created>
  <dcterms:modified xsi:type="dcterms:W3CDTF">2023-12-05T09:58:04Z</dcterms:modified>
</cp:coreProperties>
</file>