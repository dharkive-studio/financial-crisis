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1"/>
  </p:sldMasterIdLst>
  <p:notesMasterIdLst>
    <p:notesMasterId r:id="rId11"/>
  </p:notesMasterIdLst>
  <p:sldIdLst>
    <p:sldId id="256" r:id="rId2"/>
    <p:sldId id="257" r:id="rId3"/>
    <p:sldId id="258" r:id="rId4"/>
    <p:sldId id="261" r:id="rId5"/>
    <p:sldId id="262" r:id="rId6"/>
    <p:sldId id="259" r:id="rId7"/>
    <p:sldId id="264"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0" d="100"/>
          <a:sy n="60" d="100"/>
        </p:scale>
        <p:origin x="90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16-11-2023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EB8D-935C-A88B-BA84-868B9C5CB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245236-CB91-30CC-45CC-2F5A601701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9A80D8-BDAD-DEFA-6049-FCAA2A70D4E3}"/>
              </a:ext>
            </a:extLst>
          </p:cNvPr>
          <p:cNvSpPr>
            <a:spLocks noGrp="1"/>
          </p:cNvSpPr>
          <p:nvPr>
            <p:ph type="dt" sz="half" idx="10"/>
          </p:nvPr>
        </p:nvSpPr>
        <p:spPr/>
        <p:txBody>
          <a:bodyPr/>
          <a:lstStyle/>
          <a:p>
            <a:fld id="{974EFEE0-0CD7-45A5-A730-5EC8BDE0D8D9}" type="datetime1">
              <a:rPr lang="en-IN" smtClean="0"/>
              <a:t>16-11-2023</a:t>
            </a:fld>
            <a:endParaRPr lang="en-IN"/>
          </a:p>
        </p:txBody>
      </p:sp>
      <p:sp>
        <p:nvSpPr>
          <p:cNvPr id="5" name="Footer Placeholder 4">
            <a:extLst>
              <a:ext uri="{FF2B5EF4-FFF2-40B4-BE49-F238E27FC236}">
                <a16:creationId xmlns:a16="http://schemas.microsoft.com/office/drawing/2014/main" id="{BA371F5B-44CE-9C77-2789-65F90C3F749D}"/>
              </a:ext>
            </a:extLst>
          </p:cNvPr>
          <p:cNvSpPr>
            <a:spLocks noGrp="1"/>
          </p:cNvSpPr>
          <p:nvPr>
            <p:ph type="ftr" sz="quarter" idx="11"/>
          </p:nvPr>
        </p:nvSpPr>
        <p:spPr/>
        <p:txBody>
          <a:bodyPr/>
          <a:lstStyle/>
          <a:p>
            <a:r>
              <a:rPr lang="en-IN"/>
              <a:t>CS6501 Project I PGP, ICER, VIT Bangalore</a:t>
            </a:r>
          </a:p>
        </p:txBody>
      </p:sp>
      <p:sp>
        <p:nvSpPr>
          <p:cNvPr id="6" name="Slide Number Placeholder 5">
            <a:extLst>
              <a:ext uri="{FF2B5EF4-FFF2-40B4-BE49-F238E27FC236}">
                <a16:creationId xmlns:a16="http://schemas.microsoft.com/office/drawing/2014/main" id="{37C41901-699D-C849-7AFA-51194A04E58C}"/>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806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0DE7-5996-BE96-B2CF-733CF8EFDF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65EACE-8651-1CAA-31B1-4B19F5DAF1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99E623-FE76-5CA7-B548-EFC7DFB44E2C}"/>
              </a:ext>
            </a:extLst>
          </p:cNvPr>
          <p:cNvSpPr>
            <a:spLocks noGrp="1"/>
          </p:cNvSpPr>
          <p:nvPr>
            <p:ph type="dt" sz="half" idx="10"/>
          </p:nvPr>
        </p:nvSpPr>
        <p:spPr/>
        <p:txBody>
          <a:bodyPr/>
          <a:lstStyle/>
          <a:p>
            <a:fld id="{2FB7DE58-FC96-420A-ACEA-15241A896A4C}" type="datetime1">
              <a:rPr lang="en-IN" smtClean="0"/>
              <a:t>16-11-2023</a:t>
            </a:fld>
            <a:endParaRPr lang="en-IN"/>
          </a:p>
        </p:txBody>
      </p:sp>
      <p:sp>
        <p:nvSpPr>
          <p:cNvPr id="5" name="Footer Placeholder 4">
            <a:extLst>
              <a:ext uri="{FF2B5EF4-FFF2-40B4-BE49-F238E27FC236}">
                <a16:creationId xmlns:a16="http://schemas.microsoft.com/office/drawing/2014/main" id="{D9D27B6E-CC6D-FD82-2B08-20432BFFDD8A}"/>
              </a:ext>
            </a:extLst>
          </p:cNvPr>
          <p:cNvSpPr>
            <a:spLocks noGrp="1"/>
          </p:cNvSpPr>
          <p:nvPr>
            <p:ph type="ftr" sz="quarter" idx="11"/>
          </p:nvPr>
        </p:nvSpPr>
        <p:spPr/>
        <p:txBody>
          <a:bodyPr/>
          <a:lstStyle/>
          <a:p>
            <a:r>
              <a:rPr lang="en-IN"/>
              <a:t>CS6501 Project I PGP, ICER, VIT Bangalore</a:t>
            </a:r>
          </a:p>
        </p:txBody>
      </p:sp>
      <p:sp>
        <p:nvSpPr>
          <p:cNvPr id="6" name="Slide Number Placeholder 5">
            <a:extLst>
              <a:ext uri="{FF2B5EF4-FFF2-40B4-BE49-F238E27FC236}">
                <a16:creationId xmlns:a16="http://schemas.microsoft.com/office/drawing/2014/main" id="{5113DD19-89CB-DBC1-7212-7A2A16FF9C26}"/>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99202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ACFDE-D007-BABD-EC97-6C0316B19F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670FFE-D519-60A6-C454-1C340D11C1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61BB9F-E6CA-0C4A-3252-CB55DB94BA2C}"/>
              </a:ext>
            </a:extLst>
          </p:cNvPr>
          <p:cNvSpPr>
            <a:spLocks noGrp="1"/>
          </p:cNvSpPr>
          <p:nvPr>
            <p:ph type="dt" sz="half" idx="10"/>
          </p:nvPr>
        </p:nvSpPr>
        <p:spPr/>
        <p:txBody>
          <a:bodyPr/>
          <a:lstStyle/>
          <a:p>
            <a:fld id="{22649E9C-B3B6-46FE-A568-B9D577388D42}" type="datetime1">
              <a:rPr lang="en-IN" smtClean="0"/>
              <a:t>16-11-2023</a:t>
            </a:fld>
            <a:endParaRPr lang="en-IN"/>
          </a:p>
        </p:txBody>
      </p:sp>
      <p:sp>
        <p:nvSpPr>
          <p:cNvPr id="5" name="Footer Placeholder 4">
            <a:extLst>
              <a:ext uri="{FF2B5EF4-FFF2-40B4-BE49-F238E27FC236}">
                <a16:creationId xmlns:a16="http://schemas.microsoft.com/office/drawing/2014/main" id="{1A356C65-A63B-6ADE-FACA-E2B14DD62925}"/>
              </a:ext>
            </a:extLst>
          </p:cNvPr>
          <p:cNvSpPr>
            <a:spLocks noGrp="1"/>
          </p:cNvSpPr>
          <p:nvPr>
            <p:ph type="ftr" sz="quarter" idx="11"/>
          </p:nvPr>
        </p:nvSpPr>
        <p:spPr/>
        <p:txBody>
          <a:bodyPr/>
          <a:lstStyle/>
          <a:p>
            <a:r>
              <a:rPr lang="en-IN"/>
              <a:t>CS6501 Project I PGP, ICER, VIT Bangalore</a:t>
            </a:r>
          </a:p>
        </p:txBody>
      </p:sp>
      <p:sp>
        <p:nvSpPr>
          <p:cNvPr id="6" name="Slide Number Placeholder 5">
            <a:extLst>
              <a:ext uri="{FF2B5EF4-FFF2-40B4-BE49-F238E27FC236}">
                <a16:creationId xmlns:a16="http://schemas.microsoft.com/office/drawing/2014/main" id="{A3860C89-759F-539A-D507-549236C9ABDD}"/>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122311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C34D-F1C9-7C30-D596-625B5C2982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EDFD4E-00E5-22AB-CE80-FD56A2F9DB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B8D566-1C41-45FA-6566-972C659DF8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7BA653-C4BB-97A8-015C-CA25FB84DE48}"/>
              </a:ext>
            </a:extLst>
          </p:cNvPr>
          <p:cNvSpPr>
            <a:spLocks noGrp="1"/>
          </p:cNvSpPr>
          <p:nvPr>
            <p:ph type="dt" sz="half" idx="10"/>
          </p:nvPr>
        </p:nvSpPr>
        <p:spPr/>
        <p:txBody>
          <a:bodyPr/>
          <a:lstStyle/>
          <a:p>
            <a:fld id="{323CA508-102F-45DB-994A-FCDA0CAE14C8}" type="datetime1">
              <a:rPr lang="en-IN" smtClean="0"/>
              <a:t>16-11-2023</a:t>
            </a:fld>
            <a:endParaRPr lang="en-IN"/>
          </a:p>
        </p:txBody>
      </p:sp>
      <p:sp>
        <p:nvSpPr>
          <p:cNvPr id="6" name="Footer Placeholder 5">
            <a:extLst>
              <a:ext uri="{FF2B5EF4-FFF2-40B4-BE49-F238E27FC236}">
                <a16:creationId xmlns:a16="http://schemas.microsoft.com/office/drawing/2014/main" id="{9B551B60-48EE-EB2C-B253-8A6B0033C99B}"/>
              </a:ext>
            </a:extLst>
          </p:cNvPr>
          <p:cNvSpPr>
            <a:spLocks noGrp="1"/>
          </p:cNvSpPr>
          <p:nvPr>
            <p:ph type="ftr" sz="quarter" idx="11"/>
          </p:nvPr>
        </p:nvSpPr>
        <p:spPr/>
        <p:txBody>
          <a:bodyPr/>
          <a:lstStyle/>
          <a:p>
            <a:r>
              <a:rPr lang="en-IN"/>
              <a:t>CS6501 Project I PGP, ICER, VIT Bangalore</a:t>
            </a:r>
          </a:p>
        </p:txBody>
      </p:sp>
      <p:sp>
        <p:nvSpPr>
          <p:cNvPr id="7" name="Slide Number Placeholder 6">
            <a:extLst>
              <a:ext uri="{FF2B5EF4-FFF2-40B4-BE49-F238E27FC236}">
                <a16:creationId xmlns:a16="http://schemas.microsoft.com/office/drawing/2014/main" id="{A9C110B9-4ABD-5C82-3A7C-64EF44CF3E6E}"/>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992065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1F459-2016-F249-1C70-74711F7C0F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E0440E-AAF5-C8D9-DEAA-455356DCDC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8919E5-C76C-B3F1-337A-82AE487B42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C4F260-B814-CA48-46D7-7D097F161E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C4D65-0B6F-DFA8-F3C9-2D18A4932E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5C6EDF-C83F-F892-7532-1A5569A6E006}"/>
              </a:ext>
            </a:extLst>
          </p:cNvPr>
          <p:cNvSpPr>
            <a:spLocks noGrp="1"/>
          </p:cNvSpPr>
          <p:nvPr>
            <p:ph type="dt" sz="half" idx="10"/>
          </p:nvPr>
        </p:nvSpPr>
        <p:spPr/>
        <p:txBody>
          <a:bodyPr/>
          <a:lstStyle/>
          <a:p>
            <a:fld id="{F2CC774E-B8A2-4F5C-B5FA-D785A0C05A2E}" type="datetime1">
              <a:rPr lang="en-IN" smtClean="0"/>
              <a:t>16-11-2023</a:t>
            </a:fld>
            <a:endParaRPr lang="en-IN"/>
          </a:p>
        </p:txBody>
      </p:sp>
      <p:sp>
        <p:nvSpPr>
          <p:cNvPr id="8" name="Footer Placeholder 7">
            <a:extLst>
              <a:ext uri="{FF2B5EF4-FFF2-40B4-BE49-F238E27FC236}">
                <a16:creationId xmlns:a16="http://schemas.microsoft.com/office/drawing/2014/main" id="{10408662-4F47-3DA4-D8BA-EBA3B1EB3444}"/>
              </a:ext>
            </a:extLst>
          </p:cNvPr>
          <p:cNvSpPr>
            <a:spLocks noGrp="1"/>
          </p:cNvSpPr>
          <p:nvPr>
            <p:ph type="ftr" sz="quarter" idx="11"/>
          </p:nvPr>
        </p:nvSpPr>
        <p:spPr/>
        <p:txBody>
          <a:bodyPr/>
          <a:lstStyle/>
          <a:p>
            <a:r>
              <a:rPr lang="en-IN"/>
              <a:t>CS6501 Project I PGP, ICER, VIT Bangalore</a:t>
            </a:r>
          </a:p>
        </p:txBody>
      </p:sp>
      <p:sp>
        <p:nvSpPr>
          <p:cNvPr id="9" name="Slide Number Placeholder 8">
            <a:extLst>
              <a:ext uri="{FF2B5EF4-FFF2-40B4-BE49-F238E27FC236}">
                <a16:creationId xmlns:a16="http://schemas.microsoft.com/office/drawing/2014/main" id="{A77713AD-5DF2-502B-7A62-DCA255939C2E}"/>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44794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0A956-3FFE-B364-BF74-EE6966F1B5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2AC5DB-2EBA-9843-423F-1D280DB56D63}"/>
              </a:ext>
            </a:extLst>
          </p:cNvPr>
          <p:cNvSpPr>
            <a:spLocks noGrp="1"/>
          </p:cNvSpPr>
          <p:nvPr>
            <p:ph type="dt" sz="half" idx="10"/>
          </p:nvPr>
        </p:nvSpPr>
        <p:spPr/>
        <p:txBody>
          <a:bodyPr/>
          <a:lstStyle/>
          <a:p>
            <a:fld id="{B09F70BE-0155-47E7-8509-A88648CCEC82}" type="datetime1">
              <a:rPr lang="en-IN" smtClean="0"/>
              <a:t>16-11-2023</a:t>
            </a:fld>
            <a:endParaRPr lang="en-IN"/>
          </a:p>
        </p:txBody>
      </p:sp>
      <p:sp>
        <p:nvSpPr>
          <p:cNvPr id="4" name="Footer Placeholder 3">
            <a:extLst>
              <a:ext uri="{FF2B5EF4-FFF2-40B4-BE49-F238E27FC236}">
                <a16:creationId xmlns:a16="http://schemas.microsoft.com/office/drawing/2014/main" id="{05C0DA93-E7DB-0FF4-6E5B-34AD632D8B82}"/>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F47DB17D-7136-70AD-00B5-685D03E46E49}"/>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232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1F4B13-DAD7-476F-82E8-9E3C596EBBFB}"/>
              </a:ext>
            </a:extLst>
          </p:cNvPr>
          <p:cNvSpPr>
            <a:spLocks noGrp="1"/>
          </p:cNvSpPr>
          <p:nvPr>
            <p:ph type="dt" sz="half" idx="10"/>
          </p:nvPr>
        </p:nvSpPr>
        <p:spPr/>
        <p:txBody>
          <a:bodyPr/>
          <a:lstStyle/>
          <a:p>
            <a:fld id="{2CD7DE71-85FA-4296-BD22-FA3717DCA8E2}" type="datetime1">
              <a:rPr lang="en-IN" smtClean="0"/>
              <a:t>16-11-2023</a:t>
            </a:fld>
            <a:endParaRPr lang="en-IN"/>
          </a:p>
        </p:txBody>
      </p:sp>
      <p:sp>
        <p:nvSpPr>
          <p:cNvPr id="3" name="Footer Placeholder 2">
            <a:extLst>
              <a:ext uri="{FF2B5EF4-FFF2-40B4-BE49-F238E27FC236}">
                <a16:creationId xmlns:a16="http://schemas.microsoft.com/office/drawing/2014/main" id="{7EA567DA-8526-EF12-0CBC-AC009391627F}"/>
              </a:ext>
            </a:extLst>
          </p:cNvPr>
          <p:cNvSpPr>
            <a:spLocks noGrp="1"/>
          </p:cNvSpPr>
          <p:nvPr>
            <p:ph type="ftr" sz="quarter" idx="11"/>
          </p:nvPr>
        </p:nvSpPr>
        <p:spPr/>
        <p:txBody>
          <a:bodyPr/>
          <a:lstStyle/>
          <a:p>
            <a:r>
              <a:rPr lang="en-IN"/>
              <a:t>CS6501 Project I PGP, ICER, VIT Bangalore</a:t>
            </a:r>
          </a:p>
        </p:txBody>
      </p:sp>
      <p:sp>
        <p:nvSpPr>
          <p:cNvPr id="4" name="Slide Number Placeholder 3">
            <a:extLst>
              <a:ext uri="{FF2B5EF4-FFF2-40B4-BE49-F238E27FC236}">
                <a16:creationId xmlns:a16="http://schemas.microsoft.com/office/drawing/2014/main" id="{0B7CAF6A-55CD-A4B6-A48D-62CED5F56BB4}"/>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552152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D49D0-7B4B-52FE-6F57-4AA81B8CBD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DF787E-6DC2-A686-6711-7015193714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C5D02E-2838-0A62-DDEB-E530C3E9E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B893C-65E8-91C1-40FA-9EC4EB3340A5}"/>
              </a:ext>
            </a:extLst>
          </p:cNvPr>
          <p:cNvSpPr>
            <a:spLocks noGrp="1"/>
          </p:cNvSpPr>
          <p:nvPr>
            <p:ph type="dt" sz="half" idx="10"/>
          </p:nvPr>
        </p:nvSpPr>
        <p:spPr/>
        <p:txBody>
          <a:bodyPr/>
          <a:lstStyle/>
          <a:p>
            <a:fld id="{BC2EEF0E-D1E3-413E-934B-8549D7D1A21A}" type="datetime1">
              <a:rPr lang="en-IN" smtClean="0"/>
              <a:t>16-11-2023</a:t>
            </a:fld>
            <a:endParaRPr lang="en-IN"/>
          </a:p>
        </p:txBody>
      </p:sp>
      <p:sp>
        <p:nvSpPr>
          <p:cNvPr id="6" name="Footer Placeholder 5">
            <a:extLst>
              <a:ext uri="{FF2B5EF4-FFF2-40B4-BE49-F238E27FC236}">
                <a16:creationId xmlns:a16="http://schemas.microsoft.com/office/drawing/2014/main" id="{8167E17C-9EC6-7DDC-BC2F-59D47B9839FF}"/>
              </a:ext>
            </a:extLst>
          </p:cNvPr>
          <p:cNvSpPr>
            <a:spLocks noGrp="1"/>
          </p:cNvSpPr>
          <p:nvPr>
            <p:ph type="ftr" sz="quarter" idx="11"/>
          </p:nvPr>
        </p:nvSpPr>
        <p:spPr/>
        <p:txBody>
          <a:bodyPr/>
          <a:lstStyle/>
          <a:p>
            <a:r>
              <a:rPr lang="en-IN"/>
              <a:t>CS6501 Project I PGP, ICER, VIT Bangalore</a:t>
            </a:r>
          </a:p>
        </p:txBody>
      </p:sp>
      <p:sp>
        <p:nvSpPr>
          <p:cNvPr id="7" name="Slide Number Placeholder 6">
            <a:extLst>
              <a:ext uri="{FF2B5EF4-FFF2-40B4-BE49-F238E27FC236}">
                <a16:creationId xmlns:a16="http://schemas.microsoft.com/office/drawing/2014/main" id="{0B8E4AF7-4821-04DE-15B6-91433E9E4870}"/>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1913762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2E87-9AED-F976-D67A-ACC83EA9C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CB6E18-8250-BA67-A7F3-33BC43DA6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0B3F8F-BBBA-0E4A-5C3C-FB3CE4E3D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3557F2-94A6-5821-00F8-1AD84460274E}"/>
              </a:ext>
            </a:extLst>
          </p:cNvPr>
          <p:cNvSpPr>
            <a:spLocks noGrp="1"/>
          </p:cNvSpPr>
          <p:nvPr>
            <p:ph type="dt" sz="half" idx="10"/>
          </p:nvPr>
        </p:nvSpPr>
        <p:spPr/>
        <p:txBody>
          <a:bodyPr/>
          <a:lstStyle/>
          <a:p>
            <a:fld id="{BE472768-1913-4B51-9959-F62F8ED684BE}" type="datetime1">
              <a:rPr lang="en-IN" smtClean="0"/>
              <a:t>16-11-2023</a:t>
            </a:fld>
            <a:endParaRPr lang="en-IN"/>
          </a:p>
        </p:txBody>
      </p:sp>
      <p:sp>
        <p:nvSpPr>
          <p:cNvPr id="6" name="Footer Placeholder 5">
            <a:extLst>
              <a:ext uri="{FF2B5EF4-FFF2-40B4-BE49-F238E27FC236}">
                <a16:creationId xmlns:a16="http://schemas.microsoft.com/office/drawing/2014/main" id="{AA7AA8F0-F366-3D55-1B6D-05A12F2A4DCF}"/>
              </a:ext>
            </a:extLst>
          </p:cNvPr>
          <p:cNvSpPr>
            <a:spLocks noGrp="1"/>
          </p:cNvSpPr>
          <p:nvPr>
            <p:ph type="ftr" sz="quarter" idx="11"/>
          </p:nvPr>
        </p:nvSpPr>
        <p:spPr/>
        <p:txBody>
          <a:bodyPr/>
          <a:lstStyle/>
          <a:p>
            <a:r>
              <a:rPr lang="en-IN"/>
              <a:t>CS6501 Project I PGP, ICER, VIT Bangalore</a:t>
            </a:r>
          </a:p>
        </p:txBody>
      </p:sp>
      <p:sp>
        <p:nvSpPr>
          <p:cNvPr id="7" name="Slide Number Placeholder 6">
            <a:extLst>
              <a:ext uri="{FF2B5EF4-FFF2-40B4-BE49-F238E27FC236}">
                <a16:creationId xmlns:a16="http://schemas.microsoft.com/office/drawing/2014/main" id="{F3F0825B-8E47-0D98-3ABB-0318010273B9}"/>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05112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C4C5-4387-207D-A94D-1A558DB273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7F88BF-9F23-02AB-297A-9BC93A5948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FDEF07-4FC0-BCD4-338E-04E426B3D144}"/>
              </a:ext>
            </a:extLst>
          </p:cNvPr>
          <p:cNvSpPr>
            <a:spLocks noGrp="1"/>
          </p:cNvSpPr>
          <p:nvPr>
            <p:ph type="dt" sz="half" idx="10"/>
          </p:nvPr>
        </p:nvSpPr>
        <p:spPr/>
        <p:txBody>
          <a:bodyPr/>
          <a:lstStyle/>
          <a:p>
            <a:fld id="{E14653BA-939B-4E91-B3F4-265E71AFADD6}" type="datetime1">
              <a:rPr lang="en-IN" smtClean="0"/>
              <a:t>16-11-2023</a:t>
            </a:fld>
            <a:endParaRPr lang="en-IN"/>
          </a:p>
        </p:txBody>
      </p:sp>
      <p:sp>
        <p:nvSpPr>
          <p:cNvPr id="5" name="Footer Placeholder 4">
            <a:extLst>
              <a:ext uri="{FF2B5EF4-FFF2-40B4-BE49-F238E27FC236}">
                <a16:creationId xmlns:a16="http://schemas.microsoft.com/office/drawing/2014/main" id="{D4391F00-B233-F9CA-56AA-71D38B77A9C5}"/>
              </a:ext>
            </a:extLst>
          </p:cNvPr>
          <p:cNvSpPr>
            <a:spLocks noGrp="1"/>
          </p:cNvSpPr>
          <p:nvPr>
            <p:ph type="ftr" sz="quarter" idx="11"/>
          </p:nvPr>
        </p:nvSpPr>
        <p:spPr/>
        <p:txBody>
          <a:bodyPr/>
          <a:lstStyle/>
          <a:p>
            <a:r>
              <a:rPr lang="en-IN"/>
              <a:t>CS6501 Project I PGP, ICER, VIT Bangalore</a:t>
            </a:r>
          </a:p>
        </p:txBody>
      </p:sp>
      <p:sp>
        <p:nvSpPr>
          <p:cNvPr id="6" name="Slide Number Placeholder 5">
            <a:extLst>
              <a:ext uri="{FF2B5EF4-FFF2-40B4-BE49-F238E27FC236}">
                <a16:creationId xmlns:a16="http://schemas.microsoft.com/office/drawing/2014/main" id="{8AE22BC6-D045-6A70-6C4A-6BA74D21A3CC}"/>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1112984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B2B188-7A83-07DE-D291-780DE4D94F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930D87-B3F4-DE49-2913-FD570F0D61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0B1375-CB68-91C5-9597-E3BF91E7E627}"/>
              </a:ext>
            </a:extLst>
          </p:cNvPr>
          <p:cNvSpPr>
            <a:spLocks noGrp="1"/>
          </p:cNvSpPr>
          <p:nvPr>
            <p:ph type="dt" sz="half" idx="10"/>
          </p:nvPr>
        </p:nvSpPr>
        <p:spPr/>
        <p:txBody>
          <a:bodyPr/>
          <a:lstStyle/>
          <a:p>
            <a:fld id="{DACCF933-5EA4-4E01-9CD8-F0B091D3891D}" type="datetime1">
              <a:rPr lang="en-IN" smtClean="0"/>
              <a:t>16-11-2023</a:t>
            </a:fld>
            <a:endParaRPr lang="en-IN"/>
          </a:p>
        </p:txBody>
      </p:sp>
      <p:sp>
        <p:nvSpPr>
          <p:cNvPr id="5" name="Footer Placeholder 4">
            <a:extLst>
              <a:ext uri="{FF2B5EF4-FFF2-40B4-BE49-F238E27FC236}">
                <a16:creationId xmlns:a16="http://schemas.microsoft.com/office/drawing/2014/main" id="{862800FC-1D97-A5E3-348E-9153541CA13C}"/>
              </a:ext>
            </a:extLst>
          </p:cNvPr>
          <p:cNvSpPr>
            <a:spLocks noGrp="1"/>
          </p:cNvSpPr>
          <p:nvPr>
            <p:ph type="ftr" sz="quarter" idx="11"/>
          </p:nvPr>
        </p:nvSpPr>
        <p:spPr/>
        <p:txBody>
          <a:bodyPr/>
          <a:lstStyle/>
          <a:p>
            <a:r>
              <a:rPr lang="en-IN"/>
              <a:t>CS6501 Project I PGP, ICER, VIT Bangalore</a:t>
            </a:r>
          </a:p>
        </p:txBody>
      </p:sp>
      <p:sp>
        <p:nvSpPr>
          <p:cNvPr id="6" name="Slide Number Placeholder 5">
            <a:extLst>
              <a:ext uri="{FF2B5EF4-FFF2-40B4-BE49-F238E27FC236}">
                <a16:creationId xmlns:a16="http://schemas.microsoft.com/office/drawing/2014/main" id="{349E9132-491A-9537-628E-E96F4ADBB4B1}"/>
              </a:ext>
            </a:extLst>
          </p:cNvPr>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6176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294131-EF26-E73A-DC6D-68A0A03F7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CA2BFE-7A53-F125-9EA6-7F35BD5BA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BF6DA5-CDAC-BCEC-48B3-874255AE0D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16-11-2023</a:t>
            </a:fld>
            <a:endParaRPr lang="en-IN"/>
          </a:p>
        </p:txBody>
      </p:sp>
      <p:sp>
        <p:nvSpPr>
          <p:cNvPr id="5" name="Footer Placeholder 4">
            <a:extLst>
              <a:ext uri="{FF2B5EF4-FFF2-40B4-BE49-F238E27FC236}">
                <a16:creationId xmlns:a16="http://schemas.microsoft.com/office/drawing/2014/main" id="{C9C7753F-E458-CCBF-878C-CE97F8A6C2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a:extLst>
              <a:ext uri="{FF2B5EF4-FFF2-40B4-BE49-F238E27FC236}">
                <a16:creationId xmlns:a16="http://schemas.microsoft.com/office/drawing/2014/main" id="{BC01316D-E74E-06DB-F269-F54509EAD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690617937"/>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code/jorgegarciainiguez/global-financial-crisis-analytic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hbs.edu/behavioral-finance-and-financial-stability/survey/Pages/default.aspx" TargetMode="External"/><Relationship Id="rId2" Type="http://schemas.openxmlformats.org/officeDocument/2006/relationships/hyperlink" Target="https://www.hbs.edu/"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zbw.eu/econis-archiv/bitstream/11159/5232/1/14231-Article%20Text-32572-1-10-20200311.pdf" TargetMode="External"/><Relationship Id="rId2" Type="http://schemas.openxmlformats.org/officeDocument/2006/relationships/hyperlink" Target="https://ideas.repec.org/a/ove/journl/aid14231.html" TargetMode="External"/><Relationship Id="rId1" Type="http://schemas.openxmlformats.org/officeDocument/2006/relationships/slideLayout" Target="../slideLayouts/slideLayout2.xml"/><Relationship Id="rId5" Type="http://schemas.openxmlformats.org/officeDocument/2006/relationships/hyperlink" Target="https://elibrary.worldbank.org/doi/abs/10.1596/978-1-4648-1447-1" TargetMode="External"/><Relationship Id="rId4" Type="http://schemas.openxmlformats.org/officeDocument/2006/relationships/hyperlink" Target="https://doi.org/10.1596/978-1-4648-1447-1"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onlinelibrary.wiley.com/doi/abs/10.1111/jifm.12195" TargetMode="External"/><Relationship Id="rId2" Type="http://schemas.openxmlformats.org/officeDocument/2006/relationships/hyperlink" Target="https://doi.org/10.1111/jifm.12195" TargetMode="External"/><Relationship Id="rId1" Type="http://schemas.openxmlformats.org/officeDocument/2006/relationships/slideLayout" Target="../slideLayouts/slideLayout2.xml"/><Relationship Id="rId4" Type="http://schemas.openxmlformats.org/officeDocument/2006/relationships/hyperlink" Target="https://www.sciencedirect.com/science/article/pii/S154461232030524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3954" y="796979"/>
            <a:ext cx="9144000" cy="4124194"/>
          </a:xfrm>
        </p:spPr>
        <p:txBody>
          <a:bodyPr>
            <a:normAutofit/>
          </a:bodyPr>
          <a:lstStyle/>
          <a:p>
            <a:pPr algn="ctr"/>
            <a:r>
              <a:rPr lang="en-US" sz="3200" dirty="0">
                <a:latin typeface="+mn-lt"/>
              </a:rPr>
              <a:t>Project Title: </a:t>
            </a:r>
            <a:r>
              <a:rPr lang="en-US" sz="3200" b="1" i="0" dirty="0">
                <a:solidFill>
                  <a:srgbClr val="0F0F0F"/>
                </a:solidFill>
                <a:effectLst/>
                <a:latin typeface="+mn-lt"/>
              </a:rPr>
              <a:t>Behavioral Finance Patterns in Predicting Global Financial Crises: An Analytical Approach to Crisis Forecasting</a:t>
            </a:r>
            <a:br>
              <a:rPr lang="en-US" sz="3200" dirty="0">
                <a:latin typeface="Arial Narrow" panose="020B0606020202030204" pitchFamily="34" charset="0"/>
              </a:rPr>
            </a:br>
            <a:br>
              <a:rPr lang="en-US" sz="3200" dirty="0">
                <a:latin typeface="Arial Narrow" panose="020B0606020202030204" pitchFamily="34" charset="0"/>
              </a:rPr>
            </a:br>
            <a:r>
              <a:rPr lang="en-US" sz="3200" dirty="0">
                <a:latin typeface="Arial Narrow" panose="020B0606020202030204" pitchFamily="34" charset="0"/>
              </a:rPr>
              <a:t>Domain: </a:t>
            </a:r>
            <a:r>
              <a:rPr lang="en-US" sz="3200" b="1" dirty="0">
                <a:latin typeface="Arial Narrow" panose="020B0606020202030204" pitchFamily="34" charset="0"/>
              </a:rPr>
              <a:t>Economics &amp; </a:t>
            </a:r>
            <a:r>
              <a:rPr lang="en-US" sz="3200" b="1" dirty="0">
                <a:solidFill>
                  <a:schemeClr val="tx1"/>
                </a:solidFill>
                <a:latin typeface="Arial Narrow" panose="020B0606020202030204" pitchFamily="34" charset="0"/>
              </a:rPr>
              <a:t>Finance</a:t>
            </a:r>
            <a:r>
              <a:rPr lang="en-US" sz="3200" dirty="0">
                <a:solidFill>
                  <a:schemeClr val="tx1"/>
                </a:solidFill>
                <a:latin typeface="Arial Narrow" panose="020B0606020202030204" pitchFamily="34" charset="0"/>
              </a:rPr>
              <a:t> </a:t>
            </a:r>
            <a:endParaRPr lang="en-IN" sz="3200" dirty="0">
              <a:solidFill>
                <a:schemeClr val="tx1"/>
              </a:solidFill>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normAutofit/>
          </a:bodyPr>
          <a:lstStyle/>
          <a:p>
            <a:pPr algn="r"/>
            <a:r>
              <a:rPr lang="en-US" sz="2100" b="1" dirty="0">
                <a:solidFill>
                  <a:schemeClr val="tx1"/>
                </a:solidFill>
              </a:rPr>
              <a:t>Register Number: </a:t>
            </a:r>
            <a:r>
              <a:rPr lang="en-US" sz="2100" dirty="0">
                <a:solidFill>
                  <a:schemeClr val="tx1"/>
                </a:solidFill>
              </a:rPr>
              <a:t>23MSP3068</a:t>
            </a:r>
          </a:p>
          <a:p>
            <a:pPr algn="r"/>
            <a:r>
              <a:rPr lang="en-US" sz="2100" b="1" dirty="0">
                <a:solidFill>
                  <a:schemeClr val="tx1"/>
                </a:solidFill>
              </a:rPr>
              <a:t>Name:</a:t>
            </a:r>
            <a:r>
              <a:rPr lang="en-US" sz="2100" dirty="0">
                <a:solidFill>
                  <a:schemeClr val="tx1"/>
                </a:solidFill>
              </a:rPr>
              <a:t> Dharshani A.</a:t>
            </a:r>
          </a:p>
          <a:p>
            <a:pPr algn="r"/>
            <a:r>
              <a:rPr lang="en-US" sz="2100" b="1" dirty="0">
                <a:solidFill>
                  <a:schemeClr val="tx1"/>
                </a:solidFill>
              </a:rPr>
              <a:t>Date: </a:t>
            </a:r>
            <a:r>
              <a:rPr lang="en-US" sz="2100" dirty="0">
                <a:solidFill>
                  <a:schemeClr val="tx1"/>
                </a:solidFill>
              </a:rPr>
              <a:t>16-11-2023</a:t>
            </a:r>
            <a:endParaRPr lang="en-IN" sz="2100" dirty="0">
              <a:solidFill>
                <a:schemeClr val="tx1"/>
              </a:solidFill>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a:latin typeface="Arial Narrow" panose="020B0606020202030204" pitchFamily="34" charset="0"/>
              </a:rPr>
              <a:t>Zeroth Review</a:t>
            </a:r>
            <a:endParaRPr lang="en-IN" sz="3600" b="1" dirty="0">
              <a:latin typeface="Arial Narrow" panose="020B0606020202030204" pitchFamily="34" charset="0"/>
            </a:endParaRPr>
          </a:p>
        </p:txBody>
      </p:sp>
      <p:sp>
        <p:nvSpPr>
          <p:cNvPr id="6" name="Rectangle 5"/>
          <p:cNvSpPr/>
          <p:nvPr/>
        </p:nvSpPr>
        <p:spPr>
          <a:xfrm>
            <a:off x="183458" y="5438274"/>
            <a:ext cx="2511615" cy="113866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latin typeface="Arial Narrow" panose="020B0606020202030204" pitchFamily="34" charset="0"/>
              </a:rPr>
              <a:t>Course Code: </a:t>
            </a:r>
            <a:r>
              <a:rPr lang="en-US" sz="2000" dirty="0">
                <a:latin typeface="Arial Narrow" panose="020B0606020202030204" pitchFamily="34" charset="0"/>
              </a:rPr>
              <a:t>CS6510</a:t>
            </a:r>
          </a:p>
          <a:p>
            <a:r>
              <a:rPr lang="en-US" sz="2000" b="1" dirty="0">
                <a:latin typeface="Arial Narrow" panose="020B0606020202030204" pitchFamily="34" charset="0"/>
              </a:rPr>
              <a:t>Course Title:  </a:t>
            </a:r>
            <a:r>
              <a:rPr lang="en-US" sz="2000" dirty="0">
                <a:latin typeface="Arial Narrow" panose="020B0606020202030204" pitchFamily="34" charset="0"/>
              </a:rPr>
              <a:t>Project 1</a:t>
            </a:r>
            <a:endParaRPr lang="en-IN" sz="2000" dirty="0">
              <a:latin typeface="Arial Narrow" panose="020B0606020202030204" pitchFamily="34" charset="0"/>
            </a:endParaRPr>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462088"/>
            <a:ext cx="10515600" cy="4714875"/>
          </a:xfrm>
        </p:spPr>
        <p:txBody>
          <a:bodyPr>
            <a:normAutofit fontScale="62500" lnSpcReduction="20000"/>
          </a:bodyPr>
          <a:lstStyle/>
          <a:p>
            <a:pPr marL="0" indent="0">
              <a:buNone/>
            </a:pPr>
            <a:r>
              <a:rPr lang="en-US" b="1" i="0" dirty="0">
                <a:solidFill>
                  <a:srgbClr val="0F0F0F"/>
                </a:solidFill>
                <a:effectLst/>
                <a:latin typeface="Söhne"/>
              </a:rPr>
              <a:t>Aim</a:t>
            </a:r>
            <a:r>
              <a:rPr lang="en-US" b="0" i="0" dirty="0">
                <a:solidFill>
                  <a:srgbClr val="0F0F0F"/>
                </a:solidFill>
                <a:effectLst/>
                <a:latin typeface="Söhne"/>
              </a:rPr>
              <a:t>: </a:t>
            </a:r>
          </a:p>
          <a:p>
            <a:pPr marL="0" indent="0">
              <a:buNone/>
            </a:pPr>
            <a:r>
              <a:rPr lang="en-US" b="0" i="0" dirty="0">
                <a:solidFill>
                  <a:srgbClr val="0F0F0F"/>
                </a:solidFill>
                <a:effectLst/>
                <a:latin typeface="Söhne"/>
              </a:rPr>
              <a:t>To develop a predictive model based on </a:t>
            </a:r>
          </a:p>
          <a:p>
            <a:pPr marL="0" indent="0">
              <a:buNone/>
            </a:pPr>
            <a:r>
              <a:rPr lang="en-US" b="0" i="0" dirty="0">
                <a:solidFill>
                  <a:srgbClr val="0F0F0F"/>
                </a:solidFill>
                <a:effectLst/>
                <a:latin typeface="Söhne"/>
              </a:rPr>
              <a:t>historical data from the global financial </a:t>
            </a:r>
          </a:p>
          <a:p>
            <a:pPr marL="0" indent="0">
              <a:buNone/>
            </a:pPr>
            <a:r>
              <a:rPr lang="en-US" b="0" i="0" dirty="0">
                <a:solidFill>
                  <a:srgbClr val="0F0F0F"/>
                </a:solidFill>
                <a:effectLst/>
                <a:latin typeface="Söhne"/>
              </a:rPr>
              <a:t>crisis, incorporating key economic </a:t>
            </a:r>
          </a:p>
          <a:p>
            <a:pPr marL="0" indent="0">
              <a:buNone/>
            </a:pPr>
            <a:r>
              <a:rPr lang="en-US" b="0" i="0" dirty="0">
                <a:solidFill>
                  <a:srgbClr val="0F0F0F"/>
                </a:solidFill>
                <a:effectLst/>
                <a:latin typeface="Söhne"/>
              </a:rPr>
              <a:t>indicators, market trends, and financial </a:t>
            </a:r>
          </a:p>
          <a:p>
            <a:pPr marL="0" indent="0">
              <a:buNone/>
            </a:pPr>
            <a:r>
              <a:rPr lang="en-US" b="0" i="0" dirty="0">
                <a:solidFill>
                  <a:srgbClr val="0F0F0F"/>
                </a:solidFill>
                <a:effectLst/>
                <a:latin typeface="Söhne"/>
              </a:rPr>
              <a:t>metrics.</a:t>
            </a:r>
          </a:p>
          <a:p>
            <a:pPr marL="0" indent="0">
              <a:buNone/>
            </a:pPr>
            <a:endParaRPr lang="en-US" b="0" i="0" dirty="0">
              <a:solidFill>
                <a:srgbClr val="0F0F0F"/>
              </a:solidFill>
              <a:effectLst/>
              <a:latin typeface="Söhne"/>
            </a:endParaRPr>
          </a:p>
          <a:p>
            <a:pPr marL="0" indent="0">
              <a:buNone/>
            </a:pPr>
            <a:r>
              <a:rPr lang="en-US" b="1" i="0" dirty="0">
                <a:solidFill>
                  <a:srgbClr val="0F0F0F"/>
                </a:solidFill>
                <a:effectLst/>
                <a:latin typeface="Söhne"/>
              </a:rPr>
              <a:t>Need for Research</a:t>
            </a:r>
            <a:r>
              <a:rPr lang="en-US" b="0" i="0" dirty="0">
                <a:solidFill>
                  <a:srgbClr val="0F0F0F"/>
                </a:solidFill>
                <a:effectLst/>
                <a:latin typeface="Söhne"/>
              </a:rPr>
              <a:t>:</a:t>
            </a:r>
          </a:p>
          <a:p>
            <a:r>
              <a:rPr lang="en-US" b="0" i="0" dirty="0">
                <a:solidFill>
                  <a:srgbClr val="0F0F0F"/>
                </a:solidFill>
                <a:effectLst/>
                <a:latin typeface="Söhne"/>
              </a:rPr>
              <a:t> To maintain vigilance in the financial sector and among policymakers and investors regarding the anticipation and mitigation of future financial downturns.</a:t>
            </a:r>
          </a:p>
          <a:p>
            <a:r>
              <a:rPr lang="en-US" b="0" i="0" dirty="0">
                <a:solidFill>
                  <a:srgbClr val="0F0F0F"/>
                </a:solidFill>
                <a:effectLst/>
                <a:latin typeface="Söhne"/>
              </a:rPr>
              <a:t> To identify early warning signals and patterns that historically precede financial crises, offering a proactive approach to economic stability.</a:t>
            </a:r>
          </a:p>
          <a:p>
            <a:r>
              <a:rPr lang="en-US" b="0" i="0" dirty="0">
                <a:solidFill>
                  <a:srgbClr val="0F0F0F"/>
                </a:solidFill>
                <a:effectLst/>
                <a:latin typeface="Söhne"/>
              </a:rPr>
              <a:t>To analyze the changes in economic indicators leading up to the 2007-2008 crisis, with the goal of forecasting future financial downturns.</a:t>
            </a:r>
          </a:p>
          <a:p>
            <a:r>
              <a:rPr lang="en-US" b="0" i="0" dirty="0">
                <a:solidFill>
                  <a:srgbClr val="0F0F0F"/>
                </a:solidFill>
                <a:effectLst/>
                <a:latin typeface="Söhne"/>
              </a:rPr>
              <a:t>To enable stakeholders to take preemptive measures to protect the global economy by predicting potential crises.</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pic>
        <p:nvPicPr>
          <p:cNvPr id="7" name="Picture 2">
            <a:extLst>
              <a:ext uri="{FF2B5EF4-FFF2-40B4-BE49-F238E27FC236}">
                <a16:creationId xmlns:a16="http://schemas.microsoft.com/office/drawing/2014/main" id="{F5576850-1A7B-DC00-1C76-BD8C52C982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2560" y="1168400"/>
            <a:ext cx="5392191" cy="2773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40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5902"/>
          </a:xfrm>
        </p:spPr>
        <p:txBody>
          <a:bodyPr>
            <a:normAutofit fontScale="90000"/>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105878" y="1087655"/>
            <a:ext cx="12086122" cy="5633820"/>
          </a:xfrm>
        </p:spPr>
        <p:txBody>
          <a:bodyPr/>
          <a:lstStyle/>
          <a:p>
            <a:r>
              <a:rPr lang="en-US" dirty="0">
                <a:latin typeface="Arial Narrow" panose="020B0606020202030204" pitchFamily="34" charset="0"/>
              </a:rPr>
              <a:t>Source of the Dataset: </a:t>
            </a:r>
            <a:r>
              <a:rPr lang="en-IN" dirty="0">
                <a:hlinkClick r:id="rId2"/>
              </a:rPr>
              <a:t>Global Financial Crisis Analytics | Kaggle</a:t>
            </a:r>
            <a:endParaRPr lang="en-US" dirty="0">
              <a:latin typeface="Arial Narrow" panose="020B0606020202030204" pitchFamily="34" charset="0"/>
            </a:endParaRPr>
          </a:p>
          <a:p>
            <a:r>
              <a:rPr lang="en-US" dirty="0">
                <a:latin typeface="Arial Narrow" panose="020B0606020202030204" pitchFamily="34" charset="0"/>
              </a:rPr>
              <a:t>No. of Observations: 15,192</a:t>
            </a:r>
          </a:p>
          <a:p>
            <a:r>
              <a:rPr lang="en-US" dirty="0">
                <a:latin typeface="Arial Narrow" panose="020B0606020202030204" pitchFamily="34" charset="0"/>
              </a:rPr>
              <a:t> Screenshot of the dataset</a:t>
            </a:r>
          </a:p>
          <a:p>
            <a:pPr marL="0" indent="0">
              <a:buNone/>
            </a:pPr>
            <a:br>
              <a:rPr lang="en-US" dirty="0">
                <a:latin typeface="Arial Narrow" panose="020B0606020202030204" pitchFamily="34" charset="0"/>
              </a:rPr>
            </a:br>
            <a:endParaRPr lang="en-US" dirty="0">
              <a:latin typeface="Arial Narrow" panose="020B0606020202030204" pitchFamily="34" charset="0"/>
            </a:endParaRPr>
          </a:p>
          <a:p>
            <a:endParaRPr lang="en-US"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pic>
        <p:nvPicPr>
          <p:cNvPr id="6" name="Content Placeholder 6">
            <a:extLst>
              <a:ext uri="{FF2B5EF4-FFF2-40B4-BE49-F238E27FC236}">
                <a16:creationId xmlns:a16="http://schemas.microsoft.com/office/drawing/2014/main" id="{CE379443-3D97-6378-B536-0C4EC52EF53B}"/>
              </a:ext>
            </a:extLst>
          </p:cNvPr>
          <p:cNvPicPr>
            <a:picLocks noChangeAspect="1"/>
          </p:cNvPicPr>
          <p:nvPr/>
        </p:nvPicPr>
        <p:blipFill>
          <a:blip r:embed="rId3"/>
          <a:stretch>
            <a:fillRect/>
          </a:stretch>
        </p:blipFill>
        <p:spPr>
          <a:xfrm>
            <a:off x="448375" y="2565471"/>
            <a:ext cx="11034563" cy="3936205"/>
          </a:xfrm>
          <a:prstGeom prst="rect">
            <a:avLst/>
          </a:prstGeom>
        </p:spPr>
      </p:pic>
    </p:spTree>
    <p:extLst>
      <p:ext uri="{BB962C8B-B14F-4D97-AF65-F5344CB8AC3E}">
        <p14:creationId xmlns:p14="http://schemas.microsoft.com/office/powerpoint/2010/main" val="291347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AD30-114A-AE92-B833-CB8D3AF9CB48}"/>
              </a:ext>
            </a:extLst>
          </p:cNvPr>
          <p:cNvSpPr>
            <a:spLocks noGrp="1"/>
          </p:cNvSpPr>
          <p:nvPr>
            <p:ph type="title"/>
          </p:nvPr>
        </p:nvSpPr>
        <p:spPr>
          <a:xfrm>
            <a:off x="838200" y="365125"/>
            <a:ext cx="10515600" cy="607027"/>
          </a:xfrm>
        </p:spPr>
        <p:txBody>
          <a:bodyPr>
            <a:normAutofit fontScale="90000"/>
          </a:bodyPr>
          <a:lstStyle/>
          <a:p>
            <a:r>
              <a:rPr lang="en-US" b="1" dirty="0">
                <a:latin typeface="Arial Narrow" panose="020B0606020202030204" pitchFamily="34" charset="0"/>
              </a:rPr>
              <a:t>Column/Feature Details of the Dataset</a:t>
            </a:r>
            <a:endParaRPr lang="en-IN" dirty="0"/>
          </a:p>
        </p:txBody>
      </p:sp>
      <p:sp>
        <p:nvSpPr>
          <p:cNvPr id="3" name="Content Placeholder 2">
            <a:extLst>
              <a:ext uri="{FF2B5EF4-FFF2-40B4-BE49-F238E27FC236}">
                <a16:creationId xmlns:a16="http://schemas.microsoft.com/office/drawing/2014/main" id="{E87A375F-5AC9-43F4-4482-211AA06E53AC}"/>
              </a:ext>
            </a:extLst>
          </p:cNvPr>
          <p:cNvSpPr>
            <a:spLocks noGrp="1"/>
          </p:cNvSpPr>
          <p:nvPr>
            <p:ph idx="1"/>
          </p:nvPr>
        </p:nvSpPr>
        <p:spPr>
          <a:xfrm>
            <a:off x="336885" y="1280160"/>
            <a:ext cx="11482938" cy="5441315"/>
          </a:xfrm>
        </p:spPr>
        <p:txBody>
          <a:bodyPr>
            <a:noAutofit/>
          </a:bodyPr>
          <a:lstStyle/>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Case</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 numeric identifier for each record. Each country appears to have a unique case number.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2.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CC3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three-letter country code, following the standard ISO alpha-3 country codes.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3.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Country</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name of the country to which the data row corresponds.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4.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Year</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year for which the data is recorded.</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5.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Banking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banking crisis. '0' indicates no crisis, while '1’ indicates a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6.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Banking_Crisis_Notes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Additional notes or explanations about the banking crisis, if any.</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7.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Systemic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a systemic crisis occurred in that year. Similar to 'Banking Crisis', '0' likely means no systemic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8.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Gold Standard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on the gold standard in that year.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9.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exch_usd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exchange rate of the country's currency to the US dollar.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10.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exch_usd_alt1, exch_usd_alt2, exch_usd_alt3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Alternative exchange rate values, representing different sources or calculation methods.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Conversion to USD notes/sources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Notes or sources for the exchange rate data.</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900" dirty="0"/>
          </a:p>
        </p:txBody>
      </p:sp>
      <p:sp>
        <p:nvSpPr>
          <p:cNvPr id="4" name="Footer Placeholder 3">
            <a:extLst>
              <a:ext uri="{FF2B5EF4-FFF2-40B4-BE49-F238E27FC236}">
                <a16:creationId xmlns:a16="http://schemas.microsoft.com/office/drawing/2014/main" id="{537845DE-0F84-4FC8-17D8-9F230A256F86}"/>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CAFE8D3E-75E2-6DE7-E8C3-FEB1478FC231}"/>
              </a:ext>
            </a:extLst>
          </p:cNvPr>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986107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B4942-7F77-E5D5-811B-37B9099A2434}"/>
              </a:ext>
            </a:extLst>
          </p:cNvPr>
          <p:cNvSpPr>
            <a:spLocks noGrp="1"/>
          </p:cNvSpPr>
          <p:nvPr>
            <p:ph type="title"/>
          </p:nvPr>
        </p:nvSpPr>
        <p:spPr>
          <a:xfrm>
            <a:off x="838200" y="0"/>
            <a:ext cx="10515600" cy="1325563"/>
          </a:xfrm>
        </p:spPr>
        <p:txBody>
          <a:bodyPr>
            <a:normAutofit/>
          </a:bodyPr>
          <a:lstStyle/>
          <a:p>
            <a:r>
              <a:rPr lang="en-US" sz="4000" b="1" dirty="0">
                <a:latin typeface="Arial Narrow" panose="020B0606020202030204" pitchFamily="34" charset="0"/>
              </a:rPr>
              <a:t>Column/Feature Details of the Dataset (continued)</a:t>
            </a:r>
            <a:endParaRPr lang="en-IN" sz="4000" dirty="0"/>
          </a:p>
        </p:txBody>
      </p:sp>
      <p:sp>
        <p:nvSpPr>
          <p:cNvPr id="3" name="Content Placeholder 2">
            <a:extLst>
              <a:ext uri="{FF2B5EF4-FFF2-40B4-BE49-F238E27FC236}">
                <a16:creationId xmlns:a16="http://schemas.microsoft.com/office/drawing/2014/main" id="{A4A1CD17-5A34-048D-318C-742A551FC2DE}"/>
              </a:ext>
            </a:extLst>
          </p:cNvPr>
          <p:cNvSpPr>
            <a:spLocks noGrp="1"/>
          </p:cNvSpPr>
          <p:nvPr>
            <p:ph idx="1"/>
          </p:nvPr>
        </p:nvSpPr>
        <p:spPr>
          <a:xfrm>
            <a:off x="413885" y="1184385"/>
            <a:ext cx="11405937" cy="5313144"/>
          </a:xfrm>
        </p:spPr>
        <p:txBody>
          <a:bodyPr>
            <a:noAutofit/>
          </a:bodyPr>
          <a:lstStyle/>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12.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Domestic Debt In 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on domestic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13.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Domestic_Debt</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_ Notes/Sources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or sources regarding the domestic debt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14.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SOVEREIGN EXTERNAL DEBT 1 and 2</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or restructuring of sovereign external debt. Different columns might represent different categorizations or time periods of the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15.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Defaults_External_Notes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about external debt defaults.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16.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GDP_Weighted_default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 measure of defaults weighted by GDP, possibly indicating the severity or impact of the default relative to the country's economy.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17.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Annual percentages of average consumer prices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The annual inflation rate, measured as the percentage change in consumer prices.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18.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Independence</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independent in that year.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19.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Currency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currency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20.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an inflation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
        <p:nvSpPr>
          <p:cNvPr id="4" name="Footer Placeholder 3">
            <a:extLst>
              <a:ext uri="{FF2B5EF4-FFF2-40B4-BE49-F238E27FC236}">
                <a16:creationId xmlns:a16="http://schemas.microsoft.com/office/drawing/2014/main" id="{2FA89FA7-70C8-E69A-AACE-2B685FEBC878}"/>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AFFE5706-6024-65D7-2A40-8008EAEA9056}"/>
              </a:ext>
            </a:extLst>
          </p:cNvPr>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980105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b="1" dirty="0">
                <a:latin typeface="Arial Narrow" panose="020B0606020202030204" pitchFamily="34" charset="0"/>
              </a:rPr>
              <a:t>Review of Related Literature</a:t>
            </a:r>
            <a:endParaRPr lang="en-IN" b="1" dirty="0">
              <a:latin typeface="Arial Narrow" panose="020B0606020202030204" pitchFamily="34" charset="0"/>
            </a:endParaRPr>
          </a:p>
        </p:txBody>
      </p:sp>
      <p:sp>
        <p:nvSpPr>
          <p:cNvPr id="3" name="Content Placeholder 2"/>
          <p:cNvSpPr>
            <a:spLocks noGrp="1"/>
          </p:cNvSpPr>
          <p:nvPr>
            <p:ph idx="1"/>
          </p:nvPr>
        </p:nvSpPr>
        <p:spPr>
          <a:xfrm>
            <a:off x="282341" y="1461294"/>
            <a:ext cx="11627318" cy="4895850"/>
          </a:xfrm>
        </p:spPr>
        <p:txBody>
          <a:bodyPr>
            <a:normAutofit fontScale="77500" lnSpcReduction="20000"/>
          </a:bodyPr>
          <a:lstStyle/>
          <a:p>
            <a:r>
              <a:rPr lang="en-US" sz="6000" i="1" dirty="0">
                <a:latin typeface="Arial Narrow" panose="020B0606020202030204" pitchFamily="34" charset="0"/>
              </a:rPr>
              <a:t>Base Paper:</a:t>
            </a:r>
          </a:p>
          <a:p>
            <a:pPr marL="0" indent="0">
              <a:buNone/>
            </a:pPr>
            <a:endParaRPr lang="en-US" sz="6000" b="1" dirty="0">
              <a:latin typeface="Arial Narrow" panose="020B0606020202030204" pitchFamily="34" charset="0"/>
            </a:endParaRPr>
          </a:p>
          <a:p>
            <a:r>
              <a:rPr lang="en-US" sz="4500" b="0" i="0" dirty="0">
                <a:solidFill>
                  <a:srgbClr val="0F0F0F"/>
                </a:solidFill>
                <a:effectLst/>
                <a:latin typeface="Söhne"/>
              </a:rPr>
              <a:t>Harvard Business School. (2018). </a:t>
            </a:r>
            <a:r>
              <a:rPr lang="en-US" sz="4500" b="0" i="1" dirty="0">
                <a:solidFill>
                  <a:srgbClr val="0F0F0F"/>
                </a:solidFill>
                <a:effectLst/>
                <a:latin typeface="Söhne"/>
              </a:rPr>
              <a:t>2018 Financial Risk and Regulation Survey: Behavioral Finance &amp; Financial Stability</a:t>
            </a:r>
            <a:r>
              <a:rPr lang="en-US" sz="4500" b="0" i="0" dirty="0">
                <a:solidFill>
                  <a:srgbClr val="0F0F0F"/>
                </a:solidFill>
                <a:effectLst/>
                <a:latin typeface="Söhne"/>
              </a:rPr>
              <a:t>. Retrieved from </a:t>
            </a:r>
            <a:r>
              <a:rPr lang="en-US" sz="4500" b="0" i="0" u="none" strike="noStrike" dirty="0">
                <a:effectLst/>
                <a:latin typeface="Söhne"/>
                <a:hlinkClick r:id="rId2"/>
              </a:rPr>
              <a:t>Link to Website</a:t>
            </a:r>
            <a:endParaRPr lang="en-US" sz="4500" dirty="0"/>
          </a:p>
          <a:p>
            <a:r>
              <a:rPr lang="en-US" sz="4500" dirty="0">
                <a:hlinkClick r:id="rId3"/>
              </a:rPr>
              <a:t>Link to Paper</a:t>
            </a:r>
            <a:endParaRPr lang="en-US" sz="4500" dirty="0"/>
          </a:p>
          <a:p>
            <a:r>
              <a:rPr lang="en-US" sz="4500" dirty="0"/>
              <a:t>The 2018 survey by Harvard Business School identified key financial risks, including asset price inflation, high debt, and regulatory concerns post-2007/2009 crisis, emphasizing the need for financial stability.</a:t>
            </a:r>
            <a:endParaRPr lang="en-US" dirty="0"/>
          </a:p>
          <a:p>
            <a:endParaRPr lang="en-US" dirty="0"/>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dirty="0"/>
          </a:p>
        </p:txBody>
      </p:sp>
    </p:spTree>
    <p:extLst>
      <p:ext uri="{BB962C8B-B14F-4D97-AF65-F5344CB8AC3E}">
        <p14:creationId xmlns:p14="http://schemas.microsoft.com/office/powerpoint/2010/main" val="3134518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69714-3C06-6D6C-EA42-DB1C6A4392A7}"/>
              </a:ext>
            </a:extLst>
          </p:cNvPr>
          <p:cNvSpPr>
            <a:spLocks noGrp="1"/>
          </p:cNvSpPr>
          <p:nvPr>
            <p:ph type="title"/>
          </p:nvPr>
        </p:nvSpPr>
        <p:spPr>
          <a:xfrm>
            <a:off x="770823" y="18255"/>
            <a:ext cx="10515600" cy="1325563"/>
          </a:xfrm>
        </p:spPr>
        <p:txBody>
          <a:bodyPr/>
          <a:lstStyle/>
          <a:p>
            <a:r>
              <a:rPr lang="en-US" b="1" dirty="0">
                <a:latin typeface="Arial Narrow" panose="020B0606020202030204" pitchFamily="34" charset="0"/>
              </a:rPr>
              <a:t>Review of Related Literature</a:t>
            </a:r>
            <a:endParaRPr lang="en-IN" dirty="0"/>
          </a:p>
        </p:txBody>
      </p:sp>
      <p:sp>
        <p:nvSpPr>
          <p:cNvPr id="3" name="Content Placeholder 2">
            <a:extLst>
              <a:ext uri="{FF2B5EF4-FFF2-40B4-BE49-F238E27FC236}">
                <a16:creationId xmlns:a16="http://schemas.microsoft.com/office/drawing/2014/main" id="{2708C6C1-C0CA-8C67-7C79-1B6BE0C6CA1C}"/>
              </a:ext>
            </a:extLst>
          </p:cNvPr>
          <p:cNvSpPr>
            <a:spLocks noGrp="1"/>
          </p:cNvSpPr>
          <p:nvPr>
            <p:ph idx="1"/>
          </p:nvPr>
        </p:nvSpPr>
        <p:spPr>
          <a:xfrm>
            <a:off x="96253" y="1168399"/>
            <a:ext cx="12012328" cy="5293361"/>
          </a:xfrm>
        </p:spPr>
        <p:txBody>
          <a:bodyPr>
            <a:normAutofit fontScale="40000" lnSpcReduction="20000"/>
          </a:bodyPr>
          <a:lstStyle/>
          <a:p>
            <a:r>
              <a:rPr lang="en-US" sz="4700" i="1" dirty="0"/>
              <a:t>Paper I:</a:t>
            </a:r>
          </a:p>
          <a:p>
            <a:r>
              <a:rPr lang="en-US" sz="4700" b="1" dirty="0"/>
              <a:t>How optimal cash changed by the global financial crisis? : a multi-country analysis </a:t>
            </a:r>
          </a:p>
          <a:p>
            <a:r>
              <a:rPr lang="en-US" sz="4700" b="0" i="0" dirty="0" err="1">
                <a:solidFill>
                  <a:srgbClr val="0F0F0F"/>
                </a:solidFill>
                <a:effectLst/>
              </a:rPr>
              <a:t>Tekin</a:t>
            </a:r>
            <a:r>
              <a:rPr lang="en-US" sz="4700" b="0" i="0" dirty="0">
                <a:solidFill>
                  <a:srgbClr val="0F0F0F"/>
                </a:solidFill>
                <a:effectLst/>
              </a:rPr>
              <a:t>, H. (2020). How optimal cash changed by the global financial crisis? A multi-country analysis. </a:t>
            </a:r>
            <a:r>
              <a:rPr lang="en-US" sz="4700" b="0" i="1" dirty="0">
                <a:solidFill>
                  <a:srgbClr val="0F0F0F"/>
                </a:solidFill>
                <a:effectLst/>
              </a:rPr>
              <a:t>Economics and Business Letters</a:t>
            </a:r>
            <a:r>
              <a:rPr lang="en-US" sz="4700" b="0" i="0" dirty="0">
                <a:solidFill>
                  <a:srgbClr val="0F0F0F"/>
                </a:solidFill>
                <a:effectLst/>
              </a:rPr>
              <a:t>, 9(2), 114-123</a:t>
            </a:r>
            <a:r>
              <a:rPr lang="en-US" sz="4700" dirty="0">
                <a:solidFill>
                  <a:srgbClr val="0F0F0F"/>
                </a:solidFill>
              </a:rPr>
              <a:t> - </a:t>
            </a:r>
            <a:r>
              <a:rPr lang="en-US" sz="4700" b="0" i="0" u="none" strike="noStrike" dirty="0">
                <a:effectLst/>
                <a:hlinkClick r:id="rId2"/>
              </a:rPr>
              <a:t>https://ideas.repec.org/a/ove/journl/aid14231.html</a:t>
            </a:r>
            <a:endParaRPr lang="en-US" sz="4700" b="0" i="0" u="none" strike="noStrike" dirty="0">
              <a:effectLst/>
            </a:endParaRPr>
          </a:p>
          <a:p>
            <a:r>
              <a:rPr lang="en-US" sz="4700" dirty="0">
                <a:solidFill>
                  <a:schemeClr val="accent1">
                    <a:lumMod val="75000"/>
                  </a:schemeClr>
                </a:solidFill>
                <a:hlinkClick r:id="rId3"/>
              </a:rPr>
              <a:t>Link to Paper</a:t>
            </a:r>
            <a:endParaRPr lang="en-US" sz="4700" b="0" i="0" u="none" strike="noStrike" dirty="0">
              <a:effectLst/>
            </a:endParaRPr>
          </a:p>
          <a:p>
            <a:r>
              <a:rPr lang="en-US" sz="4700" dirty="0"/>
              <a:t>This paper examines the effects of the global financial crisis on optimal cash holdings across multiple countries, analyzing the shift in cash management strategies in response to the crisis.</a:t>
            </a:r>
          </a:p>
          <a:p>
            <a:pPr marL="0" indent="0">
              <a:buNone/>
            </a:pPr>
            <a:endParaRPr lang="en-US" sz="4700" dirty="0">
              <a:solidFill>
                <a:schemeClr val="accent1">
                  <a:lumMod val="75000"/>
                </a:schemeClr>
              </a:solidFill>
            </a:endParaRPr>
          </a:p>
          <a:p>
            <a:r>
              <a:rPr lang="en-US" sz="4700" i="1" dirty="0"/>
              <a:t>Paper II:</a:t>
            </a:r>
          </a:p>
          <a:p>
            <a:r>
              <a:rPr lang="en-US" sz="4700" b="1" i="0" dirty="0">
                <a:effectLst/>
              </a:rPr>
              <a:t>Global Financial Development Report 2019/2020: Bank Regulation and Supervision a Decade after the Global Financial Crisis</a:t>
            </a:r>
          </a:p>
          <a:p>
            <a:r>
              <a:rPr lang="en-US" sz="4700" b="0" i="0" dirty="0">
                <a:solidFill>
                  <a:srgbClr val="0F0F0F"/>
                </a:solidFill>
                <a:effectLst/>
              </a:rPr>
              <a:t>World Bank. (2020). </a:t>
            </a:r>
            <a:r>
              <a:rPr lang="en-US" sz="4700" b="0" i="1" dirty="0">
                <a:solidFill>
                  <a:srgbClr val="0F0F0F"/>
                </a:solidFill>
                <a:effectLst/>
              </a:rPr>
              <a:t>Global Financial Development Report 2019/2020: Bank Regulation and Supervision a Decade after the Global Financial Crisis</a:t>
            </a:r>
            <a:r>
              <a:rPr lang="en-US" sz="4700" b="0" i="0" dirty="0">
                <a:solidFill>
                  <a:srgbClr val="0F0F0F"/>
                </a:solidFill>
                <a:effectLst/>
              </a:rPr>
              <a:t>. World Bank. Retrieved from </a:t>
            </a:r>
            <a:r>
              <a:rPr lang="en-US" sz="4700" b="0" i="0" dirty="0">
                <a:solidFill>
                  <a:srgbClr val="0F0F0F"/>
                </a:solidFill>
                <a:effectLst/>
                <a:hlinkClick r:id="rId4"/>
              </a:rPr>
              <a:t>https://doi.org/10.1596/978-1-4648-1447-1</a:t>
            </a:r>
            <a:endParaRPr lang="en-US" sz="4700" b="0" i="0" dirty="0">
              <a:solidFill>
                <a:srgbClr val="0F0F0F"/>
              </a:solidFill>
              <a:effectLst/>
            </a:endParaRPr>
          </a:p>
          <a:p>
            <a:r>
              <a:rPr lang="en-US" sz="4700" dirty="0">
                <a:solidFill>
                  <a:schemeClr val="accent1">
                    <a:lumMod val="75000"/>
                  </a:schemeClr>
                </a:solidFill>
                <a:hlinkClick r:id="rId5"/>
              </a:rPr>
              <a:t>Link to Paper</a:t>
            </a:r>
            <a:endParaRPr lang="en-US" sz="4700" b="0" i="0" dirty="0">
              <a:solidFill>
                <a:srgbClr val="0F0F0F"/>
              </a:solidFill>
              <a:effectLst/>
            </a:endParaRPr>
          </a:p>
          <a:p>
            <a:r>
              <a:rPr lang="en-US" sz="4700" dirty="0"/>
              <a:t>This paper provides an analysis of the evolution of bank regulation and supervision since the global financial crisis, focusing on the developments and outcomes a decade later.</a:t>
            </a:r>
          </a:p>
          <a:p>
            <a:pPr marL="0" indent="0">
              <a:buNone/>
            </a:pPr>
            <a:endParaRPr lang="en-US" dirty="0">
              <a:solidFill>
                <a:schemeClr val="accent1">
                  <a:lumMod val="75000"/>
                </a:schemeClr>
              </a:solidFill>
            </a:endParaRPr>
          </a:p>
          <a:p>
            <a:pPr marL="0" indent="0">
              <a:buNone/>
            </a:pPr>
            <a:endParaRPr lang="en-IN" dirty="0"/>
          </a:p>
        </p:txBody>
      </p:sp>
      <p:sp>
        <p:nvSpPr>
          <p:cNvPr id="4" name="Footer Placeholder 3">
            <a:extLst>
              <a:ext uri="{FF2B5EF4-FFF2-40B4-BE49-F238E27FC236}">
                <a16:creationId xmlns:a16="http://schemas.microsoft.com/office/drawing/2014/main" id="{64B17C33-DEDA-1F12-B1E7-CB551ADAEA29}"/>
              </a:ext>
            </a:extLst>
          </p:cNvPr>
          <p:cNvSpPr>
            <a:spLocks noGrp="1"/>
          </p:cNvSpPr>
          <p:nvPr>
            <p:ph type="ftr" sz="quarter" idx="11"/>
          </p:nvPr>
        </p:nvSpPr>
        <p:spPr/>
        <p:txBody>
          <a:bodyPr/>
          <a:lstStyle/>
          <a:p>
            <a:r>
              <a:rPr lang="en-IN" dirty="0"/>
              <a:t>CS6501 Project I PGP, ICER, VIT Bangalore</a:t>
            </a:r>
          </a:p>
        </p:txBody>
      </p:sp>
      <p:sp>
        <p:nvSpPr>
          <p:cNvPr id="5" name="Slide Number Placeholder 4">
            <a:extLst>
              <a:ext uri="{FF2B5EF4-FFF2-40B4-BE49-F238E27FC236}">
                <a16:creationId xmlns:a16="http://schemas.microsoft.com/office/drawing/2014/main" id="{2388A845-9962-8FCD-1BD9-28E5B9A4BFBC}"/>
              </a:ext>
            </a:extLst>
          </p:cNvPr>
          <p:cNvSpPr>
            <a:spLocks noGrp="1"/>
          </p:cNvSpPr>
          <p:nvPr>
            <p:ph type="sldNum" sz="quarter" idx="12"/>
          </p:nvPr>
        </p:nvSpPr>
        <p:spPr/>
        <p:txBody>
          <a:bodyPr/>
          <a:lstStyle/>
          <a:p>
            <a:fld id="{90EDC104-672A-4227-99C4-0E2CC007FDBA}" type="slidenum">
              <a:rPr lang="en-IN" smtClean="0"/>
              <a:t>7</a:t>
            </a:fld>
            <a:endParaRPr lang="en-IN" dirty="0"/>
          </a:p>
        </p:txBody>
      </p:sp>
    </p:spTree>
    <p:extLst>
      <p:ext uri="{BB962C8B-B14F-4D97-AF65-F5344CB8AC3E}">
        <p14:creationId xmlns:p14="http://schemas.microsoft.com/office/powerpoint/2010/main" val="3913912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71A8207-817C-4301-1766-A0F8C2B045C5}"/>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Review of Related Literature</a:t>
            </a:r>
            <a:endParaRPr lang="en-IN" dirty="0"/>
          </a:p>
        </p:txBody>
      </p:sp>
      <p:sp>
        <p:nvSpPr>
          <p:cNvPr id="3" name="Content Placeholder 2">
            <a:extLst>
              <a:ext uri="{FF2B5EF4-FFF2-40B4-BE49-F238E27FC236}">
                <a16:creationId xmlns:a16="http://schemas.microsoft.com/office/drawing/2014/main" id="{93AEA9DF-09E9-9834-4E84-C17C3244ACBF}"/>
              </a:ext>
            </a:extLst>
          </p:cNvPr>
          <p:cNvSpPr>
            <a:spLocks noGrp="1"/>
          </p:cNvSpPr>
          <p:nvPr>
            <p:ph idx="1"/>
          </p:nvPr>
        </p:nvSpPr>
        <p:spPr>
          <a:xfrm>
            <a:off x="163629" y="1212783"/>
            <a:ext cx="11906451" cy="5238817"/>
          </a:xfrm>
        </p:spPr>
        <p:txBody>
          <a:bodyPr>
            <a:normAutofit fontScale="70000" lnSpcReduction="20000"/>
          </a:bodyPr>
          <a:lstStyle/>
          <a:p>
            <a:r>
              <a:rPr lang="en-US" i="1" dirty="0"/>
              <a:t>Paper III:</a:t>
            </a:r>
          </a:p>
          <a:p>
            <a:r>
              <a:rPr lang="en-US" b="1" i="0" dirty="0">
                <a:effectLst/>
              </a:rPr>
              <a:t>Corporate risk disclosures in turbulent times: An international analysis in the global financial crisis</a:t>
            </a:r>
          </a:p>
          <a:p>
            <a:r>
              <a:rPr lang="en-US" b="0" i="0" dirty="0" err="1">
                <a:solidFill>
                  <a:srgbClr val="0F0F0F"/>
                </a:solidFill>
                <a:effectLst/>
              </a:rPr>
              <a:t>Lajili</a:t>
            </a:r>
            <a:r>
              <a:rPr lang="en-US" b="0" i="0" dirty="0">
                <a:solidFill>
                  <a:srgbClr val="0F0F0F"/>
                </a:solidFill>
                <a:effectLst/>
              </a:rPr>
              <a:t>, K., Li, T. M., </a:t>
            </a:r>
            <a:r>
              <a:rPr lang="en-US" b="0" i="0" dirty="0" err="1">
                <a:solidFill>
                  <a:srgbClr val="0F0F0F"/>
                </a:solidFill>
                <a:effectLst/>
              </a:rPr>
              <a:t>Chourou</a:t>
            </a:r>
            <a:r>
              <a:rPr lang="en-US" b="0" i="0" dirty="0">
                <a:solidFill>
                  <a:srgbClr val="0F0F0F"/>
                </a:solidFill>
                <a:effectLst/>
              </a:rPr>
              <a:t>, L., </a:t>
            </a:r>
            <a:r>
              <a:rPr lang="en-US" b="0" i="0" dirty="0" err="1">
                <a:solidFill>
                  <a:srgbClr val="0F0F0F"/>
                </a:solidFill>
                <a:effectLst/>
              </a:rPr>
              <a:t>Dobler</a:t>
            </a:r>
            <a:r>
              <a:rPr lang="en-US" b="0" i="0" dirty="0">
                <a:solidFill>
                  <a:srgbClr val="0F0F0F"/>
                </a:solidFill>
                <a:effectLst/>
              </a:rPr>
              <a:t>, M., &amp; </a:t>
            </a:r>
            <a:r>
              <a:rPr lang="en-US" b="0" i="0" dirty="0" err="1">
                <a:solidFill>
                  <a:srgbClr val="0F0F0F"/>
                </a:solidFill>
                <a:effectLst/>
              </a:rPr>
              <a:t>Zéghal</a:t>
            </a:r>
            <a:r>
              <a:rPr lang="en-US" b="0" i="0" dirty="0">
                <a:solidFill>
                  <a:srgbClr val="0F0F0F"/>
                </a:solidFill>
                <a:effectLst/>
              </a:rPr>
              <a:t>, D. (2023). Corporate risk disclosures in turbulent times: An international analysis in the global financial crisis. </a:t>
            </a:r>
            <a:r>
              <a:rPr lang="en-US" b="0" i="1" dirty="0">
                <a:solidFill>
                  <a:srgbClr val="0F0F0F"/>
                </a:solidFill>
                <a:effectLst/>
              </a:rPr>
              <a:t>Journal of International Financial Management &amp; Accounting</a:t>
            </a:r>
            <a:r>
              <a:rPr lang="en-US" b="0" i="0" dirty="0">
                <a:solidFill>
                  <a:srgbClr val="0F0F0F"/>
                </a:solidFill>
                <a:effectLst/>
              </a:rPr>
              <a:t>. Retrieved from </a:t>
            </a:r>
            <a:r>
              <a:rPr lang="en-US" b="0" i="0" dirty="0">
                <a:solidFill>
                  <a:srgbClr val="0F0F0F"/>
                </a:solidFill>
                <a:effectLst/>
                <a:hlinkClick r:id="rId2"/>
              </a:rPr>
              <a:t>https://doi.org/10.1111/jifm.12195</a:t>
            </a:r>
            <a:endParaRPr lang="en-US" b="0" i="0" dirty="0">
              <a:solidFill>
                <a:srgbClr val="0F0F0F"/>
              </a:solidFill>
              <a:effectLst/>
            </a:endParaRPr>
          </a:p>
          <a:p>
            <a:r>
              <a:rPr lang="en-US" dirty="0">
                <a:solidFill>
                  <a:schemeClr val="accent1">
                    <a:lumMod val="75000"/>
                  </a:schemeClr>
                </a:solidFill>
                <a:hlinkClick r:id="rId3"/>
              </a:rPr>
              <a:t>Link to Paper</a:t>
            </a:r>
            <a:endParaRPr lang="en-US" b="0" i="0" dirty="0">
              <a:solidFill>
                <a:srgbClr val="0F0F0F"/>
              </a:solidFill>
              <a:effectLst/>
            </a:endParaRPr>
          </a:p>
          <a:p>
            <a:r>
              <a:rPr lang="en-US" i="0" dirty="0">
                <a:effectLst/>
              </a:rPr>
              <a:t>This paper examines international corporate risk disclosure practices during the global financial crisis, analyzing how companies communicated risk in an uncertain financial landscape.</a:t>
            </a:r>
          </a:p>
          <a:p>
            <a:pPr marL="0" indent="0">
              <a:buNone/>
            </a:pPr>
            <a:endParaRPr lang="en-US" b="1" dirty="0">
              <a:solidFill>
                <a:schemeClr val="accent1">
                  <a:lumMod val="75000"/>
                </a:schemeClr>
              </a:solidFill>
            </a:endParaRPr>
          </a:p>
          <a:p>
            <a:r>
              <a:rPr lang="en-US" i="1" dirty="0"/>
              <a:t>Paper IV:</a:t>
            </a:r>
          </a:p>
          <a:p>
            <a:r>
              <a:rPr lang="en-US" b="1" i="0" dirty="0">
                <a:effectLst/>
              </a:rPr>
              <a:t>COVID-19’s disasters are perilous than Global Financial Crisis: A rumor or fact?</a:t>
            </a:r>
          </a:p>
          <a:p>
            <a:r>
              <a:rPr lang="en-US" b="0" i="0" dirty="0">
                <a:solidFill>
                  <a:srgbClr val="0F0F0F"/>
                </a:solidFill>
                <a:effectLst/>
              </a:rPr>
              <a:t>Shehzad, K., Xiaoxing, L., &amp; </a:t>
            </a:r>
            <a:r>
              <a:rPr lang="en-US" b="0" i="0" dirty="0" err="1">
                <a:solidFill>
                  <a:srgbClr val="0F0F0F"/>
                </a:solidFill>
                <a:effectLst/>
              </a:rPr>
              <a:t>Kazouz</a:t>
            </a:r>
            <a:r>
              <a:rPr lang="en-US" b="0" i="0" dirty="0">
                <a:solidFill>
                  <a:srgbClr val="0F0F0F"/>
                </a:solidFill>
                <a:effectLst/>
              </a:rPr>
              <a:t>, H. (2020). COVID-19’s disasters are perilous than Global Financial Crisis: A rumor or fact? </a:t>
            </a:r>
            <a:r>
              <a:rPr lang="en-US" b="0" i="1" dirty="0">
                <a:solidFill>
                  <a:srgbClr val="0F0F0F"/>
                </a:solidFill>
                <a:effectLst/>
              </a:rPr>
              <a:t>Finance Research Letters</a:t>
            </a:r>
            <a:r>
              <a:rPr lang="en-US" b="0" i="0" dirty="0">
                <a:solidFill>
                  <a:srgbClr val="0F0F0F"/>
                </a:solidFill>
                <a:effectLst/>
              </a:rPr>
              <a:t>, 36. Retrieved from </a:t>
            </a:r>
            <a:r>
              <a:rPr lang="en-US" b="0" i="0" dirty="0">
                <a:solidFill>
                  <a:srgbClr val="0F0F0F"/>
                </a:solidFill>
                <a:effectLst/>
                <a:hlinkClick r:id="rId4"/>
              </a:rPr>
              <a:t>https://www.sciencedirect.com/science/article/pii/S1544612320305249</a:t>
            </a:r>
            <a:endParaRPr lang="en-US" b="0" i="0" dirty="0">
              <a:solidFill>
                <a:srgbClr val="0F0F0F"/>
              </a:solidFill>
              <a:effectLst/>
            </a:endParaRPr>
          </a:p>
          <a:p>
            <a:r>
              <a:rPr lang="en-US" dirty="0">
                <a:solidFill>
                  <a:schemeClr val="accent1">
                    <a:lumMod val="75000"/>
                  </a:schemeClr>
                </a:solidFill>
                <a:hlinkClick r:id="rId4"/>
              </a:rPr>
              <a:t>Link to Paper</a:t>
            </a:r>
            <a:endParaRPr lang="en-US" b="1" i="0" dirty="0">
              <a:effectLst/>
            </a:endParaRPr>
          </a:p>
          <a:p>
            <a:r>
              <a:rPr lang="en-US" dirty="0"/>
              <a:t>This paper analyzes the comparative impact of the COVID-19 pandemic and the Global Financial Crisis, investigating whether the disruptions caused by the pandemic are indeed more severe than those of the financial crisis.</a:t>
            </a:r>
            <a:endParaRPr lang="en-IN" dirty="0"/>
          </a:p>
          <a:p>
            <a:pPr marL="0" indent="0">
              <a:buNone/>
            </a:pPr>
            <a:endParaRPr lang="en-IN" dirty="0"/>
          </a:p>
        </p:txBody>
      </p:sp>
      <p:sp>
        <p:nvSpPr>
          <p:cNvPr id="4" name="Footer Placeholder 3">
            <a:extLst>
              <a:ext uri="{FF2B5EF4-FFF2-40B4-BE49-F238E27FC236}">
                <a16:creationId xmlns:a16="http://schemas.microsoft.com/office/drawing/2014/main" id="{C24C6EBC-ED6F-4BDD-5BEC-BC5879A25289}"/>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C4388AE1-B9D5-B914-15E8-E1A715DF3404}"/>
              </a:ext>
            </a:extLst>
          </p:cNvPr>
          <p:cNvSpPr>
            <a:spLocks noGrp="1"/>
          </p:cNvSpPr>
          <p:nvPr>
            <p:ph type="sldNum" sz="quarter" idx="12"/>
          </p:nvPr>
        </p:nvSpPr>
        <p:spPr/>
        <p:txBody>
          <a:bodyPr/>
          <a:lstStyle/>
          <a:p>
            <a:fld id="{90EDC104-672A-4227-99C4-0E2CC007FDBA}" type="slidenum">
              <a:rPr lang="en-IN" smtClean="0"/>
              <a:t>8</a:t>
            </a:fld>
            <a:endParaRPr lang="en-IN"/>
          </a:p>
        </p:txBody>
      </p:sp>
    </p:spTree>
    <p:extLst>
      <p:ext uri="{BB962C8B-B14F-4D97-AF65-F5344CB8AC3E}">
        <p14:creationId xmlns:p14="http://schemas.microsoft.com/office/powerpoint/2010/main" val="3143209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397"/>
            <a:ext cx="10515600" cy="1325563"/>
          </a:xfrm>
        </p:spPr>
        <p:txBody>
          <a:bodyPr/>
          <a:lstStyle/>
          <a:p>
            <a:r>
              <a:rPr lang="en-US" b="1" dirty="0">
                <a:latin typeface="Arial Narrow" panose="020B0606020202030204" pitchFamily="34" charset="0"/>
              </a:rPr>
              <a:t>Impact of the Proposed Research </a:t>
            </a:r>
            <a:endParaRPr lang="en-IN" b="1" dirty="0">
              <a:latin typeface="Arial Narrow" panose="020B0606020202030204" pitchFamily="34" charset="0"/>
            </a:endParaRPr>
          </a:p>
        </p:txBody>
      </p:sp>
      <p:sp>
        <p:nvSpPr>
          <p:cNvPr id="3" name="Content Placeholder 2"/>
          <p:cNvSpPr>
            <a:spLocks noGrp="1"/>
          </p:cNvSpPr>
          <p:nvPr>
            <p:ph idx="1"/>
          </p:nvPr>
        </p:nvSpPr>
        <p:spPr>
          <a:xfrm>
            <a:off x="200526" y="1273893"/>
            <a:ext cx="11790947" cy="5265019"/>
          </a:xfrm>
        </p:spPr>
        <p:txBody>
          <a:bodyPr>
            <a:noAutofit/>
          </a:bodyPr>
          <a:lstStyle/>
          <a:p>
            <a:r>
              <a:rPr lang="en-IN" sz="2400" kern="100" dirty="0">
                <a:effectLst/>
                <a:latin typeface="Calibri" panose="020F0502020204030204" pitchFamily="34" charset="0"/>
                <a:ea typeface="Calibri" panose="020F0502020204030204" pitchFamily="34" charset="0"/>
                <a:cs typeface="Times New Roman" panose="02020603050405020304" pitchFamily="18" charset="0"/>
              </a:rPr>
              <a:t>This research can provide valuable insights for governments and policymakers. By understanding the precursors to financial crises, policies can be developed to mitigate such risks. This could include regulatory changes, fiscal policies, or monetary policies aimed at stabilizing economies.</a:t>
            </a:r>
          </a:p>
          <a:p>
            <a:r>
              <a:rPr lang="en-IN" sz="2400" kern="100" dirty="0">
                <a:effectLst/>
                <a:latin typeface="Calibri" panose="020F0502020204030204" pitchFamily="34" charset="0"/>
                <a:ea typeface="Calibri" panose="020F0502020204030204" pitchFamily="34" charset="0"/>
                <a:cs typeface="Times New Roman" panose="02020603050405020304" pitchFamily="18" charset="0"/>
              </a:rPr>
              <a:t>Investors, both individual and institutional, can benefit from the predictive insights of this research. Understanding the likelihood of a financial crisis can influence investment strategies, asset allocation, and risk assessment, leading to more informed decision-making.</a:t>
            </a:r>
          </a:p>
          <a:p>
            <a:r>
              <a:rPr lang="en-IN" sz="2400" kern="100" dirty="0">
                <a:effectLst/>
                <a:latin typeface="Calibri" panose="020F0502020204030204" pitchFamily="34" charset="0"/>
                <a:ea typeface="Calibri" panose="020F0502020204030204" pitchFamily="34" charset="0"/>
                <a:cs typeface="Times New Roman" panose="02020603050405020304" pitchFamily="18" charset="0"/>
              </a:rPr>
              <a:t>In the event of a financial crisis, this research can provide a framework for effective response and management strategies, helping to minimize the economic and social fallout.</a:t>
            </a:r>
          </a:p>
          <a:p>
            <a:r>
              <a:rPr lang="en-IN" sz="2400" kern="100" dirty="0">
                <a:latin typeface="Calibri" panose="020F0502020204030204" pitchFamily="34" charset="0"/>
                <a:ea typeface="Calibri" panose="020F0502020204030204" pitchFamily="34" charset="0"/>
                <a:cs typeface="Times New Roman" panose="02020603050405020304" pitchFamily="18" charset="0"/>
              </a:rPr>
              <a:t>P</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redictive analytics in this research can spur technological advancements in financial analysis and forecasting, leading to more sophisticated tools and models for financial data analysis.</a:t>
            </a:r>
          </a:p>
          <a:p>
            <a:pPr marL="0" indent="0">
              <a:buNone/>
            </a:pPr>
            <a:endParaRPr lang="en-IN" sz="2400"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9</a:t>
            </a:fld>
            <a:endParaRPr lang="en-IN" dirty="0"/>
          </a:p>
        </p:txBody>
      </p:sp>
    </p:spTree>
    <p:extLst>
      <p:ext uri="{BB962C8B-B14F-4D97-AF65-F5344CB8AC3E}">
        <p14:creationId xmlns:p14="http://schemas.microsoft.com/office/powerpoint/2010/main" val="112542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443</TotalTime>
  <Words>1336</Words>
  <Application>Microsoft Office PowerPoint</Application>
  <PresentationFormat>Widescreen</PresentationFormat>
  <Paragraphs>100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Narrow</vt:lpstr>
      <vt:lpstr>Calibri</vt:lpstr>
      <vt:lpstr>Calibri Light</vt:lpstr>
      <vt:lpstr>Söhne</vt:lpstr>
      <vt:lpstr>Office Theme</vt:lpstr>
      <vt:lpstr>Project Title: Behavioral Finance Patterns in Predicting Global Financial Crises: An Analytical Approach to Crisis Forecasting  Domain: Economics &amp; Finance </vt:lpstr>
      <vt:lpstr>Problem Statement</vt:lpstr>
      <vt:lpstr>Dataset</vt:lpstr>
      <vt:lpstr>Column/Feature Details of the Dataset</vt:lpstr>
      <vt:lpstr>Column/Feature Details of the Dataset (continued)</vt:lpstr>
      <vt:lpstr>Review of Related Literature</vt:lpstr>
      <vt:lpstr>Review of Related Literature</vt:lpstr>
      <vt:lpstr>Review of Related Literature</vt:lpstr>
      <vt:lpstr>Impact of the Proposed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12</cp:revision>
  <dcterms:created xsi:type="dcterms:W3CDTF">2023-11-15T14:09:37Z</dcterms:created>
  <dcterms:modified xsi:type="dcterms:W3CDTF">2023-11-16T09:37:32Z</dcterms:modified>
</cp:coreProperties>
</file>