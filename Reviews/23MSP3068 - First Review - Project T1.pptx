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1" r:id="rId4"/>
    <p:sldId id="262" r:id="rId5"/>
    <p:sldId id="258" r:id="rId6"/>
    <p:sldId id="268" r:id="rId7"/>
    <p:sldId id="269" r:id="rId8"/>
    <p:sldId id="270" r:id="rId9"/>
    <p:sldId id="260" r:id="rId10"/>
    <p:sldId id="276" r:id="rId11"/>
    <p:sldId id="277" r:id="rId12"/>
    <p:sldId id="275" r:id="rId13"/>
    <p:sldId id="281" r:id="rId14"/>
    <p:sldId id="279" r:id="rId15"/>
    <p:sldId id="283" r:id="rId16"/>
    <p:sldId id="273" r:id="rId17"/>
    <p:sldId id="272" r:id="rId18"/>
    <p:sldId id="271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58BF-5E3A-4811-B791-3537E5F14C31}" type="datetimeFigureOut">
              <a:rPr lang="en-IN" smtClean="0"/>
              <a:t>27-11-2023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1CF65-329B-4FC0-BD81-F7BF02420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2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FEE0-0CD7-45A5-A730-5EC8BDE0D8D9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57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7DE58-FC96-420A-ACEA-15241A896A4C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5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9E9C-B3B6-46FE-A568-B9D577388D42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5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A508-102F-45DB-994A-FCDA0CAE14C8}" type="datetime1">
              <a:rPr lang="en-IN" smtClean="0"/>
              <a:t>27-11-2023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2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C774E-B8A2-4F5C-B5FA-D785A0C05A2E}" type="datetime1">
              <a:rPr lang="en-IN" smtClean="0"/>
              <a:t>27-11-2023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9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70BE-0155-47E7-8509-A88648CCEC82}" type="datetime1">
              <a:rPr lang="en-IN" smtClean="0"/>
              <a:t>27-11-2023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63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DE71-85FA-4296-BD22-FA3717DCA8E2}" type="datetime1">
              <a:rPr lang="en-IN" smtClean="0"/>
              <a:t>27-11-2023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2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EEF0E-D1E3-413E-934B-8549D7D1A21A}" type="datetime1">
              <a:rPr lang="en-IN" smtClean="0"/>
              <a:t>27-11-2023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2768-1913-4B51-9959-F62F8ED684BE}" type="datetime1">
              <a:rPr lang="en-IN" smtClean="0"/>
              <a:t>27-11-2023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653BA-939B-4E91-B3F4-265E71AFADD6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65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F933-5EA4-4E01-9CD8-F0B091D3891D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4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838B7-DBF2-4351-ADC6-B01D4416F11D}" type="datetime1">
              <a:rPr lang="en-IN" smtClean="0"/>
              <a:t>27-11-2023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CS6501 Project I PGP, ICER, VIT Bangalore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C104-672A-4227-99C4-0E2CC007F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1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aggle.com/code/jorgegarciainiguez/global-financial-crisis-analytic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29480"/>
            <a:ext cx="9144000" cy="4124194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Project Title: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Behavioral Finance Patterns in Predicting Global Financial Crises: An Analytical Approach to Crisis Forecasting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</a:b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Domain: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Economics &amp; Finance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 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188" y="5203181"/>
            <a:ext cx="10952813" cy="1655762"/>
          </a:xfrm>
        </p:spPr>
        <p:txBody>
          <a:bodyPr>
            <a:normAutofit/>
          </a:bodyPr>
          <a:lstStyle/>
          <a:p>
            <a:pPr algn="r"/>
            <a:r>
              <a:rPr lang="en-US" sz="2000" b="1" dirty="0">
                <a:solidFill>
                  <a:schemeClr val="tx1"/>
                </a:solidFill>
              </a:rPr>
              <a:t>Register Number: </a:t>
            </a:r>
            <a:r>
              <a:rPr lang="en-US" sz="2000" dirty="0">
                <a:solidFill>
                  <a:schemeClr val="tx1"/>
                </a:solidFill>
              </a:rPr>
              <a:t>23MSP3068</a:t>
            </a:r>
          </a:p>
          <a:p>
            <a:pPr algn="r"/>
            <a:r>
              <a:rPr lang="en-US" sz="2000" b="1" dirty="0">
                <a:solidFill>
                  <a:schemeClr val="tx1"/>
                </a:solidFill>
              </a:rPr>
              <a:t>Name:</a:t>
            </a:r>
            <a:r>
              <a:rPr lang="en-US" sz="2000" dirty="0">
                <a:solidFill>
                  <a:schemeClr val="tx1"/>
                </a:solidFill>
              </a:rPr>
              <a:t> Dha</a:t>
            </a:r>
            <a:r>
              <a:rPr lang="en-US" sz="2000" dirty="0"/>
              <a:t>rshani</a:t>
            </a:r>
            <a:r>
              <a:rPr lang="en-US" sz="2000" dirty="0">
                <a:solidFill>
                  <a:schemeClr val="tx1"/>
                </a:solidFill>
              </a:rPr>
              <a:t> A.</a:t>
            </a:r>
          </a:p>
          <a:p>
            <a:pPr algn="r"/>
            <a:r>
              <a:rPr lang="en-US" sz="2000" b="1" dirty="0">
                <a:solidFill>
                  <a:schemeClr val="tx1"/>
                </a:solidFill>
              </a:rPr>
              <a:t>Date: </a:t>
            </a:r>
            <a:r>
              <a:rPr lang="en-US" sz="2000" dirty="0">
                <a:solidFill>
                  <a:schemeClr val="tx1"/>
                </a:solidFill>
              </a:rPr>
              <a:t>27-11-2023</a:t>
            </a:r>
            <a:endParaRPr lang="en-IN" sz="2000" dirty="0">
              <a:solidFill>
                <a:schemeClr val="tx1"/>
              </a:solidFill>
            </a:endParaRPr>
          </a:p>
          <a:p>
            <a:pPr algn="r"/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0"/>
            <a:ext cx="7621064" cy="16956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27227" y="1816676"/>
            <a:ext cx="3507698" cy="58461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 Narrow" panose="020B0606020202030204" pitchFamily="34" charset="0"/>
              </a:rPr>
              <a:t>First Review</a:t>
            </a:r>
            <a:endParaRPr lang="en-IN" sz="3200" b="1" dirty="0">
              <a:latin typeface="Arial Narrow" panose="020B0606020202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9843" y="4781862"/>
            <a:ext cx="4916773" cy="17950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Arial Narrow" panose="020B0606020202030204" pitchFamily="34" charset="0"/>
              </a:rPr>
              <a:t>Course Code: </a:t>
            </a:r>
            <a:r>
              <a:rPr lang="en-US" dirty="0">
                <a:latin typeface="Arial Narrow" panose="020B0606020202030204" pitchFamily="34" charset="0"/>
              </a:rPr>
              <a:t>CS6510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Course Title:  </a:t>
            </a:r>
            <a:r>
              <a:rPr lang="en-US">
                <a:latin typeface="Arial Narrow" panose="020B0606020202030204" pitchFamily="34" charset="0"/>
              </a:rPr>
              <a:t>Project 1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 Narrow" panose="020B0606020202030204" pitchFamily="34" charset="0"/>
              </a:rPr>
              <a:t>CS6501 Project I , PGP, ICER, VIT Bangalore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70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>
              <a:tabLst>
                <a:tab pos="1528763" algn="l"/>
              </a:tabLst>
            </a:pPr>
            <a:r>
              <a:rPr lang="en-US" b="1" dirty="0">
                <a:latin typeface="Arial Narrow" panose="020B0606020202030204" pitchFamily="34" charset="0"/>
              </a:rPr>
              <a:t>Problem Statement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" y="1462088"/>
            <a:ext cx="11795760" cy="4894262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Söhne"/>
              </a:rPr>
              <a:t>Traditional economic forecasting methods lack the finesse to predict financial crises accurately, missing complex and seasonal trends.</a:t>
            </a:r>
          </a:p>
          <a:p>
            <a:r>
              <a:rPr lang="en-US" b="0" i="0" dirty="0">
                <a:effectLst/>
                <a:latin typeface="Söhne"/>
              </a:rPr>
              <a:t>This study proposes a novel model integrating SARIMAX, for its strength in seasonal analysis, with Neural Networks, adept at uncovering non-linear patterns.</a:t>
            </a:r>
          </a:p>
          <a:p>
            <a:r>
              <a:rPr lang="en-US" b="0" i="0" dirty="0">
                <a:effectLst/>
                <a:latin typeface="Söhne"/>
              </a:rPr>
              <a:t>Incorporating LSTM into predictive analytics to capture sequential dependencies and time-series predictions.</a:t>
            </a:r>
          </a:p>
          <a:p>
            <a:r>
              <a:rPr lang="en-US" b="0" i="0" dirty="0">
                <a:effectLst/>
                <a:latin typeface="Söhne"/>
              </a:rPr>
              <a:t>Aimed at equipping policymakers with timely, actionable insights, this hybrid approach seeks to enhance the precision of crisis prediction, ensuring robust economic defense strategies.</a:t>
            </a:r>
          </a:p>
          <a:p>
            <a:pPr marL="0" indent="0" algn="l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0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Objectives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80161"/>
            <a:ext cx="11866880" cy="544131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br>
              <a:rPr lang="en-US" sz="2900" dirty="0"/>
            </a:br>
            <a:endParaRPr lang="en-IN" sz="2900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AD8B86-992E-ABE8-FE4B-731A05491803}"/>
              </a:ext>
            </a:extLst>
          </p:cNvPr>
          <p:cNvSpPr txBox="1"/>
          <p:nvPr/>
        </p:nvSpPr>
        <p:spPr>
          <a:xfrm>
            <a:off x="391160" y="1354674"/>
            <a:ext cx="11389360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300" b="0" i="0" dirty="0">
                <a:effectLst/>
              </a:rPr>
              <a:t>To perform data preprocessing </a:t>
            </a:r>
            <a:r>
              <a:rPr lang="en-US" sz="2300" dirty="0"/>
              <a:t>and exploratory data analysis of the appropriate </a:t>
            </a:r>
            <a:r>
              <a:rPr lang="en-US" sz="2300" dirty="0" err="1"/>
              <a:t>datatset</a:t>
            </a:r>
            <a:endParaRPr lang="en-US" sz="2300" b="0" i="0" dirty="0">
              <a:effectLst/>
            </a:endParaRPr>
          </a:p>
          <a:p>
            <a:pPr algn="l"/>
            <a:endParaRPr lang="en-US" sz="2300" b="0" i="0" dirty="0">
              <a:effectLst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300" b="0" i="0" dirty="0">
                <a:effectLst/>
              </a:rPr>
              <a:t>To design a model that integrates the SARIMAX method for its strength in analyzing seasonal trends.</a:t>
            </a:r>
          </a:p>
          <a:p>
            <a:pPr algn="l"/>
            <a:endParaRPr lang="en-US" sz="2300" b="0" i="0" dirty="0">
              <a:effectLst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300" dirty="0"/>
              <a:t>To i</a:t>
            </a:r>
            <a:r>
              <a:rPr lang="en-US" sz="2300" b="0" i="0" dirty="0">
                <a:effectLst/>
              </a:rPr>
              <a:t>mplement LSTM networks to investigate and model complex temporal dependencies in economic time-series data.</a:t>
            </a:r>
          </a:p>
          <a:p>
            <a:pPr algn="l"/>
            <a:endParaRPr lang="en-US" sz="2300" b="0" i="0" dirty="0">
              <a:effectLst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300" dirty="0"/>
              <a:t>To d</a:t>
            </a:r>
            <a:r>
              <a:rPr lang="en-US" sz="2300" b="0" i="0" dirty="0">
                <a:effectLst/>
              </a:rPr>
              <a:t>evelop a hybrid approach that combines the benefits of machine learning and econometric models for improved prediction accuracy.</a:t>
            </a:r>
          </a:p>
          <a:p>
            <a:pPr algn="l"/>
            <a:endParaRPr lang="en-US" sz="2300" b="0" i="0" dirty="0">
              <a:effectLst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300" dirty="0"/>
              <a:t>To c</a:t>
            </a:r>
            <a:r>
              <a:rPr lang="en-US" sz="2300" b="0" i="0" dirty="0">
                <a:effectLst/>
              </a:rPr>
              <a:t>onduct a comparative analysis of hybrid models against traditional forecasting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72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Review of Related Literature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4836160"/>
            <a:ext cx="11866880" cy="1483225"/>
          </a:xfrm>
        </p:spPr>
        <p:txBody>
          <a:bodyPr>
            <a:normAutofit fontScale="92500" lnSpcReduction="20000"/>
          </a:bodyPr>
          <a:lstStyle/>
          <a:p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Previous studies have focused on ARIMA models for economic forecasting, but they fall short in handling complex, non-linear patterns. </a:t>
            </a:r>
          </a:p>
          <a:p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Recent advancements in machine learning, particularly Neural Networks, have shown potential in financial applications. </a:t>
            </a:r>
          </a:p>
          <a:p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research builds upon these findings, proposing a novel integration of SARIMAX and LSTM Neural Networks.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B66F74-A54F-6104-AEE2-5C493E69A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652965"/>
              </p:ext>
            </p:extLst>
          </p:nvPr>
        </p:nvGraphicFramePr>
        <p:xfrm>
          <a:off x="162560" y="1153700"/>
          <a:ext cx="11866880" cy="35775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3360">
                  <a:extLst>
                    <a:ext uri="{9D8B030D-6E8A-4147-A177-3AD203B41FA5}">
                      <a16:colId xmlns:a16="http://schemas.microsoft.com/office/drawing/2014/main" val="226413593"/>
                    </a:ext>
                  </a:extLst>
                </a:gridCol>
                <a:gridCol w="1432732">
                  <a:extLst>
                    <a:ext uri="{9D8B030D-6E8A-4147-A177-3AD203B41FA5}">
                      <a16:colId xmlns:a16="http://schemas.microsoft.com/office/drawing/2014/main" val="296175627"/>
                    </a:ext>
                  </a:extLst>
                </a:gridCol>
                <a:gridCol w="1533988">
                  <a:extLst>
                    <a:ext uri="{9D8B030D-6E8A-4147-A177-3AD203B41FA5}">
                      <a16:colId xmlns:a16="http://schemas.microsoft.com/office/drawing/2014/main" val="915511190"/>
                    </a:ext>
                  </a:extLst>
                </a:gridCol>
                <a:gridCol w="1371978">
                  <a:extLst>
                    <a:ext uri="{9D8B030D-6E8A-4147-A177-3AD203B41FA5}">
                      <a16:colId xmlns:a16="http://schemas.microsoft.com/office/drawing/2014/main" val="1531935796"/>
                    </a:ext>
                  </a:extLst>
                </a:gridCol>
                <a:gridCol w="1594742">
                  <a:extLst>
                    <a:ext uri="{9D8B030D-6E8A-4147-A177-3AD203B41FA5}">
                      <a16:colId xmlns:a16="http://schemas.microsoft.com/office/drawing/2014/main" val="3801670869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2281328566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4246839249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1910529053"/>
                    </a:ext>
                  </a:extLst>
                </a:gridCol>
              </a:tblGrid>
              <a:tr h="8124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Title of the Paper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Authors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Journal Name/ Conference Title &amp; Publisher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Year of Publication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Methodology used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Performance of the proposed algorithm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Limitations of the Research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Future approach if any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01767"/>
                  </a:ext>
                </a:extLst>
              </a:tr>
              <a:tr h="2301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2018 Financial Risk and Regulation Survey: 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effectLst/>
                        </a:rPr>
                        <a:t>Behavioral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 Finance &amp; Financial Stability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Harvard Business School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Harvard Business School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2018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The study employed a combination of regression analysis, econometric methods, and possibly modern machine learning techniques, given its focus on understanding and forecasting financial downturns.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The study focuses on the analysis of financial risks such as asset price inflation and high debt, contributing to a better understanding of financial instabilities.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Potential limitation in integrating traditional and modern techniques effectively.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dirty="0">
                          <a:effectLst/>
                        </a:rPr>
                        <a:t>The study can be expanded with traditional time series analysis, including ARIMA models, with advanced machine learning techniques, to discern cyclical patterns and complex interactions among various economic factors</a:t>
                      </a:r>
                      <a:endParaRPr lang="en-IN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9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36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5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09579F-A7CE-9F6F-88B6-60DF8FC26632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5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rial Narrow" panose="020B0606020202030204" pitchFamily="34" charset="0"/>
              </a:rPr>
              <a:t>Dataset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04036A-4B44-F196-26CD-31D27DC73393}"/>
              </a:ext>
            </a:extLst>
          </p:cNvPr>
          <p:cNvSpPr txBox="1">
            <a:spLocks/>
          </p:cNvSpPr>
          <p:nvPr/>
        </p:nvSpPr>
        <p:spPr>
          <a:xfrm>
            <a:off x="105878" y="1087655"/>
            <a:ext cx="12086122" cy="5633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Narrow" panose="020B0606020202030204" pitchFamily="34" charset="0"/>
              </a:rPr>
              <a:t>Source of the Dataset: </a:t>
            </a:r>
            <a:r>
              <a:rPr lang="en-IN">
                <a:hlinkClick r:id="rId2"/>
              </a:rPr>
              <a:t>Global Financial Crisis Analytics | Kaggle</a:t>
            </a:r>
            <a:endParaRPr lang="en-US">
              <a:latin typeface="Arial Narrow" panose="020B0606020202030204" pitchFamily="34" charset="0"/>
            </a:endParaRPr>
          </a:p>
          <a:p>
            <a:r>
              <a:rPr lang="en-US">
                <a:latin typeface="Arial Narrow" panose="020B0606020202030204" pitchFamily="34" charset="0"/>
              </a:rPr>
              <a:t>No. of Observations: 15,192</a:t>
            </a:r>
          </a:p>
          <a:p>
            <a:r>
              <a:rPr lang="en-US">
                <a:latin typeface="Arial Narrow" panose="020B0606020202030204" pitchFamily="34" charset="0"/>
              </a:rPr>
              <a:t> Screenshot of the dataset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US">
                <a:latin typeface="Arial Narrow" panose="020B0606020202030204" pitchFamily="34" charset="0"/>
              </a:rPr>
            </a:br>
            <a:endParaRPr lang="en-US">
              <a:latin typeface="Arial Narrow" panose="020B0606020202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66B78C0-21C0-1F54-027E-8A698F7FCE4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CS6501 Project I PGP, ICER, VIT Bangalore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EBC40F0-5463-7C2E-C540-6337C0193AE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DC104-672A-4227-99C4-0E2CC007FDBA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1D791EA8-383A-F9A9-6D66-85583CB23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75" y="2565471"/>
            <a:ext cx="11034563" cy="393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7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179BB-E353-C3DA-88C6-1592BB5D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1E2E2-8212-A20D-E1CE-65136FE4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6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A3DE97-5737-F7D5-92B2-F1CBD466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517525"/>
            <a:ext cx="10515600" cy="60702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Column/Feature Details of the Dataset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D83B5-2698-FD77-3935-96ED16C6E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85" y="1432560"/>
            <a:ext cx="11482938" cy="5441315"/>
          </a:xfrm>
        </p:spPr>
        <p:txBody>
          <a:bodyPr>
            <a:noAutofit/>
          </a:bodyPr>
          <a:lstStyle/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numeric identifier for each record. Each country appears to have a unique case number.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CC3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three-letter country code, following the standard ISO alpha-3 country codes.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Country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name of the country to which the data row corresponds.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year for which the data is recorded.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Banking Crisis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the occurrence of a banking crisis. '0' indicates no crisis, while '1’ indicates a crisis.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en-US" sz="19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Banking_Crisis_Notes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Additional notes or explanations about the banking crisis, if any.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Systemic Crisis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a systemic crisis occurred in that year. Similar to 'Banking Crisis', '0' likely means no systemic crisis.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Gold Standard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 country was on the gold standard in that year.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en-US" sz="19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exch_usd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exchange rate of the country's currency to the US dollar.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exch_usd_alt1, exch_usd_alt2, exch_usd_alt3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Alternative exchange rate values, representing different sources or calculation methods.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 </a:t>
            </a:r>
            <a:r>
              <a:rPr lang="en-US" sz="1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 to USD notes/sources</a:t>
            </a:r>
            <a:r>
              <a:rPr lang="en-US" sz="1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Notes or sources for the exchange rate data.</a:t>
            </a:r>
            <a:endParaRPr lang="en-IN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057572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82320-2960-BA37-EEB8-41EAC3D3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B31D4-6924-8CAA-91CA-DC455400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7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A5D958-C9A6-06A2-6C45-07787908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 Narrow" panose="020B0606020202030204" pitchFamily="34" charset="0"/>
              </a:rPr>
              <a:t>Column/Feature Details of the Dataset (continued)</a:t>
            </a:r>
            <a:endParaRPr lang="en-IN" sz="4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2C5805-DE68-610C-F8F0-4BEEACDC5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85" y="1336785"/>
            <a:ext cx="11405937" cy="5313144"/>
          </a:xfrm>
        </p:spPr>
        <p:txBody>
          <a:bodyPr>
            <a:no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Domestic Debt In Default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there was a default on domestic debt.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 </a:t>
            </a:r>
            <a:r>
              <a:rPr lang="en-US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Domestic_Debt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 Notes/Sources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Notes or sources regarding the domestic debt data.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SOVEREIGN EXTERNAL DEBT 1 and 2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there was a default or restructuring of sovereign external debt. Different columns might represent different categorizations or time periods of the debt.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 </a:t>
            </a:r>
            <a:r>
              <a:rPr lang="en-US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Defaults_External_Notes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Notes about external debt defaults.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16. </a:t>
            </a:r>
            <a:r>
              <a:rPr lang="en-US" sz="20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GDP_Weighted_default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measure of defaults weighted by GDP, possibly indicating the severity or impact of the default relative to the country's economy.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Inflation, Annual percentages of average consumer prices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annual inflation rate, measured as the percentage change in consumer prices.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Independence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whether the country was independent in that year.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Currency Crises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the occurrence of a currency crisis.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20.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Inflation Crises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Indicates the occurrence of an inflation crisis.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53073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866E-7AB3-F891-E09C-1CDECDFD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Arial Narrow" panose="020B0606020202030204" pitchFamily="34" charset="0"/>
              </a:rPr>
              <a:t>Details about the columns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906E4-96D9-E269-8349-D6AB6969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825625"/>
            <a:ext cx="11369040" cy="46672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Categorical Columns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CC3, Country, Banking Crisis, </a:t>
            </a:r>
            <a:r>
              <a:rPr lang="en-IN" dirty="0" err="1"/>
              <a:t>Banking_Crisis_Notes</a:t>
            </a:r>
            <a:r>
              <a:rPr lang="en-IN" dirty="0"/>
              <a:t>, Systemic Crisis, Gold Standard, </a:t>
            </a:r>
            <a:r>
              <a:rPr lang="en-IN" dirty="0" err="1"/>
              <a:t>exch_usd</a:t>
            </a:r>
            <a:r>
              <a:rPr lang="en-IN" dirty="0"/>
              <a:t>, exch_usd_alt2, exch_usd_alt3, </a:t>
            </a:r>
            <a:r>
              <a:rPr lang="en-IN" dirty="0" err="1"/>
              <a:t>conversion_notes</a:t>
            </a:r>
            <a:r>
              <a:rPr lang="en-IN" dirty="0"/>
              <a:t>, national currency, </a:t>
            </a:r>
            <a:r>
              <a:rPr lang="en-IN" dirty="0" err="1"/>
              <a:t>exch_primary</a:t>
            </a:r>
            <a:r>
              <a:rPr lang="en-IN" dirty="0"/>
              <a:t> source code, </a:t>
            </a:r>
            <a:r>
              <a:rPr lang="en-IN" dirty="0" err="1"/>
              <a:t>exch_sources</a:t>
            </a:r>
            <a:r>
              <a:rPr lang="en-IN" dirty="0"/>
              <a:t>, </a:t>
            </a:r>
            <a:r>
              <a:rPr lang="en-IN" dirty="0" err="1"/>
              <a:t>Domestic_Debt_In_Default</a:t>
            </a:r>
            <a:r>
              <a:rPr lang="en-IN" dirty="0"/>
              <a:t>, </a:t>
            </a:r>
            <a:r>
              <a:rPr lang="en-IN" dirty="0" err="1"/>
              <a:t>Domestic_Debt_Notes</a:t>
            </a:r>
            <a:r>
              <a:rPr lang="en-IN" dirty="0"/>
              <a:t>/Sources, SOVEREIGN EXTERNAL DEBT 1: DEFAULT and RESTRUCTURINGS, 1800-2012, SOVEREIGN EXTERNAL DEBT 2: DEFAULT and RESTRUCTURINGS, 1800-2012, </a:t>
            </a:r>
            <a:r>
              <a:rPr lang="en-IN" dirty="0" err="1"/>
              <a:t>Defaults_External_Notes</a:t>
            </a:r>
            <a:r>
              <a:rPr lang="en-IN" dirty="0"/>
              <a:t>, </a:t>
            </a:r>
            <a:r>
              <a:rPr lang="en-IN" dirty="0" err="1"/>
              <a:t>GDP_Weighted_default</a:t>
            </a:r>
            <a:r>
              <a:rPr lang="en-IN" dirty="0"/>
              <a:t>, "&lt;", Inflation, Annual percentages of average consumer prices, Independence, Currency Crises, Inflation Crises.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Continuous Columns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Case, Year, exch_usd_alt1.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Discrete Columns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None identified as discrete based on the provided data.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4B456-8BE1-B42D-19A0-5FF4E0D6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AD71-124A-2FDD-F7B5-1B70D5A5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44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Proposed Methodology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B3083-F885-AD66-86E1-4F024370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1097280"/>
            <a:ext cx="7934960" cy="525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28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10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514415-AB69-5FE5-3518-B03BBF4FF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7543"/>
            <a:ext cx="10515600" cy="3148807"/>
          </a:xfrm>
        </p:spPr>
        <p:txBody>
          <a:bodyPr/>
          <a:lstStyle/>
          <a:p>
            <a:pPr marL="0" indent="0">
              <a:buNone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Minor data cleaning operations on the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crisis_data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uses the query() function to filter the data</a:t>
            </a:r>
          </a:p>
          <a:p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eplaces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values with 0</a:t>
            </a:r>
          </a:p>
          <a:p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onverts the columns 'Banking Crisis' and 'Systemic Crisis' to integer data types using the apply() function with a lambda expression.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4F0659-5A0B-0F97-7C59-EC7AE87A5F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271" b="2128"/>
          <a:stretch/>
        </p:blipFill>
        <p:spPr bwMode="auto">
          <a:xfrm>
            <a:off x="654684" y="1431084"/>
            <a:ext cx="10882631" cy="15970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71369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11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D1D9C7-4AD8-E67B-B000-0C9721BC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0079"/>
            <a:ext cx="10515600" cy="1726883"/>
          </a:xfrm>
        </p:spPr>
        <p:txBody>
          <a:bodyPr/>
          <a:lstStyle/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of the describe() function, which provides descriptive statistics for the numerical columns in the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crisis_data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includes the count, mean, standard deviation, minimum, percentiles, and maximum values for columns such as 'Year', 'Banking Crisis', 'Systemic Crisis', and others related to financial measures.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31271-138B-BE98-7692-BE9FAFC059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115"/>
          <a:stretch/>
        </p:blipFill>
        <p:spPr>
          <a:xfrm>
            <a:off x="116840" y="1148398"/>
            <a:ext cx="10411965" cy="318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1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150145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12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96BA65-9AD0-EE2B-9240-8D7D38EFE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90165"/>
            <a:ext cx="7650480" cy="5440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C734C6-6B81-EC4B-504D-1CB9CC58B0CD}"/>
              </a:ext>
            </a:extLst>
          </p:cNvPr>
          <p:cNvSpPr txBox="1"/>
          <p:nvPr/>
        </p:nvSpPr>
        <p:spPr>
          <a:xfrm>
            <a:off x="7813040" y="593327"/>
            <a:ext cx="40233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outliers within the provided 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columns based on the interquartile range (IQR) method. </a:t>
            </a:r>
          </a:p>
          <a:p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calculates the first (Q1) and third (Q3) quartiles, computes the IQR (Q3 - Q1), and identifies outliers as those values that fall below Q1 - 1.5 * IQR or above Q3 + 1.5 * IQR. </a:t>
            </a:r>
          </a:p>
          <a:p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output shows a subset of </a:t>
            </a:r>
            <a:r>
              <a:rPr lang="en-IN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crisis_data</a:t>
            </a: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where the outliers have been extracted, indicated by rows with unusual values in comparison to the rest of the dataset.</a:t>
            </a:r>
          </a:p>
        </p:txBody>
      </p:sp>
    </p:spTree>
    <p:extLst>
      <p:ext uri="{BB962C8B-B14F-4D97-AF65-F5344CB8AC3E}">
        <p14:creationId xmlns:p14="http://schemas.microsoft.com/office/powerpoint/2010/main" val="228550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150145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13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67F57E-600B-09D8-B58A-E3093051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879"/>
            <a:ext cx="10515600" cy="1808164"/>
          </a:xfrm>
        </p:spPr>
        <p:txBody>
          <a:bodyPr/>
          <a:lstStyle/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boxplots for numerical columns in the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crisis_data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2F1D37-41E5-4ABC-D09F-D81FAC0C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83" y="1229043"/>
            <a:ext cx="7825917" cy="49327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2A7B4F-3124-6C07-0CE8-AFD53DF97C63}"/>
              </a:ext>
            </a:extLst>
          </p:cNvPr>
          <p:cNvSpPr txBox="1"/>
          <p:nvPr/>
        </p:nvSpPr>
        <p:spPr>
          <a:xfrm>
            <a:off x="8153400" y="0"/>
            <a:ext cx="371111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 dirty="0">
                <a:effectLst/>
                <a:latin typeface="Söhne"/>
              </a:rPr>
              <a:t>1. Case</a:t>
            </a:r>
            <a:r>
              <a:rPr lang="en-US" sz="1600" b="0" i="0" dirty="0">
                <a:effectLst/>
                <a:latin typeface="Söhne"/>
              </a:rPr>
              <a:t>: The median is 35.5 with an interquartile range (IQR) of 35, and there are no outliers.</a:t>
            </a:r>
          </a:p>
          <a:p>
            <a:pPr algn="l"/>
            <a:endParaRPr lang="en-US" sz="1600" b="0" i="0" dirty="0">
              <a:effectLst/>
              <a:latin typeface="Söhne"/>
            </a:endParaRPr>
          </a:p>
          <a:p>
            <a:pPr algn="l"/>
            <a:r>
              <a:rPr lang="en-US" sz="1600" b="1" i="0" dirty="0">
                <a:effectLst/>
                <a:latin typeface="Söhne"/>
              </a:rPr>
              <a:t>2. Year</a:t>
            </a:r>
            <a:r>
              <a:rPr lang="en-US" sz="1600" b="0" i="0" dirty="0">
                <a:effectLst/>
                <a:latin typeface="Söhne"/>
              </a:rPr>
              <a:t>: The median year is 1908 with an IQR of 108 years, and there are no outliers.</a:t>
            </a:r>
          </a:p>
          <a:p>
            <a:pPr algn="l"/>
            <a:endParaRPr lang="en-US" sz="1600" b="0" i="0" dirty="0">
              <a:effectLst/>
              <a:latin typeface="Söhne"/>
            </a:endParaRPr>
          </a:p>
          <a:p>
            <a:pPr algn="l"/>
            <a:r>
              <a:rPr lang="en-US" sz="1600" b="1" i="0" dirty="0">
                <a:effectLst/>
                <a:latin typeface="Söhne"/>
              </a:rPr>
              <a:t>3. exch_usd_alt1</a:t>
            </a:r>
            <a:r>
              <a:rPr lang="en-US" sz="1600" b="0" i="0" dirty="0">
                <a:effectLst/>
                <a:latin typeface="Söhne"/>
              </a:rPr>
              <a:t>: The median exchange rate is approximately 0.41 with an IQR of about 3.64, and there are outliers present.</a:t>
            </a:r>
            <a:r>
              <a:rPr lang="en-US" sz="1600" b="0" i="0" dirty="0">
                <a:solidFill>
                  <a:srgbClr val="ECECF1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effectLst/>
                <a:latin typeface="Söhne"/>
              </a:rPr>
              <a:t>There are 561 outliers with values ranging significantly from 9.14 to 425,000,000. This suggests extreme variability and instances of exchange rates that are far from the typical range.</a:t>
            </a:r>
          </a:p>
          <a:p>
            <a:pPr algn="l"/>
            <a:endParaRPr lang="en-US" sz="1600" b="0" i="0" dirty="0">
              <a:effectLst/>
              <a:latin typeface="Söhne"/>
            </a:endParaRPr>
          </a:p>
          <a:p>
            <a:pPr algn="l"/>
            <a:r>
              <a:rPr lang="en-US" sz="1600" b="1" i="0" dirty="0">
                <a:effectLst/>
                <a:latin typeface="Söhne"/>
              </a:rPr>
              <a:t>4. SOVEREIGN EXTERNAL DEBT 2</a:t>
            </a:r>
            <a:r>
              <a:rPr lang="en-US" sz="1600" b="0" i="0" dirty="0">
                <a:effectLst/>
                <a:latin typeface="Söhne"/>
              </a:rPr>
              <a:t>: The median is 0 with an IQR of 0, indicating most values are zero or close to zero, but there are outliers present.</a:t>
            </a:r>
            <a:r>
              <a:rPr lang="en-US" sz="1600" b="0" i="0" dirty="0">
                <a:solidFill>
                  <a:srgbClr val="ECECF1"/>
                </a:solidFill>
                <a:effectLst/>
                <a:latin typeface="Söhne"/>
              </a:rPr>
              <a:t> </a:t>
            </a:r>
            <a:r>
              <a:rPr lang="en-US" sz="1600" b="0" i="0" dirty="0">
                <a:effectLst/>
                <a:latin typeface="Söhne"/>
              </a:rPr>
              <a:t>There are 1907 outliers, all with a value of 1.0. This indicates that the instances of default or restructurings are quite common as outliers, as the median of the data is 0, which likely represents no default/restructuring.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129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150145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8CD608-58A2-9F69-3DCD-4F5716F19F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31" t="21988"/>
          <a:stretch/>
        </p:blipFill>
        <p:spPr>
          <a:xfrm>
            <a:off x="344804" y="1196340"/>
            <a:ext cx="7942356" cy="4465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447812-7BCE-2890-6E8F-B0E619AAE98D}"/>
              </a:ext>
            </a:extLst>
          </p:cNvPr>
          <p:cNvSpPr txBox="1"/>
          <p:nvPr/>
        </p:nvSpPr>
        <p:spPr>
          <a:xfrm>
            <a:off x="8473440" y="1415911"/>
            <a:ext cx="33737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Generated a histogram with a kernel density estimate (KDE) overlay for the 'Year' column of the </a:t>
            </a:r>
            <a:r>
              <a:rPr lang="en-US" sz="2000" dirty="0" err="1"/>
              <a:t>crisis_data</a:t>
            </a:r>
            <a:r>
              <a:rPr lang="en-US" sz="2000" dirty="0"/>
              <a:t> </a:t>
            </a:r>
            <a:r>
              <a:rPr lang="en-US" sz="2000" dirty="0" err="1"/>
              <a:t>DataFrame</a:t>
            </a:r>
            <a:r>
              <a:rPr lang="en-US" sz="2000" dirty="0"/>
              <a:t>, showing the distribution of years and their frequency within the dataset. It is normally distributed.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28950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9C020-FD87-4F48-6A13-79F4DA871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27" t="32333" r="3134"/>
          <a:stretch/>
        </p:blipFill>
        <p:spPr>
          <a:xfrm>
            <a:off x="298744" y="1095844"/>
            <a:ext cx="6514631" cy="508111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36FD76-A5ED-9EC0-E13C-E84F6CCAE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0" y="1095845"/>
            <a:ext cx="4292600" cy="5081118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Year and Independence: </a:t>
            </a:r>
            <a:r>
              <a:rPr lang="en-US" sz="2000" dirty="0"/>
              <a:t>Moderate positive correlation (0.47), hinting at increasing independence events over time.</a:t>
            </a:r>
          </a:p>
          <a:p>
            <a:r>
              <a:rPr lang="en-US" sz="2000" b="1" dirty="0"/>
              <a:t>Year with </a:t>
            </a:r>
            <a:r>
              <a:rPr lang="en-US" sz="2000" b="1" dirty="0" err="1"/>
              <a:t>exch_usd</a:t>
            </a:r>
            <a:r>
              <a:rPr lang="en-US" sz="2000" b="1" dirty="0"/>
              <a:t>/Gold Standard: </a:t>
            </a:r>
            <a:r>
              <a:rPr lang="en-US" sz="2000" dirty="0"/>
              <a:t>Negligible correlations, indicating no relationship.</a:t>
            </a:r>
          </a:p>
          <a:p>
            <a:r>
              <a:rPr lang="en-US" sz="2000" b="1" dirty="0" err="1"/>
              <a:t>exch_usd</a:t>
            </a:r>
            <a:r>
              <a:rPr lang="en-US" sz="2000" b="1" dirty="0"/>
              <a:t> and Gold Standard: </a:t>
            </a:r>
            <a:r>
              <a:rPr lang="en-US" sz="2000" dirty="0"/>
              <a:t>Zero correlation, no apparent relationship.</a:t>
            </a:r>
          </a:p>
          <a:p>
            <a:r>
              <a:rPr lang="en-US" sz="2000" b="1" dirty="0" err="1"/>
              <a:t>exch_usd</a:t>
            </a:r>
            <a:r>
              <a:rPr lang="en-US" sz="2000" b="1" dirty="0"/>
              <a:t> and Independence: </a:t>
            </a:r>
            <a:r>
              <a:rPr lang="en-US" sz="2000" dirty="0"/>
              <a:t>No correlation, suggesting no direct link.</a:t>
            </a:r>
          </a:p>
          <a:p>
            <a:r>
              <a:rPr lang="en-US" sz="2000" b="1" dirty="0"/>
              <a:t>Gold Standard and Independence: </a:t>
            </a:r>
            <a:r>
              <a:rPr lang="en-US" sz="2000" dirty="0"/>
              <a:t>Very weak negative correlation, likely insignificant.</a:t>
            </a:r>
          </a:p>
          <a:p>
            <a:r>
              <a:rPr lang="en-US" sz="2000" b="1" dirty="0"/>
              <a:t>Self-Correlations: </a:t>
            </a:r>
            <a:r>
              <a:rPr lang="en-US" sz="2000" dirty="0"/>
              <a:t>Variables perfectly correlate with themselves.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17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28F8F4-0150-C02A-9EA2-8C30D99D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1" y="1010377"/>
            <a:ext cx="6071179" cy="4607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CB8BD5-D293-3829-83B1-22B8426E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082" y="1010377"/>
            <a:ext cx="6090918" cy="4629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CB1E7A-7BC3-8332-9964-E1960E840E5E}"/>
              </a:ext>
            </a:extLst>
          </p:cNvPr>
          <p:cNvSpPr txBox="1"/>
          <p:nvPr/>
        </p:nvSpPr>
        <p:spPr>
          <a:xfrm>
            <a:off x="444500" y="5564631"/>
            <a:ext cx="4704080" cy="86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Sorted the </a:t>
            </a:r>
            <a:r>
              <a:rPr lang="en-IN" sz="1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crisis_world_summary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the top 20 countries with the most banking crisis events from 1800 to the present.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ADBCD-BC02-507E-FDA5-4E38CD2283D0}"/>
              </a:ext>
            </a:extLst>
          </p:cNvPr>
          <p:cNvSpPr txBox="1"/>
          <p:nvPr/>
        </p:nvSpPr>
        <p:spPr>
          <a:xfrm>
            <a:off x="6634480" y="5543209"/>
            <a:ext cx="4704080" cy="867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Sorted the </a:t>
            </a:r>
            <a:r>
              <a:rPr lang="en-IN" sz="1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crisis_world_summary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the top 20 countries with the most systemic crisis events from 1800 to the present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621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17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6DB65C-34CF-AD13-EEA7-710FD60F0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360" y="1007565"/>
            <a:ext cx="6553717" cy="538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898C1C-0D6A-D184-6ED2-17B8AA3525CC}"/>
              </a:ext>
            </a:extLst>
          </p:cNvPr>
          <p:cNvSpPr txBox="1"/>
          <p:nvPr/>
        </p:nvSpPr>
        <p:spPr>
          <a:xfrm>
            <a:off x="344923" y="1343818"/>
            <a:ext cx="355651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first plotted map summarizes global banking crisis events from the 1800s till present day</a:t>
            </a:r>
          </a:p>
          <a:p>
            <a:pPr marL="342900" indent="-342900">
              <a:buAutoNum type="arabicPeriod"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second plotted map summarizes global systemic crisis events from the 1800s till present day</a:t>
            </a:r>
          </a:p>
          <a:p>
            <a:pPr marL="342900" indent="-342900">
              <a:buAutoNum type="arabicPeriod"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fisher_jenks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 scheme was used for data classification, and to display a legend on the lower left corner</a:t>
            </a:r>
          </a:p>
        </p:txBody>
      </p:sp>
    </p:spTree>
    <p:extLst>
      <p:ext uri="{BB962C8B-B14F-4D97-AF65-F5344CB8AC3E}">
        <p14:creationId xmlns:p14="http://schemas.microsoft.com/office/powerpoint/2010/main" val="2320053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06577A-3E9D-4D76-DE0B-19EB1DC0C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240" y="928891"/>
            <a:ext cx="7335520" cy="56100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Exploratory Data Analysis 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18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A12174-E6D2-E6EC-7E2C-7B95FB0A965A}"/>
              </a:ext>
            </a:extLst>
          </p:cNvPr>
          <p:cNvSpPr txBox="1"/>
          <p:nvPr/>
        </p:nvSpPr>
        <p:spPr>
          <a:xfrm>
            <a:off x="416560" y="1249680"/>
            <a:ext cx="4023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first line plot shows the annual count of banking and systemic crises from the 1800s till present</a:t>
            </a:r>
          </a:p>
          <a:p>
            <a:pPr marL="342900" indent="-342900">
              <a:buAutoNum type="arabicPeriod"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 second line plot shows the cumulative count of these crises from the 1800s till present</a:t>
            </a:r>
          </a:p>
        </p:txBody>
      </p:sp>
    </p:spTree>
    <p:extLst>
      <p:ext uri="{BB962C8B-B14F-4D97-AF65-F5344CB8AC3E}">
        <p14:creationId xmlns:p14="http://schemas.microsoft.com/office/powerpoint/2010/main" val="419120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Next Step of Research Focus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80" y="1310641"/>
            <a:ext cx="10612120" cy="486664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30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b="0" i="0" dirty="0">
                <a:effectLst/>
              </a:rPr>
              <a:t>To enhance the research's predictive capacity:</a:t>
            </a:r>
          </a:p>
          <a:p>
            <a:pPr marL="0" indent="0" algn="l">
              <a:buNone/>
            </a:pPr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Apply SARIMAX for seasonal trends and external influence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Use LSTM neural networks for pattern recognition in time-series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Experiment with hybrid LSTM-SARIMAX models for capturing both seasonal patterns and complex temporal sequences.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Develop hybrid models combining SARIMAX's precision and LSTM neural networks' learning prowess for accurate crisis forecasts.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26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Conclusion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840" y="1438911"/>
            <a:ext cx="10601960" cy="483997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öhne"/>
              </a:rPr>
              <a:t>Analyzed historical financial crises, highlighting most affected countries.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öhne"/>
              </a:rPr>
              <a:t>Utilized visualizations to discern trends and correlations.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öhne"/>
              </a:rPr>
              <a:t>Summarized annual and cumulative crisis data for insight.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öhne"/>
              </a:rPr>
              <a:t>Mapped crisis distribution, indicating global financial vulnerabilities.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öhne"/>
              </a:rPr>
              <a:t>Prepared a base for predictive modeling of financial crises.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37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72939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References : APA format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0605"/>
            <a:ext cx="12192000" cy="5870870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Harvard Business School. (2018). </a:t>
            </a:r>
            <a:r>
              <a:rPr lang="en-US" sz="1800" b="0" i="1" dirty="0">
                <a:effectLst/>
              </a:rPr>
              <a:t>2018 Financial Risk and Regulation Survey: Behavioral Finance &amp; Financial Stability</a:t>
            </a:r>
            <a:r>
              <a:rPr lang="en-US" sz="1800" b="0" i="0" dirty="0"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 err="1">
                <a:effectLst/>
              </a:rPr>
              <a:t>Tekin</a:t>
            </a:r>
            <a:r>
              <a:rPr lang="en-US" sz="1800" b="0" i="0" dirty="0">
                <a:effectLst/>
              </a:rPr>
              <a:t>, H. (2020). </a:t>
            </a:r>
            <a:r>
              <a:rPr lang="en-US" sz="1800" b="0" i="1" dirty="0">
                <a:effectLst/>
              </a:rPr>
              <a:t>How optimal cash changed by the global financial crisis?</a:t>
            </a:r>
            <a:r>
              <a:rPr lang="en-US" sz="1800" b="0" i="0" dirty="0">
                <a:effectLst/>
              </a:rPr>
              <a:t>. Economics and Business Letters, 9(2), 114-123.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World Bank. (2020). </a:t>
            </a:r>
            <a:r>
              <a:rPr lang="en-US" sz="1800" b="0" i="1" dirty="0">
                <a:effectLst/>
              </a:rPr>
              <a:t>Global Financial Development Report 2019/2020: Bank Regulation and Supervision a Decade after the Global Financial Crisis</a:t>
            </a:r>
            <a:r>
              <a:rPr lang="en-US" sz="1800" b="0" i="0" dirty="0"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 err="1">
                <a:effectLst/>
              </a:rPr>
              <a:t>Lajili</a:t>
            </a:r>
            <a:r>
              <a:rPr lang="en-US" sz="1800" b="0" i="0" dirty="0">
                <a:effectLst/>
              </a:rPr>
              <a:t>, K., Li, T. M., </a:t>
            </a:r>
            <a:r>
              <a:rPr lang="en-US" sz="1800" b="0" i="0" dirty="0" err="1">
                <a:effectLst/>
              </a:rPr>
              <a:t>Chourou</a:t>
            </a:r>
            <a:r>
              <a:rPr lang="en-US" sz="1800" b="0" i="0" dirty="0">
                <a:effectLst/>
              </a:rPr>
              <a:t>, L., </a:t>
            </a:r>
            <a:r>
              <a:rPr lang="en-US" sz="1800" b="0" i="0" dirty="0" err="1">
                <a:effectLst/>
              </a:rPr>
              <a:t>Dobler</a:t>
            </a:r>
            <a:r>
              <a:rPr lang="en-US" sz="1800" b="0" i="0" dirty="0">
                <a:effectLst/>
              </a:rPr>
              <a:t>, M., &amp; </a:t>
            </a:r>
            <a:r>
              <a:rPr lang="en-US" sz="1800" b="0" i="0" dirty="0" err="1">
                <a:effectLst/>
              </a:rPr>
              <a:t>Zéghal</a:t>
            </a:r>
            <a:r>
              <a:rPr lang="en-US" sz="1800" b="0" i="0" dirty="0">
                <a:effectLst/>
              </a:rPr>
              <a:t>, D. (2023). </a:t>
            </a:r>
            <a:r>
              <a:rPr lang="en-US" sz="1800" b="0" i="1" dirty="0">
                <a:effectLst/>
              </a:rPr>
              <a:t>Corporate risk disclosures in turbulent times: An international analysis in the global financial crisis</a:t>
            </a:r>
            <a:r>
              <a:rPr lang="en-US" sz="1800" b="0" i="0" dirty="0">
                <a:effectLst/>
              </a:rPr>
              <a:t>. Journal of International Financial Management &amp; Accounting.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Shehzad, K., Xiaoxing, L., &amp; </a:t>
            </a:r>
            <a:r>
              <a:rPr lang="en-US" sz="1800" b="0" i="0" dirty="0" err="1">
                <a:effectLst/>
              </a:rPr>
              <a:t>Kazouz</a:t>
            </a:r>
            <a:r>
              <a:rPr lang="en-US" sz="1800" b="0" i="0" dirty="0">
                <a:effectLst/>
              </a:rPr>
              <a:t>, H. (2020). </a:t>
            </a:r>
            <a:r>
              <a:rPr lang="en-US" sz="1800" b="0" i="1" dirty="0">
                <a:effectLst/>
              </a:rPr>
              <a:t>COVID-19’s disasters are perilous than Global Financial Crisis: A rumor or fact?</a:t>
            </a:r>
            <a:r>
              <a:rPr lang="en-US" sz="1800" b="0" i="0" dirty="0">
                <a:effectLst/>
              </a:rPr>
              <a:t>. Finance Research Letters, 36.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 err="1">
                <a:effectLst/>
              </a:rPr>
              <a:t>Lolea</a:t>
            </a:r>
            <a:r>
              <a:rPr lang="en-US" sz="1800" b="0" i="0" dirty="0">
                <a:effectLst/>
              </a:rPr>
              <a:t>, I.-C., </a:t>
            </a:r>
            <a:r>
              <a:rPr lang="en-US" sz="1800" b="0" i="0" dirty="0" err="1">
                <a:effectLst/>
              </a:rPr>
              <a:t>Petrariu</a:t>
            </a:r>
            <a:r>
              <a:rPr lang="en-US" sz="1800" b="0" i="0" dirty="0">
                <a:effectLst/>
              </a:rPr>
              <a:t>, I.-R., &amp; Giurgiu, A. (2021). </a:t>
            </a:r>
            <a:r>
              <a:rPr lang="en-US" sz="1800" b="0" i="1" dirty="0">
                <a:effectLst/>
              </a:rPr>
              <a:t>ARIMA vs. MACHINE LEARNING IN TERMS OF EQUITY MARKET FORECASTING</a:t>
            </a:r>
            <a:r>
              <a:rPr lang="en-US" sz="1800" b="0" i="0" dirty="0">
                <a:effectLst/>
              </a:rPr>
              <a:t>. The Annals of the University of Oradea. Economic Sciences, XXX(2), 299-308.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Tang, Y. M., Chau, K.-Y., Li, W., &amp; Wan, T. W. (2020). </a:t>
            </a:r>
            <a:r>
              <a:rPr lang="en-US" sz="1800" b="0" i="1" dirty="0">
                <a:effectLst/>
              </a:rPr>
              <a:t>Forecasting Economic Recession through Share Price in the Logistics Industry with Artificial Intelligence (AI)</a:t>
            </a:r>
            <a:r>
              <a:rPr lang="en-US" sz="1800" b="0" i="0" dirty="0">
                <a:effectLst/>
              </a:rPr>
              <a:t>. Computation, 8(3).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Liu, J., Yan, R., &amp; Zhang, Y. (2023). </a:t>
            </a:r>
            <a:r>
              <a:rPr lang="en-US" sz="1800" b="0" i="1" dirty="0">
                <a:effectLst/>
              </a:rPr>
              <a:t>Stock Market Forecasting Using the ARIMA GARCH and Random Forest Model During The Russia–Ukraine War</a:t>
            </a:r>
            <a:r>
              <a:rPr lang="en-US" sz="1800" b="0" i="0" dirty="0">
                <a:effectLst/>
              </a:rPr>
              <a:t>. Applied Economics and Policy Studies book series (AEPS), Springer.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 err="1">
                <a:effectLst/>
              </a:rPr>
              <a:t>Zulkefly</a:t>
            </a:r>
            <a:r>
              <a:rPr lang="en-US" sz="1800" b="0" i="0" dirty="0">
                <a:effectLst/>
              </a:rPr>
              <a:t>, R. N., Karim, A. A., Rahman, A. A., &amp; </a:t>
            </a:r>
            <a:r>
              <a:rPr lang="en-US" sz="1800" b="0" i="0" dirty="0" err="1">
                <a:effectLst/>
              </a:rPr>
              <a:t>Sarmidi</a:t>
            </a:r>
            <a:r>
              <a:rPr lang="en-US" sz="1800" b="0" i="0" dirty="0">
                <a:effectLst/>
              </a:rPr>
              <a:t>, T. (2020). </a:t>
            </a:r>
            <a:r>
              <a:rPr lang="en-US" sz="1800" b="0" i="1" dirty="0">
                <a:effectLst/>
              </a:rPr>
              <a:t>Financial inclusiveness and economic growth: New evidence using a threshold regression analysis</a:t>
            </a:r>
            <a:r>
              <a:rPr lang="en-US" sz="1800" b="0" i="0" dirty="0">
                <a:effectLst/>
              </a:rPr>
              <a:t>. Economic Research-</a:t>
            </a:r>
            <a:r>
              <a:rPr lang="en-US" sz="1800" b="0" i="0" dirty="0" err="1">
                <a:effectLst/>
              </a:rPr>
              <a:t>Ekonomska</a:t>
            </a:r>
            <a:r>
              <a:rPr lang="en-US" sz="1800" b="0" i="0" dirty="0">
                <a:effectLst/>
              </a:rPr>
              <a:t> </a:t>
            </a:r>
            <a:r>
              <a:rPr lang="en-US" sz="1800" b="0" i="0" dirty="0" err="1">
                <a:effectLst/>
              </a:rPr>
              <a:t>Istraživanja</a:t>
            </a:r>
            <a:r>
              <a:rPr lang="en-US" sz="1800" b="0" i="0" dirty="0">
                <a:effectLst/>
              </a:rPr>
              <a:t>, 33(1), 1465-1484.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Hossain, M. J. (2023). </a:t>
            </a:r>
            <a:r>
              <a:rPr lang="en-US" sz="1800" b="0" i="1" dirty="0">
                <a:effectLst/>
              </a:rPr>
              <a:t>Comparative Analysis of ARIMA SARIMAX and Random Forest Models for Forecasting Future GDP in Relation to Unemployment Rate</a:t>
            </a:r>
            <a:r>
              <a:rPr lang="en-US" sz="1800" b="0" i="0" dirty="0">
                <a:effectLst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CS6501 Project I PGP, ICER, VIT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DC104-672A-4227-99C4-0E2CC007FDBA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06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2421</Words>
  <Application>Microsoft Office PowerPoint</Application>
  <PresentationFormat>Widescreen</PresentationFormat>
  <Paragraphs>201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Narrow</vt:lpstr>
      <vt:lpstr>Calibri</vt:lpstr>
      <vt:lpstr>Calibri Light</vt:lpstr>
      <vt:lpstr>Söhne</vt:lpstr>
      <vt:lpstr>Office Theme</vt:lpstr>
      <vt:lpstr>Project Title: Behavioral Finance Patterns in Predicting Global Financial Crises: An Analytical Approach to Crisis Forecasting  Domain: Economics &amp; Finance   </vt:lpstr>
      <vt:lpstr>Problem Statement</vt:lpstr>
      <vt:lpstr>Objectives</vt:lpstr>
      <vt:lpstr>Review of Related Literature</vt:lpstr>
      <vt:lpstr>PowerPoint Presentation</vt:lpstr>
      <vt:lpstr>Column/Feature Details of the Dataset</vt:lpstr>
      <vt:lpstr>Column/Feature Details of the Dataset (continued)</vt:lpstr>
      <vt:lpstr>Details about the columns</vt:lpstr>
      <vt:lpstr>Proposed Methodology</vt:lpstr>
      <vt:lpstr>Exploratory Data Analysis </vt:lpstr>
      <vt:lpstr>Exploratory Data Analysis </vt:lpstr>
      <vt:lpstr>Exploratory Data Analysis </vt:lpstr>
      <vt:lpstr>Exploratory Data Analysis </vt:lpstr>
      <vt:lpstr>Exploratory Data Analysis </vt:lpstr>
      <vt:lpstr>Exploratory Data Analysis </vt:lpstr>
      <vt:lpstr>Exploratory Data Analysis </vt:lpstr>
      <vt:lpstr>Exploratory Data Analysis </vt:lpstr>
      <vt:lpstr>Exploratory Data Analysis </vt:lpstr>
      <vt:lpstr>Next Step of Research Focus</vt:lpstr>
      <vt:lpstr>Conclusion</vt:lpstr>
      <vt:lpstr>References : APA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Domain:</dc:title>
  <dc:creator>Angay</dc:creator>
  <cp:lastModifiedBy>Dharshani A</cp:lastModifiedBy>
  <cp:revision>21</cp:revision>
  <dcterms:created xsi:type="dcterms:W3CDTF">2023-11-15T14:09:37Z</dcterms:created>
  <dcterms:modified xsi:type="dcterms:W3CDTF">2023-11-27T09:41:28Z</dcterms:modified>
</cp:coreProperties>
</file>