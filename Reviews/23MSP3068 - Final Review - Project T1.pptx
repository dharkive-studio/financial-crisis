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7" r:id="rId3"/>
    <p:sldId id="268" r:id="rId4"/>
    <p:sldId id="261" r:id="rId5"/>
    <p:sldId id="262" r:id="rId6"/>
    <p:sldId id="299" r:id="rId7"/>
    <p:sldId id="260" r:id="rId8"/>
    <p:sldId id="275" r:id="rId9"/>
    <p:sldId id="300" r:id="rId10"/>
    <p:sldId id="277" r:id="rId11"/>
    <p:sldId id="278" r:id="rId12"/>
    <p:sldId id="279" r:id="rId13"/>
    <p:sldId id="290" r:id="rId14"/>
    <p:sldId id="296" r:id="rId15"/>
    <p:sldId id="285" r:id="rId16"/>
    <p:sldId id="291" r:id="rId17"/>
    <p:sldId id="283" r:id="rId18"/>
    <p:sldId id="297" r:id="rId19"/>
    <p:sldId id="282" r:id="rId20"/>
    <p:sldId id="286" r:id="rId21"/>
    <p:sldId id="287" r:id="rId22"/>
    <p:sldId id="288" r:id="rId23"/>
    <p:sldId id="281" r:id="rId24"/>
    <p:sldId id="289" r:id="rId25"/>
    <p:sldId id="298" r:id="rId26"/>
    <p:sldId id="265" r:id="rId27"/>
    <p:sldId id="264" r:id="rId28"/>
    <p:sldId id="2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69" autoAdjust="0"/>
    <p:restoredTop sz="94660"/>
  </p:normalViewPr>
  <p:slideViewPr>
    <p:cSldViewPr snapToGrid="0">
      <p:cViewPr varScale="1">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92B27-0DD7-2A08-BAAE-CB1F1972E7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B5B1C2-6382-2578-BE0F-47184D9F31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699979A-D6BE-3849-26F9-265F24AFEF01}"/>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5" name="Footer Placeholder 4">
            <a:extLst>
              <a:ext uri="{FF2B5EF4-FFF2-40B4-BE49-F238E27FC236}">
                <a16:creationId xmlns:a16="http://schemas.microsoft.com/office/drawing/2014/main" id="{4A7C367E-D194-EEE2-7B90-86CDD0499E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A0F92C-E042-6BBC-764C-F1358816E1DC}"/>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1999426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CDAD4-A61C-F313-0745-36C6823F60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F27971-7969-8189-EF9F-4FF6F7FE23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70B45F-E639-6D62-C3F6-3F82E8AC4DF1}"/>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5" name="Footer Placeholder 4">
            <a:extLst>
              <a:ext uri="{FF2B5EF4-FFF2-40B4-BE49-F238E27FC236}">
                <a16:creationId xmlns:a16="http://schemas.microsoft.com/office/drawing/2014/main" id="{006389A8-0CBA-5E07-EFC3-5E3C4EAA4F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1F497A-57BA-9009-C7EB-CAA87556BB66}"/>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1265040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5CB7-DB6A-806D-8F3D-4884559215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B59791-C42C-7A8E-C819-957A488A4B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7A2573-65CF-EF1A-4483-C7181E7213E1}"/>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5" name="Footer Placeholder 4">
            <a:extLst>
              <a:ext uri="{FF2B5EF4-FFF2-40B4-BE49-F238E27FC236}">
                <a16:creationId xmlns:a16="http://schemas.microsoft.com/office/drawing/2014/main" id="{3CEBE982-0922-F429-205D-10825775B7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0B2590-2C17-53AD-463B-2447022738AC}"/>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202929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067A6-FAB2-91CF-0F51-BCB1CF22B0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D920F3-389F-CA6E-F887-620AB55ADE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BD61B3-94BB-E8B8-E424-B9D46A182A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CC4A46-CA15-5DC4-2E4A-75D68D54BDAA}"/>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6" name="Footer Placeholder 5">
            <a:extLst>
              <a:ext uri="{FF2B5EF4-FFF2-40B4-BE49-F238E27FC236}">
                <a16:creationId xmlns:a16="http://schemas.microsoft.com/office/drawing/2014/main" id="{0D58FDA1-81A0-4A5F-EDFE-27A82770FA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6D2CA4-339F-0ABC-CDCB-9F1A8CE2F6BE}"/>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1375673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61241-E434-6477-5D27-5F8CB90E7B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31EA50-E7AF-9928-92DF-D2961354B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84403C-6A6D-3669-8354-B4576B494A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0AD5BA-185E-C2A8-2ACB-30F8E597A9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DCE195-37F0-6DC6-EC13-D68FFEC872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F1D776-C109-D540-CC94-116AD414D14B}"/>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8" name="Footer Placeholder 7">
            <a:extLst>
              <a:ext uri="{FF2B5EF4-FFF2-40B4-BE49-F238E27FC236}">
                <a16:creationId xmlns:a16="http://schemas.microsoft.com/office/drawing/2014/main" id="{082F7E2C-7E61-187B-3758-F9E07BCCDC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A11EE3-F8CE-6C7C-9A7E-200E72C6D77A}"/>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4175313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AEB49-BE32-1CE1-A45C-9A3D0F4B29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D5B180-0605-C020-A9F8-88C623E53BC8}"/>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4" name="Footer Placeholder 3">
            <a:extLst>
              <a:ext uri="{FF2B5EF4-FFF2-40B4-BE49-F238E27FC236}">
                <a16:creationId xmlns:a16="http://schemas.microsoft.com/office/drawing/2014/main" id="{EA21D673-744E-2DD3-09C4-F0CD87B29D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CAF2EE-C152-1979-209C-508740DD6E9F}"/>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2849700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68FD95-0AFF-278F-0812-8E601FCED096}"/>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3" name="Footer Placeholder 2">
            <a:extLst>
              <a:ext uri="{FF2B5EF4-FFF2-40B4-BE49-F238E27FC236}">
                <a16:creationId xmlns:a16="http://schemas.microsoft.com/office/drawing/2014/main" id="{F3736538-3EAE-3E52-B9D1-60FB3891A5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822A20-CB30-075C-8E87-9D408AD1E4E4}"/>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1404869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C1670-C0F0-620B-2D4A-69FF9C487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F99663-2E95-D938-CE7A-3D80D95C1B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CF3767-E725-547A-C36D-E2BD5D1B0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EA9729-C778-6287-8A91-1478D05DBDC8}"/>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6" name="Footer Placeholder 5">
            <a:extLst>
              <a:ext uri="{FF2B5EF4-FFF2-40B4-BE49-F238E27FC236}">
                <a16:creationId xmlns:a16="http://schemas.microsoft.com/office/drawing/2014/main" id="{E84D640B-99B0-F314-A182-C7817D1F0F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4492B4-D24A-87AA-0E79-3B42E3F61F50}"/>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4054930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61D50-135A-0463-762E-C17E768AF6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E27081F-CF6B-FCEE-DC0F-C769C407F5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4C45FA-E6EB-0EE6-405D-4DF6DAC283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504E6-93D4-4D0B-3072-D17E4DF8F723}"/>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6" name="Footer Placeholder 5">
            <a:extLst>
              <a:ext uri="{FF2B5EF4-FFF2-40B4-BE49-F238E27FC236}">
                <a16:creationId xmlns:a16="http://schemas.microsoft.com/office/drawing/2014/main" id="{829C8353-C833-3662-1B0D-97845CECAD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ACE775-FE2B-028D-9098-9DAFCB1E220F}"/>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1108988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D2FE9-475E-EC3C-61CB-108DEDECEE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D2CDE0-0128-09DD-7ED8-1E30416210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860336-B3DF-115D-E082-328D26D3E72A}"/>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5" name="Footer Placeholder 4">
            <a:extLst>
              <a:ext uri="{FF2B5EF4-FFF2-40B4-BE49-F238E27FC236}">
                <a16:creationId xmlns:a16="http://schemas.microsoft.com/office/drawing/2014/main" id="{9A48D418-DD8A-FDE8-A9B0-9D69A18B0E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200888-1DC0-3492-A906-693301759ACB}"/>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2730266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6273C-8E3E-9861-6839-837459418C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CF9343-5666-EB96-B4E2-BC7D816278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A89044-2FC2-A1FC-8EF7-4D3C5B02BB4B}"/>
              </a:ext>
            </a:extLst>
          </p:cNvPr>
          <p:cNvSpPr>
            <a:spLocks noGrp="1"/>
          </p:cNvSpPr>
          <p:nvPr>
            <p:ph type="dt" sz="half" idx="10"/>
          </p:nvPr>
        </p:nvSpPr>
        <p:spPr/>
        <p:txBody>
          <a:bodyPr/>
          <a:lstStyle/>
          <a:p>
            <a:fld id="{9A01EA13-DAE2-4307-9DD1-CAA1536ADEE7}" type="datetimeFigureOut">
              <a:rPr lang="en-IN" smtClean="0"/>
              <a:t>12-12-2023</a:t>
            </a:fld>
            <a:endParaRPr lang="en-IN"/>
          </a:p>
        </p:txBody>
      </p:sp>
      <p:sp>
        <p:nvSpPr>
          <p:cNvPr id="5" name="Footer Placeholder 4">
            <a:extLst>
              <a:ext uri="{FF2B5EF4-FFF2-40B4-BE49-F238E27FC236}">
                <a16:creationId xmlns:a16="http://schemas.microsoft.com/office/drawing/2014/main" id="{D921508C-CE80-4B81-8C20-05E9996D4F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CF1E16-C68A-76D4-BC5B-5476AB291799}"/>
              </a:ext>
            </a:extLst>
          </p:cNvPr>
          <p:cNvSpPr>
            <a:spLocks noGrp="1"/>
          </p:cNvSpPr>
          <p:nvPr>
            <p:ph type="sldNum" sz="quarter" idx="12"/>
          </p:nvPr>
        </p:nvSpPr>
        <p:spPr/>
        <p:txBody>
          <a:bodyPr/>
          <a:lstStyle/>
          <a:p>
            <a:fld id="{0CCEE768-3DB5-4C85-BC8F-D883305E7ACF}" type="slidenum">
              <a:rPr lang="en-IN" smtClean="0"/>
              <a:t>‹#›</a:t>
            </a:fld>
            <a:endParaRPr lang="en-IN"/>
          </a:p>
        </p:txBody>
      </p:sp>
    </p:spTree>
    <p:extLst>
      <p:ext uri="{BB962C8B-B14F-4D97-AF65-F5344CB8AC3E}">
        <p14:creationId xmlns:p14="http://schemas.microsoft.com/office/powerpoint/2010/main" val="3891731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5AA8D-6E69-7633-A080-B03F09A6EC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EB7D47-F7D7-C27A-10EF-CB457B1B7C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F43564-09C5-3401-7E75-4DFBBE2E54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1EA13-DAE2-4307-9DD1-CAA1536ADEE7}" type="datetimeFigureOut">
              <a:rPr lang="en-IN" smtClean="0"/>
              <a:t>12-12-2023</a:t>
            </a:fld>
            <a:endParaRPr lang="en-IN"/>
          </a:p>
        </p:txBody>
      </p:sp>
      <p:sp>
        <p:nvSpPr>
          <p:cNvPr id="5" name="Footer Placeholder 4">
            <a:extLst>
              <a:ext uri="{FF2B5EF4-FFF2-40B4-BE49-F238E27FC236}">
                <a16:creationId xmlns:a16="http://schemas.microsoft.com/office/drawing/2014/main" id="{B85C97E4-5C38-50C1-EA9C-1E6E3DBE03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0210C8-B58F-1B31-D79C-6F0D4DD166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CEE768-3DB5-4C85-BC8F-D883305E7ACF}" type="slidenum">
              <a:rPr lang="en-IN" smtClean="0"/>
              <a:t>‹#›</a:t>
            </a:fld>
            <a:endParaRPr lang="en-IN"/>
          </a:p>
        </p:txBody>
      </p:sp>
    </p:spTree>
    <p:extLst>
      <p:ext uri="{BB962C8B-B14F-4D97-AF65-F5344CB8AC3E}">
        <p14:creationId xmlns:p14="http://schemas.microsoft.com/office/powerpoint/2010/main" val="3694505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code/jorgegarciainiguez/global-financial-crisis-analytic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568"/>
            <a:ext cx="9144000" cy="4124194"/>
          </a:xfrm>
        </p:spPr>
        <p:txBody>
          <a:bodyPr/>
          <a:lstStyle/>
          <a:p>
            <a:r>
              <a:rPr kumimoji="0" lang="en-US" sz="3200" b="0" i="0" u="none" strike="noStrike" kern="1200" cap="none" spc="0" normalizeH="0" baseline="0" noProof="0" dirty="0">
                <a:ln>
                  <a:noFill/>
                </a:ln>
                <a:solidFill>
                  <a:prstClr val="black"/>
                </a:solidFill>
                <a:effectLst/>
                <a:uLnTx/>
                <a:uFillTx/>
                <a:latin typeface="Calibri" panose="020F0502020204030204"/>
                <a:ea typeface="+mj-ea"/>
                <a:cs typeface="+mj-cs"/>
              </a:rPr>
              <a:t>Project Title: </a:t>
            </a:r>
            <a:r>
              <a:rPr kumimoji="0" lang="en-US" sz="3200" b="1" i="0" u="none" strike="noStrike" kern="1200" cap="none" spc="0" normalizeH="0" baseline="0" noProof="0" dirty="0">
                <a:ln>
                  <a:noFill/>
                </a:ln>
                <a:solidFill>
                  <a:srgbClr val="0F0F0F"/>
                </a:solidFill>
                <a:effectLst/>
                <a:uLnTx/>
                <a:uFillTx/>
                <a:latin typeface="Calibri" panose="020F0502020204030204"/>
                <a:ea typeface="+mj-ea"/>
                <a:cs typeface="+mj-cs"/>
              </a:rPr>
              <a:t>Behavioral Finance Patterns in Predicting Global Financial Crises: An Analytical Approach to Crisis Forecasting</a:t>
            </a:r>
            <a:br>
              <a:rPr kumimoji="0" lang="en-US" sz="3200" b="1" i="0" u="none" strike="noStrike" kern="1200" cap="none" spc="0" normalizeH="0" baseline="0" noProof="0" dirty="0">
                <a:ln>
                  <a:noFill/>
                </a:ln>
                <a:solidFill>
                  <a:srgbClr val="0F0F0F"/>
                </a:solidFill>
                <a:effectLst/>
                <a:uLnTx/>
                <a:uFillTx/>
                <a:latin typeface="Calibri" panose="020F0502020204030204"/>
                <a:ea typeface="+mj-ea"/>
                <a:cs typeface="+mj-cs"/>
              </a:rPr>
            </a:br>
            <a:br>
              <a:rPr kumimoji="0" lang="en-US" sz="3200" b="0" i="0" u="none" strike="noStrike" kern="1200" cap="none" spc="0" normalizeH="0" baseline="0" noProof="0" dirty="0">
                <a:ln>
                  <a:noFill/>
                </a:ln>
                <a:solidFill>
                  <a:prstClr val="black"/>
                </a:solidFill>
                <a:effectLst/>
                <a:uLnTx/>
                <a:uFillTx/>
                <a:latin typeface="Arial Narrow" panose="020B0606020202030204" pitchFamily="34" charset="0"/>
                <a:ea typeface="+mj-ea"/>
                <a:cs typeface="+mj-cs"/>
              </a:rPr>
            </a:br>
            <a:r>
              <a:rPr kumimoji="0" lang="en-US" sz="3200" b="0" i="0" u="none" strike="noStrike" kern="1200" cap="none" spc="0" normalizeH="0" baseline="0" noProof="0" dirty="0">
                <a:ln>
                  <a:noFill/>
                </a:ln>
                <a:solidFill>
                  <a:prstClr val="black"/>
                </a:solidFill>
                <a:effectLst/>
                <a:uLnTx/>
                <a:uFillTx/>
                <a:latin typeface="Arial Narrow" panose="020B0606020202030204" pitchFamily="34" charset="0"/>
                <a:ea typeface="+mj-ea"/>
                <a:cs typeface="+mj-cs"/>
              </a:rPr>
              <a:t>Domain: </a:t>
            </a:r>
            <a:r>
              <a:rPr kumimoji="0" lang="en-US" sz="3200" b="1" i="0" u="none" strike="noStrike" kern="1200" cap="none" spc="0" normalizeH="0" baseline="0" noProof="0" dirty="0">
                <a:ln>
                  <a:noFill/>
                </a:ln>
                <a:solidFill>
                  <a:prstClr val="black"/>
                </a:solidFill>
                <a:effectLst/>
                <a:uLnTx/>
                <a:uFillTx/>
                <a:latin typeface="Arial Narrow" panose="020B0606020202030204" pitchFamily="34" charset="0"/>
                <a:ea typeface="+mj-ea"/>
                <a:cs typeface="+mj-cs"/>
              </a:rPr>
              <a:t>Economics &amp; Finance</a:t>
            </a:r>
            <a:br>
              <a:rPr lang="en-US" dirty="0">
                <a:latin typeface="Arial Narrow" panose="020B0606020202030204" pitchFamily="34" charset="0"/>
              </a:rPr>
            </a:br>
            <a:r>
              <a:rPr lang="en-US" dirty="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sz="2400" b="1" dirty="0">
                <a:solidFill>
                  <a:schemeClr val="tx1"/>
                </a:solidFill>
              </a:rPr>
              <a:t>Register Number: </a:t>
            </a:r>
            <a:r>
              <a:rPr lang="en-US" sz="2400" dirty="0">
                <a:solidFill>
                  <a:schemeClr val="tx1"/>
                </a:solidFill>
              </a:rPr>
              <a:t>23MSP3068</a:t>
            </a:r>
          </a:p>
          <a:p>
            <a:pPr algn="r"/>
            <a:r>
              <a:rPr lang="en-US" sz="2400" b="1" dirty="0">
                <a:solidFill>
                  <a:schemeClr val="tx1"/>
                </a:solidFill>
              </a:rPr>
              <a:t>Name:</a:t>
            </a:r>
            <a:r>
              <a:rPr lang="en-US" sz="2400" dirty="0">
                <a:solidFill>
                  <a:schemeClr val="tx1"/>
                </a:solidFill>
              </a:rPr>
              <a:t> Dha</a:t>
            </a:r>
            <a:r>
              <a:rPr lang="en-US" sz="2400" dirty="0"/>
              <a:t>rshani</a:t>
            </a:r>
            <a:r>
              <a:rPr lang="en-US" sz="2400" dirty="0">
                <a:solidFill>
                  <a:schemeClr val="tx1"/>
                </a:solidFill>
              </a:rPr>
              <a:t> A.</a:t>
            </a:r>
          </a:p>
          <a:p>
            <a:pPr algn="r"/>
            <a:r>
              <a:rPr lang="en-US" sz="2400" b="1" dirty="0">
                <a:solidFill>
                  <a:schemeClr val="tx1"/>
                </a:solidFill>
              </a:rPr>
              <a:t>Date: </a:t>
            </a:r>
            <a:r>
              <a:rPr lang="en-US" dirty="0"/>
              <a:t>12</a:t>
            </a:r>
            <a:r>
              <a:rPr lang="en-US" sz="2400" dirty="0">
                <a:solidFill>
                  <a:schemeClr val="tx1"/>
                </a:solidFill>
              </a:rPr>
              <a:t>-12-2023</a:t>
            </a:r>
            <a:endParaRPr lang="en-IN" sz="2400" dirty="0">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Final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latin typeface="Arial Narrow" panose="020B0606020202030204" pitchFamily="34" charset="0"/>
              </a:rPr>
              <a:t>CS6510</a:t>
            </a:r>
          </a:p>
          <a:p>
            <a:r>
              <a:rPr lang="en-US" b="1" dirty="0">
                <a:latin typeface="Arial Narrow" panose="020B0606020202030204" pitchFamily="34" charset="0"/>
              </a:rPr>
              <a:t>Course Title:  </a:t>
            </a:r>
            <a:r>
              <a:rPr lang="en-US">
                <a:latin typeface="Arial Narrow" panose="020B0606020202030204" pitchFamily="34" charset="0"/>
              </a:rPr>
              <a:t>Project 1</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dirty="0">
                <a:latin typeface="Arial Narrow" panose="020B0606020202030204" pitchFamily="34" charset="0"/>
              </a:rPr>
              <a:t>CS6501 Project I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223"/>
            <a:ext cx="10515600" cy="1325563"/>
          </a:xfrm>
        </p:spPr>
        <p:txBody>
          <a:bodyPr/>
          <a:lstStyle/>
          <a:p>
            <a:r>
              <a:rPr lang="en-US" b="1" dirty="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p:cNvSpPr>
            <a:spLocks noGrp="1"/>
          </p:cNvSpPr>
          <p:nvPr>
            <p:ph idx="1"/>
          </p:nvPr>
        </p:nvSpPr>
        <p:spPr>
          <a:xfrm>
            <a:off x="127000" y="836007"/>
            <a:ext cx="11938000" cy="5702905"/>
          </a:xfrm>
        </p:spPr>
        <p:txBody>
          <a:bodyPr>
            <a:normAutofit/>
          </a:bodyPr>
          <a:lstStyle/>
          <a:p>
            <a:r>
              <a:rPr lang="en-IN" sz="2000" dirty="0">
                <a:effectLst/>
                <a:latin typeface="Times New Roman" panose="02020603050405020304" pitchFamily="18" charset="0"/>
                <a:ea typeface="Calibri" panose="020F0502020204030204" pitchFamily="34" charset="0"/>
                <a:cs typeface="Latha" panose="020B0604020202020204" pitchFamily="34" charset="0"/>
              </a:rPr>
              <a:t>The financial sector is ever-evolving, and there's a critical need for models that can predict crises before they occur. This study focuses on developing a predictive model for forecasting financial crises by examining extensive historical economic data, market trends, and information from previous global financial downturns. This is achieved by utilizing data from Global Financial Crisis Analytics, incorporating SARIMAX time series analysis, and employing advanced machine learning techniques, including LSTM neural networks. These methods are used to identify economic patterns and interactions.</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r>
              <a:rPr lang="en-IN" sz="2000" dirty="0">
                <a:effectLst/>
                <a:latin typeface="Times New Roman" panose="02020603050405020304" pitchFamily="18" charset="0"/>
                <a:ea typeface="Calibri" panose="020F0502020204030204" pitchFamily="34" charset="0"/>
                <a:cs typeface="Latha" panose="020B0604020202020204" pitchFamily="34" charset="0"/>
              </a:rPr>
              <a:t>The research aims to achieve two main objectives: predicting global financial crises and exploring the underlying causes of economic fluctuations. The approach combines principles of </a:t>
            </a:r>
            <a:r>
              <a:rPr lang="en-IN" sz="2000" dirty="0" err="1">
                <a:effectLst/>
                <a:latin typeface="Times New Roman" panose="02020603050405020304" pitchFamily="18" charset="0"/>
                <a:ea typeface="Calibri" panose="020F0502020204030204" pitchFamily="34" charset="0"/>
                <a:cs typeface="Latha" panose="020B0604020202020204" pitchFamily="34" charset="0"/>
              </a:rPr>
              <a:t>behavioral</a:t>
            </a:r>
            <a:r>
              <a:rPr lang="en-IN" sz="2000" dirty="0">
                <a:effectLst/>
                <a:latin typeface="Times New Roman" panose="02020603050405020304" pitchFamily="18" charset="0"/>
                <a:ea typeface="Calibri" panose="020F0502020204030204" pitchFamily="34" charset="0"/>
                <a:cs typeface="Latha" panose="020B0604020202020204" pitchFamily="34" charset="0"/>
              </a:rPr>
              <a:t> finance with analytical rigor, utilizing both regression analysis and pattern recognition to predict and understand financial instability. The analysis reveals a significant correlation between certain economic indicators and the onset of financial crises.</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r>
              <a:rPr lang="en-IN" sz="2000" dirty="0">
                <a:effectLst/>
                <a:latin typeface="Times New Roman" panose="02020603050405020304" pitchFamily="18" charset="0"/>
                <a:ea typeface="Calibri" panose="020F0502020204030204" pitchFamily="34" charset="0"/>
                <a:cs typeface="Latha" panose="020B0604020202020204" pitchFamily="34" charset="0"/>
              </a:rPr>
              <a:t>The results of this research carry important implications for policy formulation and investment decision-making. They offer new strategies for mitigating financial risks and strengthening the economy's resilience against turbulence. By merging proven econometric methods with cutting-edge machine learning technologies, including LSTM neural networks, this study provides new insights into </a:t>
            </a:r>
            <a:r>
              <a:rPr lang="en-IN" sz="2000" dirty="0" err="1">
                <a:effectLst/>
                <a:latin typeface="Times New Roman" panose="02020603050405020304" pitchFamily="18" charset="0"/>
                <a:ea typeface="Calibri" panose="020F0502020204030204" pitchFamily="34" charset="0"/>
                <a:cs typeface="Latha" panose="020B0604020202020204" pitchFamily="34" charset="0"/>
              </a:rPr>
              <a:t>behavioral</a:t>
            </a:r>
            <a:r>
              <a:rPr lang="en-IN" sz="2000" dirty="0">
                <a:effectLst/>
                <a:latin typeface="Times New Roman" panose="02020603050405020304" pitchFamily="18" charset="0"/>
                <a:ea typeface="Calibri" panose="020F0502020204030204" pitchFamily="34" charset="0"/>
                <a:cs typeface="Latha" panose="020B0604020202020204" pitchFamily="34" charset="0"/>
              </a:rPr>
              <a:t> finance and a robust framework for anticipating economic downturns.</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r>
              <a:rPr lang="en-IN" sz="2000" dirty="0">
                <a:effectLst/>
                <a:latin typeface="Times New Roman" panose="02020603050405020304" pitchFamily="18" charset="0"/>
                <a:ea typeface="Calibri" panose="020F0502020204030204" pitchFamily="34" charset="0"/>
                <a:cs typeface="Latha" panose="020B0604020202020204" pitchFamily="34" charset="0"/>
              </a:rPr>
              <a:t>Keywords: Global Financial Crisis, Predictive </a:t>
            </a:r>
            <a:r>
              <a:rPr lang="en-IN" sz="2000" dirty="0" err="1">
                <a:effectLst/>
                <a:latin typeface="Times New Roman" panose="02020603050405020304" pitchFamily="18" charset="0"/>
                <a:ea typeface="Calibri" panose="020F0502020204030204" pitchFamily="34" charset="0"/>
                <a:cs typeface="Latha" panose="020B0604020202020204" pitchFamily="34" charset="0"/>
              </a:rPr>
              <a:t>Modeling</a:t>
            </a:r>
            <a:r>
              <a:rPr lang="en-IN" sz="2000" dirty="0">
                <a:effectLst/>
                <a:latin typeface="Times New Roman" panose="02020603050405020304" pitchFamily="18" charset="0"/>
                <a:ea typeface="Calibri" panose="020F0502020204030204" pitchFamily="34" charset="0"/>
                <a:cs typeface="Latha" panose="020B0604020202020204" pitchFamily="34" charset="0"/>
              </a:rPr>
              <a:t>, Economic Indicators, Machine Learning, Time Series Analysis, ARIMA, SARIMAX, LSTM Neural Networks, Logistic Regression Analysis, </a:t>
            </a:r>
            <a:r>
              <a:rPr lang="en-IN" sz="2000" dirty="0" err="1">
                <a:effectLst/>
                <a:latin typeface="Times New Roman" panose="02020603050405020304" pitchFamily="18" charset="0"/>
                <a:ea typeface="Calibri" panose="020F0502020204030204" pitchFamily="34" charset="0"/>
                <a:cs typeface="Latha" panose="020B0604020202020204" pitchFamily="34" charset="0"/>
              </a:rPr>
              <a:t>Behavioral</a:t>
            </a:r>
            <a:r>
              <a:rPr lang="en-IN" sz="2000" dirty="0">
                <a:effectLst/>
                <a:latin typeface="Times New Roman" panose="02020603050405020304" pitchFamily="18" charset="0"/>
                <a:ea typeface="Calibri" panose="020F0502020204030204" pitchFamily="34" charset="0"/>
                <a:cs typeface="Latha" panose="020B0604020202020204" pitchFamily="34" charset="0"/>
              </a:rPr>
              <a:t> Finance.</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dirty="0"/>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532" y="-127590"/>
            <a:ext cx="10515600" cy="1325563"/>
          </a:xfrm>
        </p:spPr>
        <p:txBody>
          <a:bodyPr/>
          <a:lstStyle/>
          <a:p>
            <a:r>
              <a:rPr lang="en-US" b="1" dirty="0">
                <a:latin typeface="Arial Narrow" panose="020B0606020202030204" pitchFamily="34" charset="0"/>
              </a:rPr>
              <a:t>Introduction</a:t>
            </a:r>
            <a:endParaRPr lang="en-IN" dirty="0">
              <a:latin typeface="Arial Narrow" panose="020B0606020202030204" pitchFamily="34" charset="0"/>
            </a:endParaRPr>
          </a:p>
        </p:txBody>
      </p:sp>
      <p:sp>
        <p:nvSpPr>
          <p:cNvPr id="3" name="Content Placeholder 2"/>
          <p:cNvSpPr>
            <a:spLocks noGrp="1"/>
          </p:cNvSpPr>
          <p:nvPr>
            <p:ph idx="1"/>
          </p:nvPr>
        </p:nvSpPr>
        <p:spPr>
          <a:xfrm>
            <a:off x="147320" y="1025215"/>
            <a:ext cx="11897360" cy="5428748"/>
          </a:xfrm>
        </p:spPr>
        <p:txBody>
          <a:bodyPr>
            <a:normAutofit/>
          </a:bodyPr>
          <a:lstStyle/>
          <a:p>
            <a:pPr marL="0" indent="0">
              <a:buNone/>
            </a:pPr>
            <a:endParaRPr lang="en-IN" sz="1600" dirty="0"/>
          </a:p>
          <a:p>
            <a:pPr marL="0" indent="0" algn="just">
              <a:buNone/>
            </a:pPr>
            <a:endParaRPr lang="en-IN" sz="1600"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
        <p:nvSpPr>
          <p:cNvPr id="13" name="TextBox 12">
            <a:extLst>
              <a:ext uri="{FF2B5EF4-FFF2-40B4-BE49-F238E27FC236}">
                <a16:creationId xmlns:a16="http://schemas.microsoft.com/office/drawing/2014/main" id="{1CB21E2C-0579-F5F4-6C42-FE338EC85146}"/>
              </a:ext>
            </a:extLst>
          </p:cNvPr>
          <p:cNvSpPr txBox="1"/>
          <p:nvPr/>
        </p:nvSpPr>
        <p:spPr>
          <a:xfrm>
            <a:off x="73660" y="836586"/>
            <a:ext cx="12044680" cy="5632311"/>
          </a:xfrm>
          <a:prstGeom prst="rect">
            <a:avLst/>
          </a:prstGeom>
          <a:noFill/>
        </p:spPr>
        <p:txBody>
          <a:bodyPr wrap="square">
            <a:spAutoFit/>
          </a:bodyPr>
          <a:lstStyle/>
          <a:p>
            <a:pPr marL="285750" indent="-285750" algn="just">
              <a:lnSpc>
                <a:spcPct val="115000"/>
              </a:lnSpc>
              <a:spcBef>
                <a:spcPts val="1200"/>
              </a:spcBef>
              <a:spcAft>
                <a:spcPts val="8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cs typeface="Latha" panose="020B0604020202020204" pitchFamily="34" charset="0"/>
              </a:rPr>
              <a:t>This research provides a thorough exploration of the factors that shape financial dynamics, particularly emphasizing the examination of historical economic data and market </a:t>
            </a:r>
            <a:r>
              <a:rPr lang="en-IN" sz="1800" dirty="0" err="1">
                <a:effectLst/>
                <a:latin typeface="Times New Roman" panose="02020603050405020304" pitchFamily="18" charset="0"/>
                <a:ea typeface="Calibri" panose="020F0502020204030204" pitchFamily="34" charset="0"/>
                <a:cs typeface="Latha" panose="020B0604020202020204" pitchFamily="34" charset="0"/>
              </a:rPr>
              <a:t>behaviors</a:t>
            </a:r>
            <a:r>
              <a:rPr lang="en-IN" sz="1800" dirty="0">
                <a:effectLst/>
                <a:latin typeface="Times New Roman" panose="02020603050405020304" pitchFamily="18" charset="0"/>
                <a:ea typeface="Calibri" panose="020F0502020204030204" pitchFamily="34" charset="0"/>
                <a:cs typeface="Latha" panose="020B0604020202020204" pitchFamily="34" charset="0"/>
              </a:rPr>
              <a:t> during past global financial downturns. Leveraging datasets from the Global Financial Crisis Analytics, the study introduces a groundbreaking methodology that combines SARIMAX time series analysis with state-of-the-art machine learning techniques, including logistic regression and LSTM neural networks. This approach is innovative in its ability to identify early signals of financial crises.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285750" indent="-285750" algn="just">
              <a:lnSpc>
                <a:spcPct val="115000"/>
              </a:lnSpc>
              <a:spcBef>
                <a:spcPts val="1200"/>
              </a:spcBef>
              <a:spcAft>
                <a:spcPts val="8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cs typeface="Latha" panose="020B0604020202020204" pitchFamily="34" charset="0"/>
              </a:rPr>
              <a:t>Building upon existing financial analysis methods, this research integrates advanced technological advancements to refine these approaches. At its core, the study focuses on </a:t>
            </a:r>
            <a:r>
              <a:rPr lang="en-IN" sz="1800" dirty="0" err="1">
                <a:effectLst/>
                <a:latin typeface="Times New Roman" panose="02020603050405020304" pitchFamily="18" charset="0"/>
                <a:ea typeface="Calibri" panose="020F0502020204030204" pitchFamily="34" charset="0"/>
                <a:cs typeface="Latha" panose="020B0604020202020204" pitchFamily="34" charset="0"/>
              </a:rPr>
              <a:t>analyzing</a:t>
            </a:r>
            <a:r>
              <a:rPr lang="en-IN" sz="1800" dirty="0">
                <a:effectLst/>
                <a:latin typeface="Times New Roman" panose="02020603050405020304" pitchFamily="18" charset="0"/>
                <a:ea typeface="Calibri" panose="020F0502020204030204" pitchFamily="34" charset="0"/>
                <a:cs typeface="Latha" panose="020B0604020202020204" pitchFamily="34" charset="0"/>
              </a:rPr>
              <a:t> historical data and market </a:t>
            </a:r>
            <a:r>
              <a:rPr lang="en-IN" sz="1800" dirty="0" err="1">
                <a:effectLst/>
                <a:latin typeface="Times New Roman" panose="02020603050405020304" pitchFamily="18" charset="0"/>
                <a:ea typeface="Calibri" panose="020F0502020204030204" pitchFamily="34" charset="0"/>
                <a:cs typeface="Latha" panose="020B0604020202020204" pitchFamily="34" charset="0"/>
              </a:rPr>
              <a:t>behaviors</a:t>
            </a:r>
            <a:r>
              <a:rPr lang="en-IN" sz="1800" dirty="0">
                <a:effectLst/>
                <a:latin typeface="Times New Roman" panose="02020603050405020304" pitchFamily="18" charset="0"/>
                <a:ea typeface="Calibri" panose="020F0502020204030204" pitchFamily="34" charset="0"/>
                <a:cs typeface="Latha" panose="020B0604020202020204" pitchFamily="34" charset="0"/>
              </a:rPr>
              <a:t>, utilizing both SARIMAX and machine learning models for detailed and nuanced pattern detection. This strategy marks a significant progression in the field of financial forecasting, transitioning from traditional models like ARIMA to more complex and effective algorithms, including machine learning and neural networks.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285750" indent="-285750" algn="just">
              <a:lnSpc>
                <a:spcPct val="115000"/>
              </a:lnSpc>
              <a:spcBef>
                <a:spcPts val="1200"/>
              </a:spcBef>
              <a:spcAft>
                <a:spcPts val="800"/>
              </a:spcAft>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cs typeface="Latha" panose="020B0604020202020204" pitchFamily="34" charset="0"/>
              </a:rPr>
              <a:t>The research draws from a wide array of sources and methodologies, ranging from traditional econometric models to cutting-edge machine learning applications. It covers a broad spectrum of topics related to financial crises, from banking regulations to corporate risk disclosures, and economic recession forecasting. These comprehensive insights inform the direction of the study, highlighting the evolving trend towards the integration of machine learning with traditional financial analysis methods. This fusion aims to enhance the accuracy and reliability of financial crisis predictions and analysis, representing a notable advancement in the field of economic forecasting.</a:t>
            </a:r>
            <a:endParaRPr lang="en-IN" sz="18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Objectives</a:t>
            </a:r>
            <a:endParaRPr lang="en-IN" b="1" dirty="0">
              <a:latin typeface="Arial Narrow" panose="020B0606020202030204" pitchFamily="34" charset="0"/>
            </a:endParaRPr>
          </a:p>
        </p:txBody>
      </p:sp>
      <p:sp>
        <p:nvSpPr>
          <p:cNvPr id="3" name="Content Placeholder 2"/>
          <p:cNvSpPr>
            <a:spLocks noGrp="1"/>
          </p:cNvSpPr>
          <p:nvPr>
            <p:ph idx="1"/>
          </p:nvPr>
        </p:nvSpPr>
        <p:spPr>
          <a:xfrm>
            <a:off x="152400" y="1310640"/>
            <a:ext cx="11938000" cy="5045710"/>
          </a:xfrm>
        </p:spPr>
        <p:txBody>
          <a:bodyPr>
            <a:normAutofit lnSpcReduction="10000"/>
          </a:bodyPr>
          <a:lstStyle/>
          <a:p>
            <a:pPr marL="0" marR="48895" indent="0" algn="just">
              <a:lnSpc>
                <a:spcPct val="150000"/>
              </a:lnSpc>
              <a:spcBef>
                <a:spcPts val="1200"/>
              </a:spcBef>
              <a:spcAft>
                <a:spcPts val="800"/>
              </a:spcAft>
              <a:buNone/>
            </a:pPr>
            <a:r>
              <a:rPr lang="en-US" sz="2000" spc="10" dirty="0">
                <a:effectLst/>
                <a:latin typeface="Times New Roman" panose="02020603050405020304" pitchFamily="18" charset="0"/>
                <a:ea typeface="Segoe UI" panose="020B0502040204020203" pitchFamily="34" charset="0"/>
                <a:cs typeface="Latha" panose="020B0604020202020204" pitchFamily="34" charset="0"/>
              </a:rPr>
              <a:t>1. To undertake data preprocessing and conduct exploratory analysis on the chosen dataset.</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marR="48895" indent="0" algn="just">
              <a:lnSpc>
                <a:spcPct val="150000"/>
              </a:lnSpc>
              <a:spcBef>
                <a:spcPts val="1200"/>
              </a:spcBef>
              <a:spcAft>
                <a:spcPts val="800"/>
              </a:spcAft>
              <a:buNone/>
            </a:pPr>
            <a:r>
              <a:rPr lang="en-US" sz="2000" spc="10" dirty="0">
                <a:effectLst/>
                <a:latin typeface="Times New Roman" panose="02020603050405020304" pitchFamily="18" charset="0"/>
                <a:ea typeface="Segoe UI" panose="020B0502040204020203" pitchFamily="34" charset="0"/>
                <a:cs typeface="Latha" panose="020B0604020202020204" pitchFamily="34" charset="0"/>
              </a:rPr>
              <a:t>2. To design a model that utilizes the SARIMAX technique, known for its ability to analyze seasonal fluctuations, for the four types of crises (Banking, Systemic, Currency, and Inflation).</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marR="48895" indent="0" algn="just">
              <a:lnSpc>
                <a:spcPct val="150000"/>
              </a:lnSpc>
              <a:spcBef>
                <a:spcPts val="1200"/>
              </a:spcBef>
              <a:spcAft>
                <a:spcPts val="800"/>
              </a:spcAft>
              <a:buNone/>
            </a:pPr>
            <a:r>
              <a:rPr lang="en-US" sz="2000" spc="10" dirty="0">
                <a:effectLst/>
                <a:latin typeface="Times New Roman" panose="02020603050405020304" pitchFamily="18" charset="0"/>
                <a:ea typeface="Segoe UI" panose="020B0502040204020203" pitchFamily="34" charset="0"/>
                <a:cs typeface="Latha" panose="020B0604020202020204" pitchFamily="34" charset="0"/>
              </a:rPr>
              <a:t>3. To apply LSTM networks to explore and model intricate temporal relationships within economic time-series data.</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marR="48895" indent="0" algn="just">
              <a:lnSpc>
                <a:spcPct val="150000"/>
              </a:lnSpc>
              <a:spcBef>
                <a:spcPts val="1200"/>
              </a:spcBef>
              <a:spcAft>
                <a:spcPts val="800"/>
              </a:spcAft>
              <a:buNone/>
            </a:pPr>
            <a:r>
              <a:rPr lang="en-US" sz="2000" spc="10" dirty="0">
                <a:effectLst/>
                <a:latin typeface="Times New Roman" panose="02020603050405020304" pitchFamily="18" charset="0"/>
                <a:ea typeface="Segoe UI" panose="020B0502040204020203" pitchFamily="34" charset="0"/>
                <a:cs typeface="Latha" panose="020B0604020202020204" pitchFamily="34" charset="0"/>
              </a:rPr>
              <a:t>4. To innovate a hybrid methodology that combines the strengths of machine learning with econometric models to improve prediction accuracy.</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marR="48895" indent="0" algn="just">
              <a:lnSpc>
                <a:spcPct val="150000"/>
              </a:lnSpc>
              <a:spcBef>
                <a:spcPts val="1200"/>
              </a:spcBef>
              <a:spcAft>
                <a:spcPts val="800"/>
              </a:spcAft>
              <a:buNone/>
            </a:pPr>
            <a:r>
              <a:rPr lang="en-US" sz="2000" spc="10" dirty="0">
                <a:effectLst/>
                <a:latin typeface="Times New Roman" panose="02020603050405020304" pitchFamily="18" charset="0"/>
                <a:ea typeface="Segoe UI" panose="020B0502040204020203" pitchFamily="34" charset="0"/>
                <a:cs typeface="Latha" panose="020B0604020202020204" pitchFamily="34" charset="0"/>
              </a:rPr>
              <a:t>5. To execute a comparative study to evaluate the performance of the proposed hybrid models against established forecasting techniques.</a:t>
            </a:r>
            <a:endParaRPr lang="en-IN" sz="2000" dirty="0">
              <a:effectLst/>
              <a:latin typeface="Calibri" panose="020F0502020204030204" pitchFamily="34" charset="0"/>
              <a:ea typeface="Calibri" panose="020F0502020204030204" pitchFamily="34" charset="0"/>
              <a:cs typeface="Latha" panose="020B060402020202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935722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a:latin typeface="Arial Narrow" panose="020B0606020202030204" pitchFamily="34" charset="0"/>
              </a:rPr>
              <a:t>Review of Related Literature</a:t>
            </a:r>
            <a:endParaRPr lang="en-IN" b="1" dirty="0">
              <a:latin typeface="Arial Narrow" panose="020B0606020202030204" pitchFamily="34" charset="0"/>
            </a:endParaRPr>
          </a:p>
        </p:txBody>
      </p:sp>
      <p:sp>
        <p:nvSpPr>
          <p:cNvPr id="3" name="Content Placeholder 2"/>
          <p:cNvSpPr>
            <a:spLocks noGrp="1"/>
          </p:cNvSpPr>
          <p:nvPr>
            <p:ph idx="1"/>
          </p:nvPr>
        </p:nvSpPr>
        <p:spPr>
          <a:xfrm>
            <a:off x="162560" y="4836160"/>
            <a:ext cx="11866880" cy="1483225"/>
          </a:xfrm>
        </p:spPr>
        <p:txBody>
          <a:bodyPr>
            <a:normAutofit fontScale="92500" lnSpcReduction="20000"/>
          </a:bodyPr>
          <a:lstStyle/>
          <a:p>
            <a:r>
              <a:rPr lang="en-IN" sz="2000" dirty="0">
                <a:effectLst/>
                <a:latin typeface="Calibri" panose="020F0502020204030204" pitchFamily="34" charset="0"/>
                <a:ea typeface="Calibri" panose="020F0502020204030204" pitchFamily="34" charset="0"/>
                <a:cs typeface="Times New Roman" panose="02020603050405020304" pitchFamily="18" charset="0"/>
              </a:rPr>
              <a:t>Previous studies have focused on ARIMA models for economic forecasting, but they fall short in handling complex, non-linear patterns. </a:t>
            </a:r>
          </a:p>
          <a:p>
            <a:r>
              <a:rPr lang="en-IN" sz="2000" dirty="0">
                <a:effectLst/>
                <a:latin typeface="Calibri" panose="020F0502020204030204" pitchFamily="34" charset="0"/>
                <a:ea typeface="Calibri" panose="020F0502020204030204" pitchFamily="34" charset="0"/>
                <a:cs typeface="Times New Roman" panose="02020603050405020304" pitchFamily="18" charset="0"/>
              </a:rPr>
              <a:t>Recent advancements in machine learning, particularly Neural Networks, have shown potential in financial applications. </a:t>
            </a:r>
          </a:p>
          <a:p>
            <a:r>
              <a:rPr lang="en-IN" sz="2000" dirty="0">
                <a:effectLst/>
                <a:latin typeface="Calibri" panose="020F0502020204030204" pitchFamily="34" charset="0"/>
                <a:ea typeface="Calibri" panose="020F0502020204030204" pitchFamily="34" charset="0"/>
                <a:cs typeface="Times New Roman" panose="02020603050405020304" pitchFamily="18" charset="0"/>
              </a:rPr>
              <a:t>This research builds upon these findings, proposing a novel integration of SARIMAX and LSTM Neural Networks.</a:t>
            </a:r>
            <a:endParaRPr lang="en-IN" sz="3200" dirty="0">
              <a:solidFill>
                <a:srgbClr val="FF0000"/>
              </a:solidFill>
            </a:endParaRPr>
          </a:p>
        </p:txBody>
      </p:sp>
      <p:sp>
        <p:nvSpPr>
          <p:cNvPr id="4" name="Footer Placeholder 3"/>
          <p:cNvSpPr>
            <a:spLocks noGrp="1"/>
          </p:cNvSpPr>
          <p:nvPr>
            <p:ph type="ftr" sz="quarter" idx="11"/>
          </p:nvPr>
        </p:nvSpPr>
        <p:spPr/>
        <p:txBody>
          <a:bodyPr/>
          <a:lstStyle/>
          <a:p>
            <a:r>
              <a:rPr lang="en-IN" dirty="0"/>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graphicFrame>
        <p:nvGraphicFramePr>
          <p:cNvPr id="8" name="Table 7">
            <a:extLst>
              <a:ext uri="{FF2B5EF4-FFF2-40B4-BE49-F238E27FC236}">
                <a16:creationId xmlns:a16="http://schemas.microsoft.com/office/drawing/2014/main" id="{98B66F74-A54F-6104-AEE2-5C493E69A035}"/>
              </a:ext>
            </a:extLst>
          </p:cNvPr>
          <p:cNvGraphicFramePr>
            <a:graphicFrameLocks noGrp="1"/>
          </p:cNvGraphicFramePr>
          <p:nvPr/>
        </p:nvGraphicFramePr>
        <p:xfrm>
          <a:off x="162560" y="1153700"/>
          <a:ext cx="11866880" cy="3577596"/>
        </p:xfrm>
        <a:graphic>
          <a:graphicData uri="http://schemas.openxmlformats.org/drawingml/2006/table">
            <a:tbl>
              <a:tblPr firstRow="1" firstCol="1" bandRow="1">
                <a:tableStyleId>{5C22544A-7EE6-4342-B048-85BDC9FD1C3A}</a:tableStyleId>
              </a:tblPr>
              <a:tblGrid>
                <a:gridCol w="1483360">
                  <a:extLst>
                    <a:ext uri="{9D8B030D-6E8A-4147-A177-3AD203B41FA5}">
                      <a16:colId xmlns:a16="http://schemas.microsoft.com/office/drawing/2014/main" val="226413593"/>
                    </a:ext>
                  </a:extLst>
                </a:gridCol>
                <a:gridCol w="1432732">
                  <a:extLst>
                    <a:ext uri="{9D8B030D-6E8A-4147-A177-3AD203B41FA5}">
                      <a16:colId xmlns:a16="http://schemas.microsoft.com/office/drawing/2014/main" val="296175627"/>
                    </a:ext>
                  </a:extLst>
                </a:gridCol>
                <a:gridCol w="1533988">
                  <a:extLst>
                    <a:ext uri="{9D8B030D-6E8A-4147-A177-3AD203B41FA5}">
                      <a16:colId xmlns:a16="http://schemas.microsoft.com/office/drawing/2014/main" val="915511190"/>
                    </a:ext>
                  </a:extLst>
                </a:gridCol>
                <a:gridCol w="1371978">
                  <a:extLst>
                    <a:ext uri="{9D8B030D-6E8A-4147-A177-3AD203B41FA5}">
                      <a16:colId xmlns:a16="http://schemas.microsoft.com/office/drawing/2014/main" val="1531935796"/>
                    </a:ext>
                  </a:extLst>
                </a:gridCol>
                <a:gridCol w="1594742">
                  <a:extLst>
                    <a:ext uri="{9D8B030D-6E8A-4147-A177-3AD203B41FA5}">
                      <a16:colId xmlns:a16="http://schemas.microsoft.com/office/drawing/2014/main" val="3801670869"/>
                    </a:ext>
                  </a:extLst>
                </a:gridCol>
                <a:gridCol w="1483360">
                  <a:extLst>
                    <a:ext uri="{9D8B030D-6E8A-4147-A177-3AD203B41FA5}">
                      <a16:colId xmlns:a16="http://schemas.microsoft.com/office/drawing/2014/main" val="2281328566"/>
                    </a:ext>
                  </a:extLst>
                </a:gridCol>
                <a:gridCol w="1483360">
                  <a:extLst>
                    <a:ext uri="{9D8B030D-6E8A-4147-A177-3AD203B41FA5}">
                      <a16:colId xmlns:a16="http://schemas.microsoft.com/office/drawing/2014/main" val="4246839249"/>
                    </a:ext>
                  </a:extLst>
                </a:gridCol>
                <a:gridCol w="1483360">
                  <a:extLst>
                    <a:ext uri="{9D8B030D-6E8A-4147-A177-3AD203B41FA5}">
                      <a16:colId xmlns:a16="http://schemas.microsoft.com/office/drawing/2014/main" val="1910529053"/>
                    </a:ext>
                  </a:extLst>
                </a:gridCol>
              </a:tblGrid>
              <a:tr h="812425">
                <a:tc>
                  <a:txBody>
                    <a:bodyPr/>
                    <a:lstStyle/>
                    <a:p>
                      <a:pPr algn="ctr">
                        <a:lnSpc>
                          <a:spcPct val="107000"/>
                        </a:lnSpc>
                        <a:spcAft>
                          <a:spcPts val="800"/>
                        </a:spcAft>
                      </a:pPr>
                      <a:r>
                        <a:rPr lang="en-IN" sz="1600" dirty="0">
                          <a:solidFill>
                            <a:schemeClr val="tx1"/>
                          </a:solidFill>
                          <a:effectLst/>
                        </a:rPr>
                        <a:t>Title of the Paper</a:t>
                      </a:r>
                      <a:endParaRPr lang="en-IN"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600" dirty="0">
                          <a:solidFill>
                            <a:schemeClr val="tx1"/>
                          </a:solidFill>
                          <a:effectLst/>
                        </a:rPr>
                        <a:t>Authors</a:t>
                      </a:r>
                      <a:endParaRPr lang="en-IN"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600" dirty="0">
                          <a:solidFill>
                            <a:schemeClr val="tx1"/>
                          </a:solidFill>
                          <a:effectLst/>
                        </a:rPr>
                        <a:t>Journal Name/ Conference Title &amp; Publisher</a:t>
                      </a:r>
                      <a:endParaRPr lang="en-IN"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600">
                          <a:solidFill>
                            <a:schemeClr val="tx1"/>
                          </a:solidFill>
                          <a:effectLst/>
                        </a:rPr>
                        <a:t>Year of Publication</a:t>
                      </a:r>
                      <a:endParaRPr lang="en-IN"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600">
                          <a:solidFill>
                            <a:schemeClr val="tx1"/>
                          </a:solidFill>
                          <a:effectLst/>
                        </a:rPr>
                        <a:t>Methodology used</a:t>
                      </a:r>
                      <a:endParaRPr lang="en-IN"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600">
                          <a:solidFill>
                            <a:schemeClr val="tx1"/>
                          </a:solidFill>
                          <a:effectLst/>
                        </a:rPr>
                        <a:t>Performance of the proposed algorithm</a:t>
                      </a:r>
                      <a:endParaRPr lang="en-IN"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600">
                          <a:solidFill>
                            <a:schemeClr val="tx1"/>
                          </a:solidFill>
                          <a:effectLst/>
                        </a:rPr>
                        <a:t>Limitations of the Research</a:t>
                      </a:r>
                      <a:endParaRPr lang="en-IN"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600" dirty="0">
                          <a:solidFill>
                            <a:schemeClr val="tx1"/>
                          </a:solidFill>
                          <a:effectLst/>
                        </a:rPr>
                        <a:t>Future approach if any</a:t>
                      </a:r>
                      <a:endParaRPr lang="en-IN"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001767"/>
                  </a:ext>
                </a:extLst>
              </a:tr>
              <a:tr h="2301075">
                <a:tc>
                  <a:txBody>
                    <a:bodyPr/>
                    <a:lstStyle/>
                    <a:p>
                      <a:pPr algn="ctr">
                        <a:lnSpc>
                          <a:spcPct val="107000"/>
                        </a:lnSpc>
                        <a:spcAft>
                          <a:spcPts val="800"/>
                        </a:spcAft>
                      </a:pPr>
                      <a:r>
                        <a:rPr lang="en-IN" sz="1800" dirty="0">
                          <a:solidFill>
                            <a:schemeClr val="tx1"/>
                          </a:solidFill>
                          <a:effectLst/>
                        </a:rPr>
                        <a:t>2018 Financial Risk and Regulation Survey: </a:t>
                      </a:r>
                      <a:r>
                        <a:rPr lang="en-IN" sz="1800" dirty="0" err="1">
                          <a:solidFill>
                            <a:schemeClr val="tx1"/>
                          </a:solidFill>
                          <a:effectLst/>
                        </a:rPr>
                        <a:t>Behavioral</a:t>
                      </a:r>
                      <a:r>
                        <a:rPr lang="en-IN" sz="1800" dirty="0">
                          <a:solidFill>
                            <a:schemeClr val="tx1"/>
                          </a:solidFill>
                          <a:effectLst/>
                        </a:rPr>
                        <a:t> Finance &amp; Financial Stability</a:t>
                      </a:r>
                      <a:endParaRPr lang="en-IN"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IN" sz="1300" dirty="0">
                          <a:effectLst/>
                        </a:rPr>
                        <a:t>Harvard Business School</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IN" sz="1300" dirty="0">
                          <a:effectLst/>
                        </a:rPr>
                        <a:t>Harvard Business School</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IN" sz="1300" dirty="0">
                          <a:effectLst/>
                        </a:rPr>
                        <a:t>2018</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IN" sz="1300" dirty="0">
                          <a:effectLst/>
                        </a:rPr>
                        <a:t>The study employed a combination of regression analysis, econometric methods, and possibly modern machine learning techniques, given its focus on understanding and forecasting financial downturns.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IN" sz="1300" dirty="0">
                          <a:effectLst/>
                        </a:rPr>
                        <a:t>The study focuses on the analysis of financial risks such as asset price inflation and high debt, contributing to a better understanding of financial instabilities.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IN" sz="1300" dirty="0">
                          <a:effectLst/>
                        </a:rPr>
                        <a:t>Potential limitation in integrating traditional and modern techniques effectively.</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IN" sz="1300" dirty="0">
                          <a:effectLst/>
                        </a:rPr>
                        <a:t>The study can be expanded with traditional time series analysis, including ARIMA models, with advanced machine learning techniques, to discern cyclical patterns and complex interactions among various economic factors</a:t>
                      </a: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4998939"/>
                  </a:ext>
                </a:extLst>
              </a:tr>
            </a:tbl>
          </a:graphicData>
        </a:graphic>
      </p:graphicFrame>
    </p:spTree>
    <p:extLst>
      <p:ext uri="{BB962C8B-B14F-4D97-AF65-F5344CB8AC3E}">
        <p14:creationId xmlns:p14="http://schemas.microsoft.com/office/powerpoint/2010/main" val="581366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4BD1765-3267-C117-F318-44ABE0B430BD}"/>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1BD523D0-3F25-964B-18EA-2A3DD20A148E}"/>
              </a:ext>
            </a:extLst>
          </p:cNvPr>
          <p:cNvSpPr>
            <a:spLocks noGrp="1"/>
          </p:cNvSpPr>
          <p:nvPr>
            <p:ph type="sldNum" sz="quarter" idx="12"/>
          </p:nvPr>
        </p:nvSpPr>
        <p:spPr/>
        <p:txBody>
          <a:bodyPr/>
          <a:lstStyle/>
          <a:p>
            <a:fld id="{90EDC104-672A-4227-99C4-0E2CC007FDBA}" type="slidenum">
              <a:rPr lang="en-IN" smtClean="0"/>
              <a:t>6</a:t>
            </a:fld>
            <a:endParaRPr lang="en-IN"/>
          </a:p>
        </p:txBody>
      </p:sp>
      <p:sp>
        <p:nvSpPr>
          <p:cNvPr id="6" name="Title 1">
            <a:extLst>
              <a:ext uri="{FF2B5EF4-FFF2-40B4-BE49-F238E27FC236}">
                <a16:creationId xmlns:a16="http://schemas.microsoft.com/office/drawing/2014/main" id="{6EC89ECB-841D-AD88-04BE-7C9E3168E180}"/>
              </a:ext>
            </a:extLst>
          </p:cNvPr>
          <p:cNvSpPr>
            <a:spLocks noGrp="1"/>
          </p:cNvSpPr>
          <p:nvPr>
            <p:ph type="title"/>
          </p:nvPr>
        </p:nvSpPr>
        <p:spPr>
          <a:xfrm>
            <a:off x="970280" y="-28575"/>
            <a:ext cx="10515600" cy="1325563"/>
          </a:xfrm>
        </p:spPr>
        <p:txBody>
          <a:bodyPr/>
          <a:lstStyle/>
          <a:p>
            <a:r>
              <a:rPr lang="en-IN" b="1" dirty="0">
                <a:latin typeface="Arial Narrow" panose="020B0606020202030204" pitchFamily="34" charset="0"/>
              </a:rPr>
              <a:t>Related Work</a:t>
            </a:r>
            <a:endParaRPr lang="en-IN" dirty="0">
              <a:latin typeface="Arial Narrow" panose="020B0606020202030204" pitchFamily="34" charset="0"/>
            </a:endParaRPr>
          </a:p>
        </p:txBody>
      </p:sp>
      <p:sp>
        <p:nvSpPr>
          <p:cNvPr id="7" name="Content Placeholder 2">
            <a:extLst>
              <a:ext uri="{FF2B5EF4-FFF2-40B4-BE49-F238E27FC236}">
                <a16:creationId xmlns:a16="http://schemas.microsoft.com/office/drawing/2014/main" id="{6D627B24-6A8B-2BAE-BC24-713B26C6D816}"/>
              </a:ext>
            </a:extLst>
          </p:cNvPr>
          <p:cNvSpPr>
            <a:spLocks noGrp="1"/>
          </p:cNvSpPr>
          <p:nvPr>
            <p:ph idx="1"/>
          </p:nvPr>
        </p:nvSpPr>
        <p:spPr>
          <a:xfrm>
            <a:off x="314960" y="1060610"/>
            <a:ext cx="11572240" cy="5248910"/>
          </a:xfrm>
        </p:spPr>
        <p:txBody>
          <a:bodyPr>
            <a:noAutofit/>
          </a:bodyPr>
          <a:lstStyle/>
          <a:p>
            <a:pPr marL="0" marR="48895" indent="0" algn="just">
              <a:lnSpc>
                <a:spcPct val="150000"/>
              </a:lnSpc>
              <a:spcBef>
                <a:spcPts val="1200"/>
              </a:spcBef>
              <a:spcAft>
                <a:spcPts val="800"/>
              </a:spcAft>
              <a:buNone/>
            </a:pPr>
            <a:r>
              <a:rPr lang="en-IN" sz="2000" b="1" dirty="0">
                <a:effectLst/>
                <a:latin typeface="Times New Roman" panose="02020603050405020304" pitchFamily="18" charset="0"/>
                <a:ea typeface="Times New Roman" panose="02020603050405020304" pitchFamily="18" charset="0"/>
                <a:cs typeface="Latha" panose="020B0604020202020204" pitchFamily="34" charset="0"/>
              </a:rPr>
              <a:t>Project Aims to Fill: </a:t>
            </a:r>
            <a:r>
              <a:rPr lang="en-IN" sz="2000" dirty="0">
                <a:effectLst/>
                <a:latin typeface="Times New Roman" panose="02020603050405020304" pitchFamily="18" charset="0"/>
                <a:ea typeface="Times New Roman" panose="02020603050405020304" pitchFamily="18" charset="0"/>
                <a:cs typeface="Latha" panose="020B0604020202020204" pitchFamily="34" charset="0"/>
              </a:rPr>
              <a:t>The project ambitiously aims to advance the field of financial crisis forecasting by innovatively integrating SARIMAX time series analysis with cutting-edge machine learning techniques, namely logistic regression and LSTM neural networks. This approach is tailored to synthesize quantitative financial data with qualitative </a:t>
            </a:r>
            <a:r>
              <a:rPr lang="en-IN" sz="2000" dirty="0" err="1">
                <a:effectLst/>
                <a:latin typeface="Times New Roman" panose="02020603050405020304" pitchFamily="18" charset="0"/>
                <a:ea typeface="Times New Roman" panose="02020603050405020304" pitchFamily="18" charset="0"/>
                <a:cs typeface="Latha" panose="020B0604020202020204" pitchFamily="34" charset="0"/>
              </a:rPr>
              <a:t>behavioral</a:t>
            </a:r>
            <a:r>
              <a:rPr lang="en-IN" sz="2000" dirty="0">
                <a:effectLst/>
                <a:latin typeface="Times New Roman" panose="02020603050405020304" pitchFamily="18" charset="0"/>
                <a:ea typeface="Times New Roman" panose="02020603050405020304" pitchFamily="18" charset="0"/>
                <a:cs typeface="Latha" panose="020B0604020202020204" pitchFamily="34" charset="0"/>
              </a:rPr>
              <a:t> insights, thereby enhancing the accuracy and reliability of predictions. By leveraging logistic regression for its robustness in classification and the LSTM neural network for its proficiency in handling sequential data, the project aspires to offer a comprehensive and adaptable solution. This solution will not only account for typical economic patterns but also adapt to unexpected market shifts, providing a vital tool in the complex landscape of economic forecasting.</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endParaRPr lang="en-IN" sz="2000" dirty="0"/>
          </a:p>
        </p:txBody>
      </p:sp>
      <p:sp>
        <p:nvSpPr>
          <p:cNvPr id="8" name="Footer Placeholder 3">
            <a:extLst>
              <a:ext uri="{FF2B5EF4-FFF2-40B4-BE49-F238E27FC236}">
                <a16:creationId xmlns:a16="http://schemas.microsoft.com/office/drawing/2014/main" id="{56DDCE4C-397B-F901-13F5-F275FD981969}"/>
              </a:ext>
            </a:extLst>
          </p:cNvPr>
          <p:cNvSpPr txBox="1">
            <a:spLocks/>
          </p:cNvSpPr>
          <p:nvPr/>
        </p:nvSpPr>
        <p:spPr>
          <a:xfrm>
            <a:off x="4170680" y="630952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CS6501 Project I PGP, ICER, VIT Bangalore</a:t>
            </a:r>
          </a:p>
        </p:txBody>
      </p:sp>
      <p:sp>
        <p:nvSpPr>
          <p:cNvPr id="9" name="Slide Number Placeholder 4">
            <a:extLst>
              <a:ext uri="{FF2B5EF4-FFF2-40B4-BE49-F238E27FC236}">
                <a16:creationId xmlns:a16="http://schemas.microsoft.com/office/drawing/2014/main" id="{17EFF5EA-8D3C-ADF0-CD45-BA8593B19EF1}"/>
              </a:ext>
            </a:extLst>
          </p:cNvPr>
          <p:cNvSpPr txBox="1">
            <a:spLocks/>
          </p:cNvSpPr>
          <p:nvPr/>
        </p:nvSpPr>
        <p:spPr>
          <a:xfrm>
            <a:off x="8742680" y="630952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EDC104-672A-4227-99C4-0E2CC007FDBA}" type="slidenum">
              <a:rPr lang="en-IN" smtClean="0"/>
              <a:pPr/>
              <a:t>6</a:t>
            </a:fld>
            <a:endParaRPr lang="en-IN"/>
          </a:p>
        </p:txBody>
      </p:sp>
    </p:spTree>
    <p:extLst>
      <p:ext uri="{BB962C8B-B14F-4D97-AF65-F5344CB8AC3E}">
        <p14:creationId xmlns:p14="http://schemas.microsoft.com/office/powerpoint/2010/main" val="1437128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136"/>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pic>
        <p:nvPicPr>
          <p:cNvPr id="6" name="Content Placeholder 5">
            <a:extLst>
              <a:ext uri="{FF2B5EF4-FFF2-40B4-BE49-F238E27FC236}">
                <a16:creationId xmlns:a16="http://schemas.microsoft.com/office/drawing/2014/main" id="{BDF3F242-EDE4-FB6B-4701-851FC79182D0}"/>
              </a:ext>
            </a:extLst>
          </p:cNvPr>
          <p:cNvPicPr>
            <a:picLocks noGrp="1" noChangeAspect="1"/>
          </p:cNvPicPr>
          <p:nvPr>
            <p:ph idx="1"/>
          </p:nvPr>
        </p:nvPicPr>
        <p:blipFill>
          <a:blip r:embed="rId2"/>
          <a:stretch>
            <a:fillRect/>
          </a:stretch>
        </p:blipFill>
        <p:spPr>
          <a:xfrm>
            <a:off x="1985772" y="978408"/>
            <a:ext cx="8220456" cy="5377942"/>
          </a:xfrm>
          <a:prstGeom prst="rect">
            <a:avLst/>
          </a:prstGeom>
        </p:spPr>
      </p:pic>
    </p:spTree>
    <p:extLst>
      <p:ext uri="{BB962C8B-B14F-4D97-AF65-F5344CB8AC3E}">
        <p14:creationId xmlns:p14="http://schemas.microsoft.com/office/powerpoint/2010/main" val="1125428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3985"/>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3" name="Content Placeholder 2"/>
          <p:cNvSpPr>
            <a:spLocks noGrp="1"/>
          </p:cNvSpPr>
          <p:nvPr>
            <p:ph idx="1"/>
          </p:nvPr>
        </p:nvSpPr>
        <p:spPr>
          <a:xfrm>
            <a:off x="375920" y="1073784"/>
            <a:ext cx="11440160" cy="5282565"/>
          </a:xfrm>
        </p:spPr>
        <p:txBody>
          <a:bodyPr/>
          <a:lstStyle/>
          <a:p>
            <a:r>
              <a:rPr lang="en-US" dirty="0"/>
              <a:t>The approach involves:</a:t>
            </a:r>
          </a:p>
          <a:p>
            <a:pPr marL="914400" lvl="1" indent="-457200">
              <a:buFont typeface="+mj-lt"/>
              <a:buAutoNum type="arabicPeriod"/>
            </a:pPr>
            <a:r>
              <a:rPr lang="en-US" dirty="0"/>
              <a:t>Collecting financial datasets and literature</a:t>
            </a:r>
          </a:p>
          <a:p>
            <a:pPr marL="914400" lvl="1" indent="-457200">
              <a:buFont typeface="+mj-lt"/>
              <a:buAutoNum type="arabicPeriod"/>
            </a:pPr>
            <a:r>
              <a:rPr lang="en-US" dirty="0"/>
              <a:t>Preprocessing data </a:t>
            </a:r>
          </a:p>
          <a:p>
            <a:pPr marL="914400" lvl="1" indent="-457200">
              <a:buFont typeface="+mj-lt"/>
              <a:buAutoNum type="arabicPeriod"/>
            </a:pPr>
            <a:r>
              <a:rPr lang="en-US" dirty="0"/>
              <a:t>Applying SARIMAX to detect seasonal trends</a:t>
            </a:r>
          </a:p>
          <a:p>
            <a:pPr marL="914400" lvl="1" indent="-457200">
              <a:buFont typeface="+mj-lt"/>
              <a:buAutoNum type="arabicPeriod"/>
            </a:pPr>
            <a:r>
              <a:rPr lang="en-US" dirty="0"/>
              <a:t>Identifying patterns in crisis indicators using LSTM neural networks </a:t>
            </a:r>
          </a:p>
          <a:p>
            <a:r>
              <a:rPr lang="en-US" dirty="0"/>
              <a:t>The analysis merges time series with machine learning for depth and employs neural networks to interpret SARIMAX outcomes. </a:t>
            </a:r>
          </a:p>
          <a:p>
            <a:r>
              <a:rPr lang="en-US" dirty="0"/>
              <a:t>Behavioral finance principles aid in forecasting financial instability, providing actionable insights for policymakers and investors. </a:t>
            </a:r>
          </a:p>
          <a:p>
            <a:r>
              <a:rPr lang="en-US" dirty="0"/>
              <a:t>Comparisons will be made against historical averages, traditional ARIMA models, and expert financial analysis to validate the approach's efficacy.</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8</a:t>
            </a:fld>
            <a:endParaRPr lang="en-IN"/>
          </a:p>
        </p:txBody>
      </p:sp>
    </p:spTree>
    <p:extLst>
      <p:ext uri="{BB962C8B-B14F-4D97-AF65-F5344CB8AC3E}">
        <p14:creationId xmlns:p14="http://schemas.microsoft.com/office/powerpoint/2010/main" val="3775260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EE5A7-8495-D5D1-564D-8C9A0BAD5E83}"/>
              </a:ext>
            </a:extLst>
          </p:cNvPr>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Tools and Techniques</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0FAA057E-343D-FA3B-AD16-7451F3DF4DD1}"/>
              </a:ext>
            </a:extLst>
          </p:cNvPr>
          <p:cNvSpPr>
            <a:spLocks noGrp="1"/>
          </p:cNvSpPr>
          <p:nvPr>
            <p:ph idx="1"/>
          </p:nvPr>
        </p:nvSpPr>
        <p:spPr>
          <a:xfrm>
            <a:off x="85060" y="1343818"/>
            <a:ext cx="12106940" cy="5354694"/>
          </a:xfrm>
        </p:spPr>
        <p:txBody>
          <a:bodyPr>
            <a:normAutofit/>
          </a:bodyPr>
          <a:lstStyle/>
          <a:p>
            <a:pPr marL="0" indent="0">
              <a:lnSpc>
                <a:spcPct val="107000"/>
              </a:lnSpc>
              <a:spcAft>
                <a:spcPts val="800"/>
              </a:spcAft>
              <a:buNone/>
            </a:pPr>
            <a:r>
              <a:rPr lang="en-IN" sz="20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The employed tools and techniques are as follows:</a:t>
            </a:r>
          </a:p>
          <a:p>
            <a:pPr marL="342900" indent="-342900">
              <a:lnSpc>
                <a:spcPct val="107000"/>
              </a:lnSpc>
              <a:spcAft>
                <a:spcPts val="800"/>
              </a:spcAft>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Logistic Regression: This method is used for binary classification, predicting the occurrence of financial crises. Logistic regression is effective for its simplicity and clarity in classifying binary outcomes, making it a crucial tool in the project for determining crisis probabilities.</a:t>
            </a:r>
            <a:endParaRPr lang="en-IN" sz="1800" dirty="0">
              <a:latin typeface="Calibri" panose="020F0502020204030204" pitchFamily="34" charset="0"/>
              <a:ea typeface="Calibri" panose="020F0502020204030204" pitchFamily="34" charset="0"/>
              <a:cs typeface="Latha" panose="020B0604020202020204" pitchFamily="34" charset="0"/>
            </a:endParaRPr>
          </a:p>
          <a:p>
            <a:pPr marL="342900" indent="-342900">
              <a:lnSpc>
                <a:spcPct val="107000"/>
              </a:lnSpc>
              <a:spcAft>
                <a:spcPts val="800"/>
              </a:spcAft>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ARIMA (</a:t>
            </a:r>
            <a:r>
              <a:rPr lang="en-IN" sz="1800" dirty="0" err="1">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AutoRegressive</a:t>
            </a: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Integrated Moving Average): This model is used for forecasting time series data. ARIMA is adept at </a:t>
            </a:r>
            <a:r>
              <a:rPr lang="en-IN" sz="1800" dirty="0" err="1">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modeling</a:t>
            </a: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and leveraging historical data patterns, and it's used in the project to forecast various types of financial crises such as banking, systemic, currency, and inflation crises.</a:t>
            </a:r>
            <a:endParaRPr lang="en-IN" sz="1800" dirty="0">
              <a:latin typeface="Calibri" panose="020F0502020204030204" pitchFamily="34" charset="0"/>
              <a:ea typeface="Calibri" panose="020F0502020204030204" pitchFamily="34" charset="0"/>
              <a:cs typeface="Latha" panose="020B0604020202020204" pitchFamily="34" charset="0"/>
            </a:endParaRPr>
          </a:p>
          <a:p>
            <a:pPr marL="34290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SARIMAX (Seasonal </a:t>
            </a:r>
            <a:r>
              <a:rPr lang="en-IN" sz="1800" dirty="0" err="1">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AutoRegressive</a:t>
            </a: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Integrated Moving-Average with </a:t>
            </a:r>
            <a:r>
              <a:rPr lang="en-IN" sz="1800" dirty="0" err="1">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eXogenous</a:t>
            </a: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regressors): SARIMAX is a sophisticated version of ARIMA that includes seasonality and external factors. It's used in the project for handling complex, seasonal financial time series data, where external variables are significant.</a:t>
            </a:r>
            <a:endParaRPr lang="en-IN" sz="1800" dirty="0">
              <a:latin typeface="Calibri" panose="020F0502020204030204" pitchFamily="34" charset="0"/>
              <a:ea typeface="Calibri" panose="020F0502020204030204" pitchFamily="34" charset="0"/>
              <a:cs typeface="Latha" panose="020B0604020202020204" pitchFamily="34" charset="0"/>
            </a:endParaRPr>
          </a:p>
          <a:p>
            <a:pPr marL="342900" indent="-342900">
              <a:lnSpc>
                <a:spcPct val="107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LSTM (Long Short-Term Memory) Neural Networks: These are a type of recurrent neural network ideal for sequential data analysis, like financial time series. In the project, LSTMs </a:t>
            </a:r>
            <a:r>
              <a:rPr lang="en-IN" sz="1800" dirty="0" err="1">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analyze</a:t>
            </a:r>
            <a:r>
              <a:rPr lang="en-IN" sz="18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historical financial data to predict future trends, leveraging their ability to capture long-term dependencies.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endParaRPr lang="en-IN" dirty="0"/>
          </a:p>
        </p:txBody>
      </p:sp>
    </p:spTree>
    <p:extLst>
      <p:ext uri="{BB962C8B-B14F-4D97-AF65-F5344CB8AC3E}">
        <p14:creationId xmlns:p14="http://schemas.microsoft.com/office/powerpoint/2010/main" val="3922653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10</a:t>
            </a:fld>
            <a:endParaRPr lang="en-IN"/>
          </a:p>
        </p:txBody>
      </p:sp>
      <p:sp>
        <p:nvSpPr>
          <p:cNvPr id="8" name="Title 1">
            <a:extLst>
              <a:ext uri="{FF2B5EF4-FFF2-40B4-BE49-F238E27FC236}">
                <a16:creationId xmlns:a16="http://schemas.microsoft.com/office/drawing/2014/main" id="{CF09579F-A7CE-9F6F-88B6-60DF8FC26632}"/>
              </a:ext>
            </a:extLst>
          </p:cNvPr>
          <p:cNvSpPr txBox="1">
            <a:spLocks/>
          </p:cNvSpPr>
          <p:nvPr/>
        </p:nvSpPr>
        <p:spPr>
          <a:xfrm>
            <a:off x="838200" y="365126"/>
            <a:ext cx="10515600" cy="63590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latin typeface="Arial Narrow" panose="020B0606020202030204" pitchFamily="34" charset="0"/>
              </a:rPr>
              <a:t>Dataset</a:t>
            </a:r>
            <a:endParaRPr lang="en-IN" b="1" dirty="0">
              <a:latin typeface="Arial Narrow" panose="020B0606020202030204" pitchFamily="34" charset="0"/>
            </a:endParaRPr>
          </a:p>
        </p:txBody>
      </p:sp>
      <p:sp>
        <p:nvSpPr>
          <p:cNvPr id="9" name="Content Placeholder 2">
            <a:extLst>
              <a:ext uri="{FF2B5EF4-FFF2-40B4-BE49-F238E27FC236}">
                <a16:creationId xmlns:a16="http://schemas.microsoft.com/office/drawing/2014/main" id="{1F04036A-4B44-F196-26CD-31D27DC73393}"/>
              </a:ext>
            </a:extLst>
          </p:cNvPr>
          <p:cNvSpPr txBox="1">
            <a:spLocks/>
          </p:cNvSpPr>
          <p:nvPr/>
        </p:nvSpPr>
        <p:spPr>
          <a:xfrm>
            <a:off x="105878" y="1087655"/>
            <a:ext cx="12086122" cy="5633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rial Narrow" panose="020B0606020202030204" pitchFamily="34" charset="0"/>
              </a:rPr>
              <a:t>Source of the Dataset: </a:t>
            </a:r>
            <a:r>
              <a:rPr lang="en-IN" dirty="0">
                <a:hlinkClick r:id="rId2"/>
              </a:rPr>
              <a:t>Global Financial Crisis Analytics | Kaggle</a:t>
            </a:r>
            <a:endParaRPr lang="en-US" dirty="0">
              <a:latin typeface="Arial Narrow" panose="020B0606020202030204" pitchFamily="34" charset="0"/>
            </a:endParaRPr>
          </a:p>
          <a:p>
            <a:r>
              <a:rPr lang="en-US" dirty="0">
                <a:latin typeface="Arial Narrow" panose="020B0606020202030204" pitchFamily="34" charset="0"/>
              </a:rPr>
              <a:t>No. of Observations: 15,192</a:t>
            </a:r>
          </a:p>
          <a:p>
            <a:r>
              <a:rPr lang="en-US" dirty="0">
                <a:latin typeface="Arial Narrow" panose="020B0606020202030204" pitchFamily="34" charset="0"/>
              </a:rPr>
              <a:t> Screenshot of the dataset</a:t>
            </a:r>
          </a:p>
          <a:p>
            <a:pPr marL="0" indent="0">
              <a:buFont typeface="Arial" panose="020B0604020202020204" pitchFamily="34" charset="0"/>
              <a:buNone/>
            </a:pPr>
            <a:br>
              <a:rPr lang="en-US" dirty="0">
                <a:latin typeface="Arial Narrow" panose="020B0606020202030204" pitchFamily="34" charset="0"/>
              </a:rPr>
            </a:br>
            <a:endParaRPr lang="en-US" dirty="0">
              <a:latin typeface="Arial Narrow" panose="020B0606020202030204" pitchFamily="34" charset="0"/>
            </a:endParaRPr>
          </a:p>
          <a:p>
            <a:endParaRPr lang="en-US" dirty="0">
              <a:latin typeface="Arial Narrow" panose="020B0606020202030204" pitchFamily="34" charset="0"/>
            </a:endParaRPr>
          </a:p>
        </p:txBody>
      </p:sp>
      <p:sp>
        <p:nvSpPr>
          <p:cNvPr id="10" name="Footer Placeholder 3">
            <a:extLst>
              <a:ext uri="{FF2B5EF4-FFF2-40B4-BE49-F238E27FC236}">
                <a16:creationId xmlns:a16="http://schemas.microsoft.com/office/drawing/2014/main" id="{E66B78C0-21C0-1F54-027E-8A698F7FCE4A}"/>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CS6501 Project I PGP, ICER, VIT Bangalore</a:t>
            </a:r>
          </a:p>
        </p:txBody>
      </p:sp>
      <p:sp>
        <p:nvSpPr>
          <p:cNvPr id="11" name="Slide Number Placeholder 4">
            <a:extLst>
              <a:ext uri="{FF2B5EF4-FFF2-40B4-BE49-F238E27FC236}">
                <a16:creationId xmlns:a16="http://schemas.microsoft.com/office/drawing/2014/main" id="{BEBC40F0-5463-7C2E-C540-6337C0193A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EDC104-672A-4227-99C4-0E2CC007FDBA}" type="slidenum">
              <a:rPr lang="en-IN" smtClean="0"/>
              <a:pPr/>
              <a:t>10</a:t>
            </a:fld>
            <a:endParaRPr lang="en-IN"/>
          </a:p>
        </p:txBody>
      </p:sp>
      <p:pic>
        <p:nvPicPr>
          <p:cNvPr id="2" name="Picture 1">
            <a:extLst>
              <a:ext uri="{FF2B5EF4-FFF2-40B4-BE49-F238E27FC236}">
                <a16:creationId xmlns:a16="http://schemas.microsoft.com/office/drawing/2014/main" id="{0B8D7EA1-4A13-2B2B-2F50-CE44F5F126BE}"/>
              </a:ext>
            </a:extLst>
          </p:cNvPr>
          <p:cNvPicPr>
            <a:picLocks noChangeAspect="1"/>
          </p:cNvPicPr>
          <p:nvPr/>
        </p:nvPicPr>
        <p:blipFill>
          <a:blip r:embed="rId3"/>
          <a:stretch>
            <a:fillRect/>
          </a:stretch>
        </p:blipFill>
        <p:spPr>
          <a:xfrm>
            <a:off x="105878" y="2585719"/>
            <a:ext cx="11980244" cy="3621205"/>
          </a:xfrm>
          <a:prstGeom prst="rect">
            <a:avLst/>
          </a:prstGeom>
        </p:spPr>
      </p:pic>
    </p:spTree>
    <p:extLst>
      <p:ext uri="{BB962C8B-B14F-4D97-AF65-F5344CB8AC3E}">
        <p14:creationId xmlns:p14="http://schemas.microsoft.com/office/powerpoint/2010/main" val="846223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7A179BB-E353-C3DA-88C6-1592BB5DBB62}"/>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55A1E2E2-8212-A20D-E1CE-65136FE4E249}"/>
              </a:ext>
            </a:extLst>
          </p:cNvPr>
          <p:cNvSpPr>
            <a:spLocks noGrp="1"/>
          </p:cNvSpPr>
          <p:nvPr>
            <p:ph type="sldNum" sz="quarter" idx="12"/>
          </p:nvPr>
        </p:nvSpPr>
        <p:spPr/>
        <p:txBody>
          <a:bodyPr/>
          <a:lstStyle/>
          <a:p>
            <a:fld id="{90EDC104-672A-4227-99C4-0E2CC007FDBA}" type="slidenum">
              <a:rPr lang="en-IN" smtClean="0"/>
              <a:t>11</a:t>
            </a:fld>
            <a:endParaRPr lang="en-IN"/>
          </a:p>
        </p:txBody>
      </p:sp>
      <p:sp>
        <p:nvSpPr>
          <p:cNvPr id="6" name="Title 1">
            <a:extLst>
              <a:ext uri="{FF2B5EF4-FFF2-40B4-BE49-F238E27FC236}">
                <a16:creationId xmlns:a16="http://schemas.microsoft.com/office/drawing/2014/main" id="{25A3DE97-5737-F7D5-92B2-F1CBD466D4CD}"/>
              </a:ext>
            </a:extLst>
          </p:cNvPr>
          <p:cNvSpPr>
            <a:spLocks noGrp="1"/>
          </p:cNvSpPr>
          <p:nvPr>
            <p:ph type="title"/>
          </p:nvPr>
        </p:nvSpPr>
        <p:spPr>
          <a:xfrm>
            <a:off x="990600" y="517525"/>
            <a:ext cx="10515600" cy="607027"/>
          </a:xfrm>
        </p:spPr>
        <p:txBody>
          <a:bodyPr>
            <a:normAutofit fontScale="90000"/>
          </a:bodyPr>
          <a:lstStyle/>
          <a:p>
            <a:r>
              <a:rPr lang="en-US" b="1" dirty="0">
                <a:latin typeface="Arial Narrow" panose="020B0606020202030204" pitchFamily="34" charset="0"/>
              </a:rPr>
              <a:t>Column/Feature Details of the Dataset</a:t>
            </a:r>
            <a:endParaRPr lang="en-IN" dirty="0"/>
          </a:p>
        </p:txBody>
      </p:sp>
      <p:sp>
        <p:nvSpPr>
          <p:cNvPr id="7" name="Content Placeholder 2">
            <a:extLst>
              <a:ext uri="{FF2B5EF4-FFF2-40B4-BE49-F238E27FC236}">
                <a16:creationId xmlns:a16="http://schemas.microsoft.com/office/drawing/2014/main" id="{C39D83B5-2698-FD77-3935-96ED16C6EC0F}"/>
              </a:ext>
            </a:extLst>
          </p:cNvPr>
          <p:cNvSpPr>
            <a:spLocks noGrp="1"/>
          </p:cNvSpPr>
          <p:nvPr>
            <p:ph idx="1"/>
          </p:nvPr>
        </p:nvSpPr>
        <p:spPr>
          <a:xfrm>
            <a:off x="489285" y="1432560"/>
            <a:ext cx="11482938" cy="5441315"/>
          </a:xfrm>
        </p:spPr>
        <p:txBody>
          <a:bodyPr>
            <a:noAutofit/>
          </a:bodyPr>
          <a:lstStyle/>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Case</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 numeric identifier for each record. Each country appears to have a unique case number.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2.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CC3</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three-letter country code, following the standard ISO alpha-3 country codes.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3.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Country</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name of the country to which the data row corresponds.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4.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Year</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year for which the data is recorded.</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5.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Banking Crisis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 banking crisis. '0' indicates no crisis, while '1’ indicates a crisis.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6. </a:t>
            </a:r>
            <a:r>
              <a:rPr lang="en-US" sz="1900" b="1" kern="100" dirty="0" err="1">
                <a:effectLst/>
                <a:latin typeface="Calibri" panose="020F0502020204030204" pitchFamily="34" charset="0"/>
                <a:ea typeface="Calibri" panose="020F0502020204030204" pitchFamily="34" charset="0"/>
                <a:cs typeface="Times New Roman" panose="02020603050405020304" pitchFamily="18" charset="0"/>
              </a:rPr>
              <a:t>Banking_Crisis_Notes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Additional notes or explanations about the banking crisis, if any.</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7.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Systemic Crisis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whether a systemic crisis occurred in that year. Similar to 'Banking Crisis', '0' likely means no systemic crisis.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8.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Gold Standard</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whether the country was on the gold standard in that year.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9. </a:t>
            </a:r>
            <a:r>
              <a:rPr lang="en-US" sz="1900" b="1" kern="100" dirty="0" err="1">
                <a:effectLst/>
                <a:latin typeface="Calibri" panose="020F0502020204030204" pitchFamily="34" charset="0"/>
                <a:ea typeface="Calibri" panose="020F0502020204030204" pitchFamily="34" charset="0"/>
                <a:cs typeface="Times New Roman" panose="02020603050405020304" pitchFamily="18" charset="0"/>
              </a:rPr>
              <a:t>exch_usd</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exchange rate of the country's currency to the US dollar.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10.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exch_usd_alt1, exch_usd_alt2, exch_usd_alt3</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Alternative exchange rate values, representing different sources or calculation methods.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11.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Conversion to USD notes/sources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Notes or sources for the exchange rate data.</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900" dirty="0"/>
          </a:p>
        </p:txBody>
      </p:sp>
    </p:spTree>
    <p:extLst>
      <p:ext uri="{BB962C8B-B14F-4D97-AF65-F5344CB8AC3E}">
        <p14:creationId xmlns:p14="http://schemas.microsoft.com/office/powerpoint/2010/main" val="1057572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3A82320-2960-BA37-EEB8-41EAC3D3E289}"/>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1E0B31D4-6924-8CAA-91CA-DC455400000D}"/>
              </a:ext>
            </a:extLst>
          </p:cNvPr>
          <p:cNvSpPr>
            <a:spLocks noGrp="1"/>
          </p:cNvSpPr>
          <p:nvPr>
            <p:ph type="sldNum" sz="quarter" idx="12"/>
          </p:nvPr>
        </p:nvSpPr>
        <p:spPr/>
        <p:txBody>
          <a:bodyPr/>
          <a:lstStyle/>
          <a:p>
            <a:fld id="{90EDC104-672A-4227-99C4-0E2CC007FDBA}" type="slidenum">
              <a:rPr lang="en-IN" smtClean="0"/>
              <a:t>12</a:t>
            </a:fld>
            <a:endParaRPr lang="en-IN"/>
          </a:p>
        </p:txBody>
      </p:sp>
      <p:sp>
        <p:nvSpPr>
          <p:cNvPr id="6" name="Title 1">
            <a:extLst>
              <a:ext uri="{FF2B5EF4-FFF2-40B4-BE49-F238E27FC236}">
                <a16:creationId xmlns:a16="http://schemas.microsoft.com/office/drawing/2014/main" id="{39A5D958-C9A6-06A2-6C45-077879085050}"/>
              </a:ext>
            </a:extLst>
          </p:cNvPr>
          <p:cNvSpPr>
            <a:spLocks noGrp="1"/>
          </p:cNvSpPr>
          <p:nvPr>
            <p:ph type="title"/>
          </p:nvPr>
        </p:nvSpPr>
        <p:spPr>
          <a:xfrm>
            <a:off x="990600" y="152400"/>
            <a:ext cx="10515600" cy="1325563"/>
          </a:xfrm>
        </p:spPr>
        <p:txBody>
          <a:bodyPr>
            <a:normAutofit/>
          </a:bodyPr>
          <a:lstStyle/>
          <a:p>
            <a:r>
              <a:rPr lang="en-US" sz="4000" b="1" dirty="0">
                <a:latin typeface="Arial Narrow" panose="020B0606020202030204" pitchFamily="34" charset="0"/>
              </a:rPr>
              <a:t>Column/Feature Details of the Dataset (continued)</a:t>
            </a:r>
            <a:endParaRPr lang="en-IN" sz="4000" dirty="0"/>
          </a:p>
        </p:txBody>
      </p:sp>
      <p:sp>
        <p:nvSpPr>
          <p:cNvPr id="7" name="Content Placeholder 2">
            <a:extLst>
              <a:ext uri="{FF2B5EF4-FFF2-40B4-BE49-F238E27FC236}">
                <a16:creationId xmlns:a16="http://schemas.microsoft.com/office/drawing/2014/main" id="{902C5805-DE68-610C-F8F0-4BEEACDC5B4C}"/>
              </a:ext>
            </a:extLst>
          </p:cNvPr>
          <p:cNvSpPr>
            <a:spLocks noGrp="1"/>
          </p:cNvSpPr>
          <p:nvPr>
            <p:ph idx="1"/>
          </p:nvPr>
        </p:nvSpPr>
        <p:spPr>
          <a:xfrm>
            <a:off x="566285" y="1336785"/>
            <a:ext cx="11405937" cy="5313144"/>
          </a:xfrm>
        </p:spPr>
        <p:txBody>
          <a:bodyPr>
            <a:noAutofit/>
          </a:bodyPr>
          <a:lstStyle/>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12.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Domestic Debt In Default</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there was a default on domestic debt.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13.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Domestic_Debt</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_ Notes/Sources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Notes or sources regarding the domestic debt data.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14.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SOVEREIGN EXTERNAL DEBT 1 and 2</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there was a default or restructuring of sovereign external debt. Different columns might represent different categorizations or time periods of the debt.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15.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Defaults_External_Notes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Notes about external debt defaults.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16.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GDP_Weighted_default</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 measure of defaults weighted by GDP, possibly indicating the severity or impact of the default relative to the country's economy.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17.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Inflation, Annual percentages of average consumer prices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The annual inflation rate, measured as the percentage change in consumer prices.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18.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Independence</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 country was independent in that year.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19.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Currency Crises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 currency crisis.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20.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Inflation Crises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an inflation crisis.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1453073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01BD-7A23-B300-5C23-9B1B45C3FE2F}"/>
              </a:ext>
            </a:extLst>
          </p:cNvPr>
          <p:cNvSpPr>
            <a:spLocks noGrp="1"/>
          </p:cNvSpPr>
          <p:nvPr>
            <p:ph type="title"/>
          </p:nvPr>
        </p:nvSpPr>
        <p:spPr/>
        <p:txBody>
          <a:bodyPr/>
          <a:lstStyle/>
          <a:p>
            <a:r>
              <a:rPr lang="en-US" b="1" dirty="0">
                <a:latin typeface="Arial Narrow" panose="020B0606020202030204" pitchFamily="34" charset="0"/>
              </a:rPr>
              <a:t>Exploratory Data Analysis</a:t>
            </a:r>
            <a:endParaRPr lang="en-IN" dirty="0"/>
          </a:p>
        </p:txBody>
      </p:sp>
      <p:sp>
        <p:nvSpPr>
          <p:cNvPr id="6" name="Content Placeholder 9">
            <a:extLst>
              <a:ext uri="{FF2B5EF4-FFF2-40B4-BE49-F238E27FC236}">
                <a16:creationId xmlns:a16="http://schemas.microsoft.com/office/drawing/2014/main" id="{EFB19EB2-F097-2945-AE84-70CC31A5F384}"/>
              </a:ext>
            </a:extLst>
          </p:cNvPr>
          <p:cNvSpPr txBox="1">
            <a:spLocks/>
          </p:cNvSpPr>
          <p:nvPr/>
        </p:nvSpPr>
        <p:spPr>
          <a:xfrm>
            <a:off x="838200" y="4617612"/>
            <a:ext cx="10515600" cy="1726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kern="100" dirty="0">
                <a:latin typeface="Calibri" panose="020F0502020204030204" pitchFamily="34" charset="0"/>
                <a:ea typeface="Calibri" panose="020F0502020204030204" pitchFamily="34" charset="0"/>
                <a:cs typeface="Times New Roman" panose="02020603050405020304" pitchFamily="18" charset="0"/>
              </a:rPr>
              <a:t>Output of the describe() function, which provides descriptive statistics for the numerical columns in the </a:t>
            </a:r>
            <a:r>
              <a:rPr lang="en-IN" sz="1800" kern="100" dirty="0" err="1">
                <a:latin typeface="Calibri" panose="020F0502020204030204" pitchFamily="34" charset="0"/>
                <a:ea typeface="Calibri" panose="020F0502020204030204" pitchFamily="34" charset="0"/>
                <a:cs typeface="Times New Roman" panose="02020603050405020304" pitchFamily="18" charset="0"/>
              </a:rPr>
              <a:t>crisis_data</a:t>
            </a:r>
            <a:r>
              <a:rPr lang="en-IN" sz="1800" kern="100" dirty="0">
                <a:latin typeface="Calibri" panose="020F0502020204030204" pitchFamily="34" charset="0"/>
                <a:ea typeface="Calibri" panose="020F0502020204030204" pitchFamily="34" charset="0"/>
                <a:cs typeface="Times New Roman" panose="02020603050405020304" pitchFamily="18" charset="0"/>
              </a:rPr>
              <a:t> </a:t>
            </a:r>
            <a:r>
              <a:rPr lang="en-IN" sz="1800" kern="100" dirty="0" err="1">
                <a:latin typeface="Calibri" panose="020F0502020204030204" pitchFamily="34" charset="0"/>
                <a:ea typeface="Calibri" panose="020F0502020204030204" pitchFamily="34" charset="0"/>
                <a:cs typeface="Times New Roman" panose="02020603050405020304" pitchFamily="18" charset="0"/>
              </a:rPr>
              <a:t>DataFrame</a:t>
            </a:r>
            <a:r>
              <a:rPr lang="en-IN" sz="1800" kern="100" dirty="0">
                <a:latin typeface="Calibri" panose="020F0502020204030204" pitchFamily="34" charset="0"/>
                <a:ea typeface="Calibri" panose="020F0502020204030204" pitchFamily="34" charset="0"/>
                <a:cs typeface="Times New Roman" panose="02020603050405020304" pitchFamily="18" charset="0"/>
              </a:rPr>
              <a:t>. </a:t>
            </a:r>
          </a:p>
          <a:p>
            <a:r>
              <a:rPr lang="en-IN" sz="1800" kern="100" dirty="0">
                <a:latin typeface="Calibri" panose="020F0502020204030204" pitchFamily="34" charset="0"/>
                <a:ea typeface="Calibri" panose="020F0502020204030204" pitchFamily="34" charset="0"/>
                <a:cs typeface="Times New Roman" panose="02020603050405020304" pitchFamily="18" charset="0"/>
              </a:rPr>
              <a:t>It includes the count, mean, standard deviation, minimum, percentiles, and maximum values for columns such as 'Year', 'Banking Crisis', 'Systemic Crisis', and others related to financial measures.</a:t>
            </a:r>
          </a:p>
          <a:p>
            <a:pPr marL="0" indent="0">
              <a:buFont typeface="Arial" panose="020B0604020202020204" pitchFamily="34" charset="0"/>
              <a:buNone/>
            </a:pPr>
            <a:endParaRPr lang="en-IN" dirty="0"/>
          </a:p>
        </p:txBody>
      </p:sp>
      <p:pic>
        <p:nvPicPr>
          <p:cNvPr id="10" name="Picture 9">
            <a:extLst>
              <a:ext uri="{FF2B5EF4-FFF2-40B4-BE49-F238E27FC236}">
                <a16:creationId xmlns:a16="http://schemas.microsoft.com/office/drawing/2014/main" id="{07C6FFFB-F548-8EE8-2ED8-38DF71A8CAF9}"/>
              </a:ext>
            </a:extLst>
          </p:cNvPr>
          <p:cNvPicPr>
            <a:picLocks noChangeAspect="1"/>
          </p:cNvPicPr>
          <p:nvPr/>
        </p:nvPicPr>
        <p:blipFill>
          <a:blip r:embed="rId2"/>
          <a:stretch>
            <a:fillRect/>
          </a:stretch>
        </p:blipFill>
        <p:spPr>
          <a:xfrm>
            <a:off x="698852" y="1387503"/>
            <a:ext cx="10515600" cy="3230109"/>
          </a:xfrm>
          <a:prstGeom prst="rect">
            <a:avLst/>
          </a:prstGeom>
        </p:spPr>
      </p:pic>
    </p:spTree>
    <p:extLst>
      <p:ext uri="{BB962C8B-B14F-4D97-AF65-F5344CB8AC3E}">
        <p14:creationId xmlns:p14="http://schemas.microsoft.com/office/powerpoint/2010/main" val="770211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150145"/>
          </a:xfrm>
        </p:spPr>
        <p:txBody>
          <a:bodyPr/>
          <a:lstStyle/>
          <a:p>
            <a:r>
              <a:rPr lang="en-US" b="1" dirty="0">
                <a:latin typeface="Arial Narrow" panose="020B0606020202030204" pitchFamily="34" charset="0"/>
              </a:rPr>
              <a:t>Exploratory Data Analysis </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dirty="0"/>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14</a:t>
            </a:fld>
            <a:endParaRPr lang="en-IN"/>
          </a:p>
        </p:txBody>
      </p:sp>
      <p:pic>
        <p:nvPicPr>
          <p:cNvPr id="9" name="Picture 8">
            <a:extLst>
              <a:ext uri="{FF2B5EF4-FFF2-40B4-BE49-F238E27FC236}">
                <a16:creationId xmlns:a16="http://schemas.microsoft.com/office/drawing/2014/main" id="{BF8CD608-58A2-9F69-3DCD-4F5716F19FA8}"/>
              </a:ext>
            </a:extLst>
          </p:cNvPr>
          <p:cNvPicPr>
            <a:picLocks noChangeAspect="1"/>
          </p:cNvPicPr>
          <p:nvPr/>
        </p:nvPicPr>
        <p:blipFill rotWithShape="1">
          <a:blip r:embed="rId2"/>
          <a:srcRect l="11531" t="21988"/>
          <a:stretch/>
        </p:blipFill>
        <p:spPr>
          <a:xfrm>
            <a:off x="344804" y="1297940"/>
            <a:ext cx="7942356" cy="4465320"/>
          </a:xfrm>
          <a:prstGeom prst="rect">
            <a:avLst/>
          </a:prstGeom>
        </p:spPr>
      </p:pic>
      <p:sp>
        <p:nvSpPr>
          <p:cNvPr id="11" name="TextBox 10">
            <a:extLst>
              <a:ext uri="{FF2B5EF4-FFF2-40B4-BE49-F238E27FC236}">
                <a16:creationId xmlns:a16="http://schemas.microsoft.com/office/drawing/2014/main" id="{D5447812-7BCE-2890-6E8F-B0E619AAE98D}"/>
              </a:ext>
            </a:extLst>
          </p:cNvPr>
          <p:cNvSpPr txBox="1"/>
          <p:nvPr/>
        </p:nvSpPr>
        <p:spPr>
          <a:xfrm>
            <a:off x="8473440" y="1415911"/>
            <a:ext cx="3373756" cy="2554545"/>
          </a:xfrm>
          <a:prstGeom prst="rect">
            <a:avLst/>
          </a:prstGeom>
          <a:noFill/>
        </p:spPr>
        <p:txBody>
          <a:bodyPr wrap="square" rtlCol="0">
            <a:spAutoFit/>
          </a:bodyPr>
          <a:lstStyle/>
          <a:p>
            <a:r>
              <a:rPr lang="en-US" sz="2000" dirty="0"/>
              <a:t>Generated a histogram with a kernel density estimate (KDE) overlay for the 'Year' column of the </a:t>
            </a:r>
            <a:r>
              <a:rPr lang="en-US" sz="2000" dirty="0" err="1"/>
              <a:t>crisis_data</a:t>
            </a:r>
            <a:r>
              <a:rPr lang="en-US" sz="2000" dirty="0"/>
              <a:t> </a:t>
            </a:r>
            <a:r>
              <a:rPr lang="en-US" sz="2000" dirty="0" err="1"/>
              <a:t>DataFrame</a:t>
            </a:r>
            <a:r>
              <a:rPr lang="en-US" sz="2000" dirty="0"/>
              <a:t>, showing the distribution of years and their frequency within the dataset. It is normally distributed.</a:t>
            </a:r>
            <a:endParaRPr lang="en-IN" sz="2000" dirty="0"/>
          </a:p>
        </p:txBody>
      </p:sp>
    </p:spTree>
    <p:extLst>
      <p:ext uri="{BB962C8B-B14F-4D97-AF65-F5344CB8AC3E}">
        <p14:creationId xmlns:p14="http://schemas.microsoft.com/office/powerpoint/2010/main" val="4128950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Exploratory Data Analysis </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15</a:t>
            </a:fld>
            <a:endParaRPr lang="en-IN"/>
          </a:p>
        </p:txBody>
      </p:sp>
      <p:sp>
        <p:nvSpPr>
          <p:cNvPr id="7" name="TextBox 6">
            <a:extLst>
              <a:ext uri="{FF2B5EF4-FFF2-40B4-BE49-F238E27FC236}">
                <a16:creationId xmlns:a16="http://schemas.microsoft.com/office/drawing/2014/main" id="{D649A119-FEA9-1D44-5DB9-039E9A2AC85A}"/>
              </a:ext>
            </a:extLst>
          </p:cNvPr>
          <p:cNvSpPr txBox="1"/>
          <p:nvPr/>
        </p:nvSpPr>
        <p:spPr>
          <a:xfrm>
            <a:off x="294640" y="1201837"/>
            <a:ext cx="5635941" cy="5078313"/>
          </a:xfrm>
          <a:prstGeom prst="rect">
            <a:avLst/>
          </a:prstGeom>
          <a:noFill/>
        </p:spPr>
        <p:txBody>
          <a:bodyPr wrap="square" rtlCol="0">
            <a:spAutoFit/>
          </a:bodyPr>
          <a:lstStyle/>
          <a:p>
            <a:pPr marL="285750" indent="-285750">
              <a:buFont typeface="Arial" panose="020B0604020202020204" pitchFamily="34" charset="0"/>
              <a:buChar char="•"/>
            </a:pPr>
            <a:r>
              <a:rPr lang="en-US" b="1" dirty="0"/>
              <a:t>Banking Crisis and Systemic Crisis (0.73): </a:t>
            </a:r>
            <a:r>
              <a:rPr lang="en-US" dirty="0"/>
              <a:t>A strong positive correlation, indicating that these types of crises often occur together.</a:t>
            </a:r>
          </a:p>
          <a:p>
            <a:endParaRPr lang="en-US" dirty="0"/>
          </a:p>
          <a:p>
            <a:pPr marL="285750" indent="-285750">
              <a:buFont typeface="Arial" panose="020B0604020202020204" pitchFamily="34" charset="0"/>
              <a:buChar char="•"/>
            </a:pPr>
            <a:r>
              <a:rPr lang="en-US" b="1" dirty="0" err="1"/>
              <a:t>Domestic_Debt_In_Default</a:t>
            </a:r>
            <a:r>
              <a:rPr lang="en-US" b="1" dirty="0"/>
              <a:t> and </a:t>
            </a:r>
            <a:r>
              <a:rPr lang="en-US" b="1" dirty="0" err="1"/>
              <a:t>GDP_Weighted_default</a:t>
            </a:r>
            <a:r>
              <a:rPr lang="en-US" b="1" dirty="0"/>
              <a:t> (0.34): </a:t>
            </a:r>
            <a:r>
              <a:rPr lang="en-US" dirty="0"/>
              <a:t>A moderate positive correlation, suggesting a relationship between GDP-weighted defaults and domestic debt defaults.</a:t>
            </a:r>
          </a:p>
          <a:p>
            <a:endParaRPr lang="en-US" dirty="0"/>
          </a:p>
          <a:p>
            <a:pPr marL="285750" indent="-285750">
              <a:buFont typeface="Arial" panose="020B0604020202020204" pitchFamily="34" charset="0"/>
              <a:buChar char="•"/>
            </a:pPr>
            <a:r>
              <a:rPr lang="en-US" b="1" dirty="0"/>
              <a:t>Currency Crises and Inflation Crises (0.36): </a:t>
            </a:r>
            <a:r>
              <a:rPr lang="en-US" dirty="0"/>
              <a:t>A moderate positive correlation, implying that currency crises might be linked with inflation crises.</a:t>
            </a:r>
          </a:p>
          <a:p>
            <a:endParaRPr lang="en-US" dirty="0"/>
          </a:p>
          <a:p>
            <a:pPr marL="285750" indent="-285750">
              <a:buFont typeface="Arial" panose="020B0604020202020204" pitchFamily="34" charset="0"/>
              <a:buChar char="•"/>
            </a:pPr>
            <a:r>
              <a:rPr lang="en-US" b="1" dirty="0"/>
              <a:t>Inflation Annual Percentages and Exchange Rate (</a:t>
            </a:r>
            <a:r>
              <a:rPr lang="en-US" b="1" dirty="0" err="1"/>
              <a:t>exch_usd</a:t>
            </a:r>
            <a:r>
              <a:rPr lang="en-US" b="1" dirty="0"/>
              <a:t>) (0.59): </a:t>
            </a:r>
            <a:r>
              <a:rPr lang="en-US" dirty="0"/>
              <a:t>A strong positive correlation, indicating that higher inflation rates are often associated with a weaker currency against the US dollar.</a:t>
            </a:r>
            <a:endParaRPr lang="en-IN" dirty="0"/>
          </a:p>
        </p:txBody>
      </p:sp>
      <p:pic>
        <p:nvPicPr>
          <p:cNvPr id="9" name="Picture 8">
            <a:extLst>
              <a:ext uri="{FF2B5EF4-FFF2-40B4-BE49-F238E27FC236}">
                <a16:creationId xmlns:a16="http://schemas.microsoft.com/office/drawing/2014/main" id="{16CDB87C-825C-1A5D-519B-B743B9904E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61421" y="984568"/>
            <a:ext cx="5579745" cy="5222875"/>
          </a:xfrm>
          <a:prstGeom prst="rect">
            <a:avLst/>
          </a:prstGeom>
          <a:noFill/>
          <a:ln>
            <a:noFill/>
          </a:ln>
        </p:spPr>
      </p:pic>
    </p:spTree>
    <p:extLst>
      <p:ext uri="{BB962C8B-B14F-4D97-AF65-F5344CB8AC3E}">
        <p14:creationId xmlns:p14="http://schemas.microsoft.com/office/powerpoint/2010/main" val="2304344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7AE0-7705-8B7C-8EFB-9A074458A16C}"/>
              </a:ext>
            </a:extLst>
          </p:cNvPr>
          <p:cNvSpPr>
            <a:spLocks noGrp="1"/>
          </p:cNvSpPr>
          <p:nvPr>
            <p:ph type="title"/>
          </p:nvPr>
        </p:nvSpPr>
        <p:spPr>
          <a:xfrm>
            <a:off x="838200" y="71729"/>
            <a:ext cx="10515600" cy="1325563"/>
          </a:xfrm>
        </p:spPr>
        <p:txBody>
          <a:bodyPr/>
          <a:lstStyle/>
          <a:p>
            <a:r>
              <a:rPr lang="en-US" b="1" dirty="0">
                <a:latin typeface="Arial Narrow" panose="020B0606020202030204" pitchFamily="34" charset="0"/>
              </a:rPr>
              <a:t>Exploratory Data Analysis</a:t>
            </a:r>
            <a:endParaRPr lang="en-IN" dirty="0"/>
          </a:p>
        </p:txBody>
      </p:sp>
      <p:sp>
        <p:nvSpPr>
          <p:cNvPr id="9" name="Content Placeholder 8">
            <a:extLst>
              <a:ext uri="{FF2B5EF4-FFF2-40B4-BE49-F238E27FC236}">
                <a16:creationId xmlns:a16="http://schemas.microsoft.com/office/drawing/2014/main" id="{A6EC1CC8-E85A-7990-7E56-9DE848413B29}"/>
              </a:ext>
            </a:extLst>
          </p:cNvPr>
          <p:cNvSpPr>
            <a:spLocks noGrp="1"/>
          </p:cNvSpPr>
          <p:nvPr>
            <p:ph idx="1"/>
          </p:nvPr>
        </p:nvSpPr>
        <p:spPr/>
        <p:txBody>
          <a:bodyPr/>
          <a:lstStyle/>
          <a:p>
            <a:endParaRPr lang="en-IN"/>
          </a:p>
        </p:txBody>
      </p:sp>
      <p:pic>
        <p:nvPicPr>
          <p:cNvPr id="11" name="Picture 10">
            <a:extLst>
              <a:ext uri="{FF2B5EF4-FFF2-40B4-BE49-F238E27FC236}">
                <a16:creationId xmlns:a16="http://schemas.microsoft.com/office/drawing/2014/main" id="{FC005A39-8C46-AD44-5823-E6E430CB85D0}"/>
              </a:ext>
            </a:extLst>
          </p:cNvPr>
          <p:cNvPicPr>
            <a:picLocks noChangeAspect="1"/>
          </p:cNvPicPr>
          <p:nvPr/>
        </p:nvPicPr>
        <p:blipFill>
          <a:blip r:embed="rId2"/>
          <a:stretch>
            <a:fillRect/>
          </a:stretch>
        </p:blipFill>
        <p:spPr>
          <a:xfrm>
            <a:off x="206359" y="1204737"/>
            <a:ext cx="11985641" cy="5440612"/>
          </a:xfrm>
          <a:prstGeom prst="rect">
            <a:avLst/>
          </a:prstGeom>
        </p:spPr>
      </p:pic>
    </p:spTree>
    <p:extLst>
      <p:ext uri="{BB962C8B-B14F-4D97-AF65-F5344CB8AC3E}">
        <p14:creationId xmlns:p14="http://schemas.microsoft.com/office/powerpoint/2010/main" val="3590689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Exploratory Data Analysis</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17</a:t>
            </a:fld>
            <a:endParaRPr lang="en-IN" dirty="0"/>
          </a:p>
        </p:txBody>
      </p:sp>
      <p:pic>
        <p:nvPicPr>
          <p:cNvPr id="6" name="Content Placeholder 5">
            <a:extLst>
              <a:ext uri="{FF2B5EF4-FFF2-40B4-BE49-F238E27FC236}">
                <a16:creationId xmlns:a16="http://schemas.microsoft.com/office/drawing/2014/main" id="{4CC4BDDE-5E56-A08F-2394-B022C8406552}"/>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1" b="50723"/>
          <a:stretch/>
        </p:blipFill>
        <p:spPr bwMode="auto">
          <a:xfrm>
            <a:off x="0" y="945673"/>
            <a:ext cx="5969635" cy="2413647"/>
          </a:xfrm>
          <a:prstGeom prst="rect">
            <a:avLst/>
          </a:prstGeom>
          <a:noFill/>
          <a:ln>
            <a:noFill/>
          </a:ln>
        </p:spPr>
      </p:pic>
      <p:pic>
        <p:nvPicPr>
          <p:cNvPr id="7" name="Picture 6">
            <a:extLst>
              <a:ext uri="{FF2B5EF4-FFF2-40B4-BE49-F238E27FC236}">
                <a16:creationId xmlns:a16="http://schemas.microsoft.com/office/drawing/2014/main" id="{A490FE1A-DED2-F9C5-4722-CD66B769F24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9264"/>
          <a:stretch/>
        </p:blipFill>
        <p:spPr bwMode="auto">
          <a:xfrm>
            <a:off x="5969635" y="979902"/>
            <a:ext cx="5969635" cy="2485125"/>
          </a:xfrm>
          <a:prstGeom prst="rect">
            <a:avLst/>
          </a:prstGeom>
          <a:noFill/>
          <a:ln>
            <a:noFill/>
          </a:ln>
        </p:spPr>
      </p:pic>
      <p:pic>
        <p:nvPicPr>
          <p:cNvPr id="8" name="Picture 7">
            <a:extLst>
              <a:ext uri="{FF2B5EF4-FFF2-40B4-BE49-F238E27FC236}">
                <a16:creationId xmlns:a16="http://schemas.microsoft.com/office/drawing/2014/main" id="{223DEDAA-3332-BD24-3784-2734A838287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9062" y="3607202"/>
            <a:ext cx="5731510" cy="2501265"/>
          </a:xfrm>
          <a:prstGeom prst="rect">
            <a:avLst/>
          </a:prstGeom>
          <a:noFill/>
          <a:ln>
            <a:noFill/>
          </a:ln>
        </p:spPr>
      </p:pic>
      <p:sp>
        <p:nvSpPr>
          <p:cNvPr id="9" name="TextBox 8">
            <a:extLst>
              <a:ext uri="{FF2B5EF4-FFF2-40B4-BE49-F238E27FC236}">
                <a16:creationId xmlns:a16="http://schemas.microsoft.com/office/drawing/2014/main" id="{006A3B9F-080B-E53E-C1DD-C4E6C3C212FB}"/>
              </a:ext>
            </a:extLst>
          </p:cNvPr>
          <p:cNvSpPr txBox="1"/>
          <p:nvPr/>
        </p:nvSpPr>
        <p:spPr>
          <a:xfrm>
            <a:off x="6096000" y="3717063"/>
            <a:ext cx="5731510" cy="2392578"/>
          </a:xfrm>
          <a:prstGeom prst="rect">
            <a:avLst/>
          </a:prstGeom>
          <a:noFill/>
        </p:spPr>
        <p:txBody>
          <a:bodyPr wrap="square" rtlCol="0">
            <a:spAutoFit/>
          </a:bodyPr>
          <a:lstStyle/>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The graph indicates that all types of crises have become more common over time, with inflation crises showing the most pronounced increase. This could reflect various economic trends, policy changes, and evolving financial systems globally. The cumulative nature of the graph underscores the continuing impact and rising frequency of these economic events over time.</a:t>
            </a:r>
          </a:p>
          <a:p>
            <a:endParaRPr lang="en-IN" sz="800" dirty="0"/>
          </a:p>
        </p:txBody>
      </p:sp>
    </p:spTree>
    <p:extLst>
      <p:ext uri="{BB962C8B-B14F-4D97-AF65-F5344CB8AC3E}">
        <p14:creationId xmlns:p14="http://schemas.microsoft.com/office/powerpoint/2010/main" val="3430558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15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18</a:t>
            </a:fld>
            <a:endParaRPr lang="en-IN"/>
          </a:p>
        </p:txBody>
      </p:sp>
      <p:pic>
        <p:nvPicPr>
          <p:cNvPr id="6" name="Content Placeholder 5" descr="Uploaded image">
            <a:extLst>
              <a:ext uri="{FF2B5EF4-FFF2-40B4-BE49-F238E27FC236}">
                <a16:creationId xmlns:a16="http://schemas.microsoft.com/office/drawing/2014/main" id="{F02954FF-8D74-3E3F-F59A-27D48EC8481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8962" y="1659611"/>
            <a:ext cx="4907038" cy="2073808"/>
          </a:xfrm>
          <a:prstGeom prst="rect">
            <a:avLst/>
          </a:prstGeom>
          <a:noFill/>
          <a:ln w="3175">
            <a:solidFill>
              <a:schemeClr val="tx1"/>
            </a:solidFill>
          </a:ln>
        </p:spPr>
      </p:pic>
      <p:pic>
        <p:nvPicPr>
          <p:cNvPr id="7" name="Picture 6" descr="Uploaded image">
            <a:extLst>
              <a:ext uri="{FF2B5EF4-FFF2-40B4-BE49-F238E27FC236}">
                <a16:creationId xmlns:a16="http://schemas.microsoft.com/office/drawing/2014/main" id="{3CD9570B-FA5B-583B-B0FD-E666C442B46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75160" y="1676244"/>
            <a:ext cx="4804261" cy="2073809"/>
          </a:xfrm>
          <a:prstGeom prst="rect">
            <a:avLst/>
          </a:prstGeom>
          <a:noFill/>
          <a:ln w="3175">
            <a:solidFill>
              <a:schemeClr val="tx1"/>
            </a:solidFill>
          </a:ln>
        </p:spPr>
      </p:pic>
      <p:pic>
        <p:nvPicPr>
          <p:cNvPr id="8" name="Picture 7">
            <a:extLst>
              <a:ext uri="{FF2B5EF4-FFF2-40B4-BE49-F238E27FC236}">
                <a16:creationId xmlns:a16="http://schemas.microsoft.com/office/drawing/2014/main" id="{C318F20F-F841-D24C-BAC9-60C312EC58BB}"/>
              </a:ext>
            </a:extLst>
          </p:cNvPr>
          <p:cNvPicPr>
            <a:picLocks noChangeAspect="1"/>
          </p:cNvPicPr>
          <p:nvPr/>
        </p:nvPicPr>
        <p:blipFill>
          <a:blip r:embed="rId4"/>
          <a:stretch>
            <a:fillRect/>
          </a:stretch>
        </p:blipFill>
        <p:spPr>
          <a:xfrm>
            <a:off x="1188962" y="3976401"/>
            <a:ext cx="4907038" cy="2310837"/>
          </a:xfrm>
          <a:prstGeom prst="rect">
            <a:avLst/>
          </a:prstGeom>
          <a:ln w="3175">
            <a:solidFill>
              <a:schemeClr val="tx1"/>
            </a:solidFill>
          </a:ln>
        </p:spPr>
      </p:pic>
      <p:pic>
        <p:nvPicPr>
          <p:cNvPr id="9" name="Picture 8">
            <a:extLst>
              <a:ext uri="{FF2B5EF4-FFF2-40B4-BE49-F238E27FC236}">
                <a16:creationId xmlns:a16="http://schemas.microsoft.com/office/drawing/2014/main" id="{70D3AE06-1653-F048-FEF0-E9B539C1CE9C}"/>
              </a:ext>
            </a:extLst>
          </p:cNvPr>
          <p:cNvPicPr>
            <a:picLocks noChangeAspect="1"/>
          </p:cNvPicPr>
          <p:nvPr/>
        </p:nvPicPr>
        <p:blipFill>
          <a:blip r:embed="rId5"/>
          <a:stretch>
            <a:fillRect/>
          </a:stretch>
        </p:blipFill>
        <p:spPr>
          <a:xfrm>
            <a:off x="6375160" y="3976401"/>
            <a:ext cx="4804261" cy="2300157"/>
          </a:xfrm>
          <a:prstGeom prst="rect">
            <a:avLst/>
          </a:prstGeom>
          <a:ln w="3175">
            <a:solidFill>
              <a:schemeClr val="tx1"/>
            </a:solidFill>
          </a:ln>
        </p:spPr>
      </p:pic>
      <p:sp>
        <p:nvSpPr>
          <p:cNvPr id="11" name="TextBox 10">
            <a:extLst>
              <a:ext uri="{FF2B5EF4-FFF2-40B4-BE49-F238E27FC236}">
                <a16:creationId xmlns:a16="http://schemas.microsoft.com/office/drawing/2014/main" id="{BB281C86-3E40-C210-7052-EFDDA153CF45}"/>
              </a:ext>
            </a:extLst>
          </p:cNvPr>
          <p:cNvSpPr txBox="1"/>
          <p:nvPr/>
        </p:nvSpPr>
        <p:spPr>
          <a:xfrm>
            <a:off x="989714" y="984122"/>
            <a:ext cx="6097772" cy="369332"/>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Logistic Regression Model </a:t>
            </a:r>
            <a:endParaRPr lang="en-IN" dirty="0"/>
          </a:p>
        </p:txBody>
      </p:sp>
    </p:spTree>
    <p:extLst>
      <p:ext uri="{BB962C8B-B14F-4D97-AF65-F5344CB8AC3E}">
        <p14:creationId xmlns:p14="http://schemas.microsoft.com/office/powerpoint/2010/main" val="728708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2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96520" y="1045401"/>
            <a:ext cx="11998960" cy="5330190"/>
          </a:xfrm>
        </p:spPr>
        <p:txBody>
          <a:bodyPr>
            <a:normAutofit/>
          </a:bodyPr>
          <a:lstStyle/>
          <a:p>
            <a:pPr marL="0" indent="0" algn="ctr">
              <a:buNone/>
            </a:pPr>
            <a:r>
              <a:rPr lang="en-US" b="1" dirty="0"/>
              <a:t>ARIMA vs. SARIMAX – Banking Crisis</a:t>
            </a:r>
          </a:p>
          <a:p>
            <a:pPr marL="0" indent="0" algn="ctr">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19</a:t>
            </a:fld>
            <a:endParaRPr lang="en-IN"/>
          </a:p>
        </p:txBody>
      </p:sp>
      <p:pic>
        <p:nvPicPr>
          <p:cNvPr id="12" name="Picture 11">
            <a:extLst>
              <a:ext uri="{FF2B5EF4-FFF2-40B4-BE49-F238E27FC236}">
                <a16:creationId xmlns:a16="http://schemas.microsoft.com/office/drawing/2014/main" id="{8087C8F0-367F-1BD9-9323-F696FC2433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5020" y="1513208"/>
            <a:ext cx="7442681" cy="2221425"/>
          </a:xfrm>
          <a:prstGeom prst="rect">
            <a:avLst/>
          </a:prstGeom>
          <a:noFill/>
          <a:ln>
            <a:noFill/>
          </a:ln>
        </p:spPr>
      </p:pic>
      <p:pic>
        <p:nvPicPr>
          <p:cNvPr id="13" name="Picture 12">
            <a:extLst>
              <a:ext uri="{FF2B5EF4-FFF2-40B4-BE49-F238E27FC236}">
                <a16:creationId xmlns:a16="http://schemas.microsoft.com/office/drawing/2014/main" id="{D5953014-8D5A-3D41-A7F2-1DBFDAFBC6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5020" y="3767893"/>
            <a:ext cx="7442681" cy="1510635"/>
          </a:xfrm>
          <a:prstGeom prst="rect">
            <a:avLst/>
          </a:prstGeom>
          <a:noFill/>
          <a:ln>
            <a:noFill/>
          </a:ln>
        </p:spPr>
      </p:pic>
      <p:pic>
        <p:nvPicPr>
          <p:cNvPr id="14" name="Picture 13">
            <a:extLst>
              <a:ext uri="{FF2B5EF4-FFF2-40B4-BE49-F238E27FC236}">
                <a16:creationId xmlns:a16="http://schemas.microsoft.com/office/drawing/2014/main" id="{FB29DFD3-A41F-3AD5-3148-85E856BF005E}"/>
              </a:ext>
            </a:extLst>
          </p:cNvPr>
          <p:cNvPicPr>
            <a:picLocks noChangeAspect="1"/>
          </p:cNvPicPr>
          <p:nvPr/>
        </p:nvPicPr>
        <p:blipFill rotWithShape="1">
          <a:blip r:embed="rId4"/>
          <a:srcRect r="75072" b="47356"/>
          <a:stretch/>
        </p:blipFill>
        <p:spPr bwMode="auto">
          <a:xfrm>
            <a:off x="8479381" y="1704974"/>
            <a:ext cx="2874419" cy="2912745"/>
          </a:xfrm>
          <a:prstGeom prst="rect">
            <a:avLst/>
          </a:prstGeom>
          <a:ln>
            <a:noFill/>
          </a:ln>
          <a:extLst>
            <a:ext uri="{53640926-AAD7-44D8-BBD7-CCE9431645EC}">
              <a14:shadowObscured xmlns:a14="http://schemas.microsoft.com/office/drawing/2010/main"/>
            </a:ext>
          </a:extLst>
        </p:spPr>
      </p:pic>
      <p:sp>
        <p:nvSpPr>
          <p:cNvPr id="15" name="TextBox 14">
            <a:extLst>
              <a:ext uri="{FF2B5EF4-FFF2-40B4-BE49-F238E27FC236}">
                <a16:creationId xmlns:a16="http://schemas.microsoft.com/office/drawing/2014/main" id="{22AAEB2C-E88D-C23F-CAEA-8B518F860F29}"/>
              </a:ext>
            </a:extLst>
          </p:cNvPr>
          <p:cNvSpPr txBox="1"/>
          <p:nvPr/>
        </p:nvSpPr>
        <p:spPr>
          <a:xfrm>
            <a:off x="612648" y="5449824"/>
            <a:ext cx="10607040" cy="968278"/>
          </a:xfrm>
          <a:prstGeom prst="rect">
            <a:avLst/>
          </a:prstGeom>
          <a:noFill/>
        </p:spPr>
        <p:txBody>
          <a:bodyPr wrap="square" rtlCol="0">
            <a:spAutoFit/>
          </a:bodyPr>
          <a:lstStyle/>
          <a:p>
            <a:pPr>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The graph 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isplays a time series forecast for banking crises, with historical occurrences shown in blue and future predictions in red. The forecast predicts a fluctuating trend of crises severity from 2017 to 2028, with increasing uncertainty over time.</a:t>
            </a:r>
          </a:p>
        </p:txBody>
      </p:sp>
    </p:spTree>
    <p:extLst>
      <p:ext uri="{BB962C8B-B14F-4D97-AF65-F5344CB8AC3E}">
        <p14:creationId xmlns:p14="http://schemas.microsoft.com/office/powerpoint/2010/main" val="2066938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2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96520" y="1045401"/>
            <a:ext cx="11998960" cy="5330190"/>
          </a:xfrm>
        </p:spPr>
        <p:txBody>
          <a:bodyPr>
            <a:normAutofit/>
          </a:bodyPr>
          <a:lstStyle/>
          <a:p>
            <a:pPr marL="0" indent="0" algn="ctr">
              <a:buNone/>
            </a:pPr>
            <a:r>
              <a:rPr lang="en-US" b="1" dirty="0"/>
              <a:t>ARIMA vs. SARIMAX – Systemic Crisis</a:t>
            </a:r>
          </a:p>
          <a:p>
            <a:pPr marL="0" indent="0" algn="ctr">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20</a:t>
            </a:fld>
            <a:endParaRPr lang="en-IN"/>
          </a:p>
        </p:txBody>
      </p:sp>
      <p:sp>
        <p:nvSpPr>
          <p:cNvPr id="15" name="TextBox 14">
            <a:extLst>
              <a:ext uri="{FF2B5EF4-FFF2-40B4-BE49-F238E27FC236}">
                <a16:creationId xmlns:a16="http://schemas.microsoft.com/office/drawing/2014/main" id="{22AAEB2C-E88D-C23F-CAEA-8B518F860F29}"/>
              </a:ext>
            </a:extLst>
          </p:cNvPr>
          <p:cNvSpPr txBox="1"/>
          <p:nvPr/>
        </p:nvSpPr>
        <p:spPr>
          <a:xfrm>
            <a:off x="612648" y="5449824"/>
            <a:ext cx="10607040" cy="671915"/>
          </a:xfrm>
          <a:prstGeom prst="rect">
            <a:avLst/>
          </a:prstGeom>
          <a:noFill/>
        </p:spPr>
        <p:txBody>
          <a:bodyPr wrap="square" rtlCol="0">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graph shows past systemic crises and projects future trends from 2017 to 2028. The forecast indicates a decrease in crisis severity, with growing predictive uncertainty as time advances.</a:t>
            </a:r>
          </a:p>
        </p:txBody>
      </p:sp>
      <p:pic>
        <p:nvPicPr>
          <p:cNvPr id="6" name="Picture 5">
            <a:extLst>
              <a:ext uri="{FF2B5EF4-FFF2-40B4-BE49-F238E27FC236}">
                <a16:creationId xmlns:a16="http://schemas.microsoft.com/office/drawing/2014/main" id="{DB872C4C-96E3-9841-83AC-9EAB150C79C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4208" y="1546135"/>
            <a:ext cx="7373479" cy="2221193"/>
          </a:xfrm>
          <a:prstGeom prst="rect">
            <a:avLst/>
          </a:prstGeom>
          <a:noFill/>
          <a:ln>
            <a:noFill/>
          </a:ln>
        </p:spPr>
      </p:pic>
      <p:pic>
        <p:nvPicPr>
          <p:cNvPr id="7" name="Picture 6">
            <a:extLst>
              <a:ext uri="{FF2B5EF4-FFF2-40B4-BE49-F238E27FC236}">
                <a16:creationId xmlns:a16="http://schemas.microsoft.com/office/drawing/2014/main" id="{815FF813-189B-416C-8C8A-FCF3D1667E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489" y="3799782"/>
            <a:ext cx="7253197" cy="1481015"/>
          </a:xfrm>
          <a:prstGeom prst="rect">
            <a:avLst/>
          </a:prstGeom>
          <a:noFill/>
          <a:ln>
            <a:noFill/>
          </a:ln>
        </p:spPr>
      </p:pic>
      <p:pic>
        <p:nvPicPr>
          <p:cNvPr id="8" name="Picture 7">
            <a:extLst>
              <a:ext uri="{FF2B5EF4-FFF2-40B4-BE49-F238E27FC236}">
                <a16:creationId xmlns:a16="http://schemas.microsoft.com/office/drawing/2014/main" id="{BE4E61D6-A41C-B13B-7D2B-8014B413279F}"/>
              </a:ext>
            </a:extLst>
          </p:cNvPr>
          <p:cNvPicPr>
            <a:picLocks noChangeAspect="1"/>
          </p:cNvPicPr>
          <p:nvPr/>
        </p:nvPicPr>
        <p:blipFill rotWithShape="1">
          <a:blip r:embed="rId4"/>
          <a:srcRect r="73964" b="47950"/>
          <a:stretch/>
        </p:blipFill>
        <p:spPr bwMode="auto">
          <a:xfrm>
            <a:off x="8503920" y="1730130"/>
            <a:ext cx="3052619" cy="29357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63946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2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96520" y="1045401"/>
            <a:ext cx="11998960" cy="5330190"/>
          </a:xfrm>
        </p:spPr>
        <p:txBody>
          <a:bodyPr>
            <a:normAutofit/>
          </a:bodyPr>
          <a:lstStyle/>
          <a:p>
            <a:pPr marL="0" indent="0" algn="ctr">
              <a:buNone/>
            </a:pPr>
            <a:r>
              <a:rPr lang="en-US" b="1" dirty="0"/>
              <a:t>ARIMA vs. SARIMAX – Currency Crisis</a:t>
            </a:r>
          </a:p>
          <a:p>
            <a:pPr marL="0" indent="0" algn="ctr">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21</a:t>
            </a:fld>
            <a:endParaRPr lang="en-IN"/>
          </a:p>
        </p:txBody>
      </p:sp>
      <p:sp>
        <p:nvSpPr>
          <p:cNvPr id="15" name="TextBox 14">
            <a:extLst>
              <a:ext uri="{FF2B5EF4-FFF2-40B4-BE49-F238E27FC236}">
                <a16:creationId xmlns:a16="http://schemas.microsoft.com/office/drawing/2014/main" id="{22AAEB2C-E88D-C23F-CAEA-8B518F860F29}"/>
              </a:ext>
            </a:extLst>
          </p:cNvPr>
          <p:cNvSpPr txBox="1"/>
          <p:nvPr/>
        </p:nvSpPr>
        <p:spPr>
          <a:xfrm>
            <a:off x="612648" y="5449824"/>
            <a:ext cx="10607040" cy="968278"/>
          </a:xfrm>
          <a:prstGeom prst="rect">
            <a:avLst/>
          </a:prstGeom>
          <a:noFill/>
        </p:spPr>
        <p:txBody>
          <a:bodyPr wrap="square" rtlCol="0">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image shows a forecast for currency crises, with historical data in blue and predictions in red extending from 2017 to 2028. The model suggests a potential decline in crisis severity, amid increasing forecast uncertainty over time.</a:t>
            </a:r>
          </a:p>
        </p:txBody>
      </p:sp>
      <p:pic>
        <p:nvPicPr>
          <p:cNvPr id="6" name="Picture 5">
            <a:extLst>
              <a:ext uri="{FF2B5EF4-FFF2-40B4-BE49-F238E27FC236}">
                <a16:creationId xmlns:a16="http://schemas.microsoft.com/office/drawing/2014/main" id="{8E5731F8-573C-749A-CC60-4FDC328C0E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040" y="1536922"/>
            <a:ext cx="7333405" cy="2188809"/>
          </a:xfrm>
          <a:prstGeom prst="rect">
            <a:avLst/>
          </a:prstGeom>
          <a:noFill/>
          <a:ln>
            <a:noFill/>
          </a:ln>
        </p:spPr>
      </p:pic>
      <p:pic>
        <p:nvPicPr>
          <p:cNvPr id="7" name="Picture 6">
            <a:extLst>
              <a:ext uri="{FF2B5EF4-FFF2-40B4-BE49-F238E27FC236}">
                <a16:creationId xmlns:a16="http://schemas.microsoft.com/office/drawing/2014/main" id="{38A0D351-268C-BF7E-87FF-BA3243FDE07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489" y="3710496"/>
            <a:ext cx="7288955" cy="1488316"/>
          </a:xfrm>
          <a:prstGeom prst="rect">
            <a:avLst/>
          </a:prstGeom>
          <a:noFill/>
          <a:ln>
            <a:noFill/>
          </a:ln>
        </p:spPr>
      </p:pic>
      <p:pic>
        <p:nvPicPr>
          <p:cNvPr id="8" name="Picture 7">
            <a:extLst>
              <a:ext uri="{FF2B5EF4-FFF2-40B4-BE49-F238E27FC236}">
                <a16:creationId xmlns:a16="http://schemas.microsoft.com/office/drawing/2014/main" id="{45A5E1FF-0025-69C1-F168-E6E73D92283D}"/>
              </a:ext>
            </a:extLst>
          </p:cNvPr>
          <p:cNvPicPr>
            <a:picLocks noChangeAspect="1"/>
          </p:cNvPicPr>
          <p:nvPr/>
        </p:nvPicPr>
        <p:blipFill rotWithShape="1">
          <a:blip r:embed="rId4"/>
          <a:srcRect r="74075" b="47910"/>
          <a:stretch/>
        </p:blipFill>
        <p:spPr bwMode="auto">
          <a:xfrm>
            <a:off x="8385255" y="1588132"/>
            <a:ext cx="2968545" cy="289242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97084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2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96520" y="1045401"/>
            <a:ext cx="11998960" cy="5330190"/>
          </a:xfrm>
        </p:spPr>
        <p:txBody>
          <a:bodyPr>
            <a:normAutofit/>
          </a:bodyPr>
          <a:lstStyle/>
          <a:p>
            <a:pPr marL="0" indent="0" algn="ctr">
              <a:buNone/>
            </a:pPr>
            <a:r>
              <a:rPr lang="en-US" b="1" dirty="0"/>
              <a:t>ARIMA vs. SARIMAX – Inflation Crisis</a:t>
            </a:r>
          </a:p>
          <a:p>
            <a:pPr marL="0" indent="0" algn="ctr">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22</a:t>
            </a:fld>
            <a:endParaRPr lang="en-IN"/>
          </a:p>
        </p:txBody>
      </p:sp>
      <p:sp>
        <p:nvSpPr>
          <p:cNvPr id="15" name="TextBox 14">
            <a:extLst>
              <a:ext uri="{FF2B5EF4-FFF2-40B4-BE49-F238E27FC236}">
                <a16:creationId xmlns:a16="http://schemas.microsoft.com/office/drawing/2014/main" id="{22AAEB2C-E88D-C23F-CAEA-8B518F860F29}"/>
              </a:ext>
            </a:extLst>
          </p:cNvPr>
          <p:cNvSpPr txBox="1"/>
          <p:nvPr/>
        </p:nvSpPr>
        <p:spPr>
          <a:xfrm>
            <a:off x="612648" y="5449824"/>
            <a:ext cx="10607040" cy="968278"/>
          </a:xfrm>
          <a:prstGeom prst="rect">
            <a:avLst/>
          </a:prstGeom>
          <a:noFill/>
        </p:spPr>
        <p:txBody>
          <a:bodyPr wrap="square" rtlCol="0">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graph displays a forecast for inflation crises, showing historical occurrences in blue and future predictions in red through 2028. The trend predicts an increase in the frequency or severity of inflation crises, with a widening range of uncertainty.</a:t>
            </a:r>
          </a:p>
        </p:txBody>
      </p:sp>
      <p:pic>
        <p:nvPicPr>
          <p:cNvPr id="6" name="Picture 5">
            <a:extLst>
              <a:ext uri="{FF2B5EF4-FFF2-40B4-BE49-F238E27FC236}">
                <a16:creationId xmlns:a16="http://schemas.microsoft.com/office/drawing/2014/main" id="{3F89A4AD-0B74-1E51-5452-2553CADF4E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4696" y="1556584"/>
            <a:ext cx="7461899" cy="2227161"/>
          </a:xfrm>
          <a:prstGeom prst="rect">
            <a:avLst/>
          </a:prstGeom>
          <a:noFill/>
          <a:ln>
            <a:noFill/>
          </a:ln>
        </p:spPr>
      </p:pic>
      <p:pic>
        <p:nvPicPr>
          <p:cNvPr id="7" name="Picture 6">
            <a:extLst>
              <a:ext uri="{FF2B5EF4-FFF2-40B4-BE49-F238E27FC236}">
                <a16:creationId xmlns:a16="http://schemas.microsoft.com/office/drawing/2014/main" id="{5F02932C-DD25-0C7F-D062-B153EBFFE52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296" y="3783745"/>
            <a:ext cx="7432715" cy="1517671"/>
          </a:xfrm>
          <a:prstGeom prst="rect">
            <a:avLst/>
          </a:prstGeom>
          <a:noFill/>
          <a:ln>
            <a:noFill/>
          </a:ln>
        </p:spPr>
      </p:pic>
      <p:pic>
        <p:nvPicPr>
          <p:cNvPr id="8" name="Picture 7">
            <a:extLst>
              <a:ext uri="{FF2B5EF4-FFF2-40B4-BE49-F238E27FC236}">
                <a16:creationId xmlns:a16="http://schemas.microsoft.com/office/drawing/2014/main" id="{6CA808BF-3665-6213-A9AA-727E79A1F134}"/>
              </a:ext>
            </a:extLst>
          </p:cNvPr>
          <p:cNvPicPr>
            <a:picLocks noChangeAspect="1"/>
          </p:cNvPicPr>
          <p:nvPr/>
        </p:nvPicPr>
        <p:blipFill rotWithShape="1">
          <a:blip r:embed="rId4"/>
          <a:srcRect r="74075" b="47734"/>
          <a:stretch/>
        </p:blipFill>
        <p:spPr bwMode="auto">
          <a:xfrm>
            <a:off x="8342391" y="1553152"/>
            <a:ext cx="3125709" cy="30188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06088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23</a:t>
            </a:fld>
            <a:endParaRPr lang="en-IN"/>
          </a:p>
        </p:txBody>
      </p:sp>
      <p:pic>
        <p:nvPicPr>
          <p:cNvPr id="8" name="Picture 7">
            <a:extLst>
              <a:ext uri="{FF2B5EF4-FFF2-40B4-BE49-F238E27FC236}">
                <a16:creationId xmlns:a16="http://schemas.microsoft.com/office/drawing/2014/main" id="{5127EBA7-BB12-9925-D7F7-E1CE1D7C8F41}"/>
              </a:ext>
            </a:extLst>
          </p:cNvPr>
          <p:cNvPicPr>
            <a:picLocks noChangeAspect="1"/>
          </p:cNvPicPr>
          <p:nvPr/>
        </p:nvPicPr>
        <p:blipFill>
          <a:blip r:embed="rId2"/>
          <a:stretch>
            <a:fillRect/>
          </a:stretch>
        </p:blipFill>
        <p:spPr>
          <a:xfrm>
            <a:off x="215821" y="854709"/>
            <a:ext cx="5087700" cy="4898488"/>
          </a:xfrm>
          <a:prstGeom prst="rect">
            <a:avLst/>
          </a:prstGeom>
        </p:spPr>
      </p:pic>
      <p:sp>
        <p:nvSpPr>
          <p:cNvPr id="15" name="TextBox 14">
            <a:extLst>
              <a:ext uri="{FF2B5EF4-FFF2-40B4-BE49-F238E27FC236}">
                <a16:creationId xmlns:a16="http://schemas.microsoft.com/office/drawing/2014/main" id="{F441AA05-B726-3F3B-3265-30D65381EF5D}"/>
              </a:ext>
            </a:extLst>
          </p:cNvPr>
          <p:cNvSpPr txBox="1"/>
          <p:nvPr/>
        </p:nvSpPr>
        <p:spPr>
          <a:xfrm>
            <a:off x="5452717" y="1145043"/>
            <a:ext cx="6094476" cy="830997"/>
          </a:xfrm>
          <a:prstGeom prst="rect">
            <a:avLst/>
          </a:prstGeom>
          <a:noFill/>
        </p:spPr>
        <p:txBody>
          <a:bodyPr wrap="square">
            <a:spAutoFit/>
          </a:bodyPr>
          <a:lstStyle/>
          <a:p>
            <a:r>
              <a:rPr lang="en-IN" sz="1600" dirty="0">
                <a:effectLst/>
                <a:latin typeface="Calibri" panose="020F0502020204030204" pitchFamily="34" charset="0"/>
                <a:ea typeface="Calibri" panose="020F0502020204030204" pitchFamily="34" charset="0"/>
                <a:cs typeface="Times New Roman" panose="02020603050405020304" pitchFamily="18" charset="0"/>
              </a:rPr>
              <a:t>The p-value of 0.918148 is very high, suggesting that there is no significant autocorrelation at any of the first 10 lags of the residual time series for banking crises.</a:t>
            </a:r>
            <a:endParaRPr lang="en-IN" sz="1600" dirty="0"/>
          </a:p>
        </p:txBody>
      </p:sp>
      <p:sp>
        <p:nvSpPr>
          <p:cNvPr id="17" name="TextBox 16">
            <a:extLst>
              <a:ext uri="{FF2B5EF4-FFF2-40B4-BE49-F238E27FC236}">
                <a16:creationId xmlns:a16="http://schemas.microsoft.com/office/drawing/2014/main" id="{270CC49D-BF48-C3E1-90B1-09CE6EE83282}"/>
              </a:ext>
            </a:extLst>
          </p:cNvPr>
          <p:cNvSpPr txBox="1"/>
          <p:nvPr/>
        </p:nvSpPr>
        <p:spPr>
          <a:xfrm>
            <a:off x="5452717" y="2470153"/>
            <a:ext cx="6094476" cy="607539"/>
          </a:xfrm>
          <a:prstGeom prst="rect">
            <a:avLst/>
          </a:prstGeom>
          <a:noFill/>
        </p:spPr>
        <p:txBody>
          <a:bodyPr wrap="square">
            <a:spAutoFit/>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p-value of 0.551086 is also high, indicating no significant autocorrelation at the first 10 lags for systemic crises.</a:t>
            </a:r>
          </a:p>
        </p:txBody>
      </p:sp>
      <p:sp>
        <p:nvSpPr>
          <p:cNvPr id="19" name="TextBox 18">
            <a:extLst>
              <a:ext uri="{FF2B5EF4-FFF2-40B4-BE49-F238E27FC236}">
                <a16:creationId xmlns:a16="http://schemas.microsoft.com/office/drawing/2014/main" id="{9A9C128E-D6F1-A53B-181E-5830E723E2F0}"/>
              </a:ext>
            </a:extLst>
          </p:cNvPr>
          <p:cNvSpPr txBox="1"/>
          <p:nvPr/>
        </p:nvSpPr>
        <p:spPr>
          <a:xfrm>
            <a:off x="5452717" y="3590853"/>
            <a:ext cx="6094476" cy="871008"/>
          </a:xfrm>
          <a:prstGeom prst="rect">
            <a:avLst/>
          </a:prstGeom>
          <a:noFill/>
        </p:spPr>
        <p:txBody>
          <a:bodyPr wrap="square">
            <a:spAutoFit/>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With a p-value of 0.124681, this result is lower but still above the common significance threshold of 0.05, suggesting no significant autocorrelation at the first 10 lags for currency crises.</a:t>
            </a:r>
          </a:p>
        </p:txBody>
      </p:sp>
      <p:sp>
        <p:nvSpPr>
          <p:cNvPr id="21" name="TextBox 20">
            <a:extLst>
              <a:ext uri="{FF2B5EF4-FFF2-40B4-BE49-F238E27FC236}">
                <a16:creationId xmlns:a16="http://schemas.microsoft.com/office/drawing/2014/main" id="{07FBE295-1AB4-A4C3-0AB3-3966C6713BF4}"/>
              </a:ext>
            </a:extLst>
          </p:cNvPr>
          <p:cNvSpPr txBox="1"/>
          <p:nvPr/>
        </p:nvSpPr>
        <p:spPr>
          <a:xfrm>
            <a:off x="5452717" y="4801566"/>
            <a:ext cx="6094476" cy="607539"/>
          </a:xfrm>
          <a:prstGeom prst="rect">
            <a:avLst/>
          </a:prstGeom>
          <a:noFill/>
        </p:spPr>
        <p:txBody>
          <a:bodyPr wrap="square">
            <a:spAutoFit/>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p-value of 0.364523 indicates no significant autocorrelation at the first 10 lags for inflation crises.</a:t>
            </a:r>
          </a:p>
        </p:txBody>
      </p:sp>
      <p:sp>
        <p:nvSpPr>
          <p:cNvPr id="22" name="TextBox 21">
            <a:extLst>
              <a:ext uri="{FF2B5EF4-FFF2-40B4-BE49-F238E27FC236}">
                <a16:creationId xmlns:a16="http://schemas.microsoft.com/office/drawing/2014/main" id="{668EAEA7-59FB-6A08-59C6-A6EFB0281F39}"/>
              </a:ext>
            </a:extLst>
          </p:cNvPr>
          <p:cNvSpPr txBox="1"/>
          <p:nvPr/>
        </p:nvSpPr>
        <p:spPr>
          <a:xfrm>
            <a:off x="950976" y="5691103"/>
            <a:ext cx="10290048" cy="871008"/>
          </a:xfrm>
          <a:prstGeom prst="rect">
            <a:avLst/>
          </a:prstGeom>
          <a:noFill/>
        </p:spPr>
        <p:txBody>
          <a:bodyPr wrap="square" rtlCol="0">
            <a:spAutoFit/>
          </a:bodyPr>
          <a:lstStyle/>
          <a:p>
            <a:pPr>
              <a:lnSpc>
                <a:spcPct val="107000"/>
              </a:lnSpc>
              <a:spcAft>
                <a:spcPts val="800"/>
              </a:spcAft>
            </a:pPr>
            <a:r>
              <a:rPr lang="en-IN" sz="1600" i="1" kern="100" dirty="0">
                <a:effectLst/>
                <a:latin typeface="Calibri" panose="020F0502020204030204" pitchFamily="34" charset="0"/>
                <a:ea typeface="Calibri" panose="020F0502020204030204" pitchFamily="34" charset="0"/>
                <a:cs typeface="Times New Roman" panose="02020603050405020304" pitchFamily="18" charset="0"/>
              </a:rPr>
              <a:t>In all cases, the </a:t>
            </a:r>
            <a:r>
              <a:rPr lang="en-IN" sz="1600" i="1" kern="100" dirty="0" err="1">
                <a:effectLst/>
                <a:latin typeface="Calibri" panose="020F0502020204030204" pitchFamily="34" charset="0"/>
                <a:ea typeface="Calibri" panose="020F0502020204030204" pitchFamily="34" charset="0"/>
                <a:cs typeface="Times New Roman" panose="02020603050405020304" pitchFamily="18" charset="0"/>
              </a:rPr>
              <a:t>Ljung</a:t>
            </a:r>
            <a:r>
              <a:rPr lang="en-IN" sz="1600" i="1" kern="100" dirty="0">
                <a:effectLst/>
                <a:latin typeface="Calibri" panose="020F0502020204030204" pitchFamily="34" charset="0"/>
                <a:ea typeface="Calibri" panose="020F0502020204030204" pitchFamily="34" charset="0"/>
                <a:cs typeface="Times New Roman" panose="02020603050405020304" pitchFamily="18" charset="0"/>
              </a:rPr>
              <a:t>-Box test does not provide evidence against the null hypothesis of no autocorrelation, which suggests that the residuals of the time series models for these crises are random, indicating a good model fit without autocorrelation issues.</a:t>
            </a:r>
          </a:p>
        </p:txBody>
      </p:sp>
    </p:spTree>
    <p:extLst>
      <p:ext uri="{BB962C8B-B14F-4D97-AF65-F5344CB8AC3E}">
        <p14:creationId xmlns:p14="http://schemas.microsoft.com/office/powerpoint/2010/main" val="345049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24</a:t>
            </a:fld>
            <a:endParaRPr lang="en-IN"/>
          </a:p>
        </p:txBody>
      </p:sp>
      <p:pic>
        <p:nvPicPr>
          <p:cNvPr id="6" name="Content Placeholder 5">
            <a:extLst>
              <a:ext uri="{FF2B5EF4-FFF2-40B4-BE49-F238E27FC236}">
                <a16:creationId xmlns:a16="http://schemas.microsoft.com/office/drawing/2014/main" id="{D1BEA82A-465A-FA02-A90C-796DF6487DC5}"/>
              </a:ext>
            </a:extLst>
          </p:cNvPr>
          <p:cNvPicPr>
            <a:picLocks noGrp="1" noChangeAspect="1"/>
          </p:cNvPicPr>
          <p:nvPr>
            <p:ph idx="1"/>
          </p:nvPr>
        </p:nvPicPr>
        <p:blipFill>
          <a:blip r:embed="rId2"/>
          <a:stretch>
            <a:fillRect/>
          </a:stretch>
        </p:blipFill>
        <p:spPr>
          <a:xfrm>
            <a:off x="620346" y="1999210"/>
            <a:ext cx="4459402" cy="545464"/>
          </a:xfrm>
          <a:prstGeom prst="rect">
            <a:avLst/>
          </a:prstGeom>
          <a:ln w="3175">
            <a:solidFill>
              <a:schemeClr val="tx1"/>
            </a:solidFill>
          </a:ln>
        </p:spPr>
      </p:pic>
      <p:pic>
        <p:nvPicPr>
          <p:cNvPr id="7" name="Picture 6">
            <a:extLst>
              <a:ext uri="{FF2B5EF4-FFF2-40B4-BE49-F238E27FC236}">
                <a16:creationId xmlns:a16="http://schemas.microsoft.com/office/drawing/2014/main" id="{ED0BAFE4-2662-7FDD-6DAD-1EBA8FBD61E4}"/>
              </a:ext>
            </a:extLst>
          </p:cNvPr>
          <p:cNvPicPr>
            <a:picLocks noChangeAspect="1"/>
          </p:cNvPicPr>
          <p:nvPr/>
        </p:nvPicPr>
        <p:blipFill>
          <a:blip r:embed="rId3"/>
          <a:stretch>
            <a:fillRect/>
          </a:stretch>
        </p:blipFill>
        <p:spPr>
          <a:xfrm>
            <a:off x="6056278" y="1993437"/>
            <a:ext cx="4767759" cy="545464"/>
          </a:xfrm>
          <a:prstGeom prst="rect">
            <a:avLst/>
          </a:prstGeom>
          <a:ln w="3175">
            <a:solidFill>
              <a:schemeClr val="tx1"/>
            </a:solidFill>
          </a:ln>
        </p:spPr>
      </p:pic>
      <p:pic>
        <p:nvPicPr>
          <p:cNvPr id="8" name="Picture 7">
            <a:extLst>
              <a:ext uri="{FF2B5EF4-FFF2-40B4-BE49-F238E27FC236}">
                <a16:creationId xmlns:a16="http://schemas.microsoft.com/office/drawing/2014/main" id="{7D2DB79F-92E6-40AC-2C5C-464B87E39E75}"/>
              </a:ext>
            </a:extLst>
          </p:cNvPr>
          <p:cNvPicPr>
            <a:picLocks noChangeAspect="1"/>
          </p:cNvPicPr>
          <p:nvPr/>
        </p:nvPicPr>
        <p:blipFill rotWithShape="1">
          <a:blip r:embed="rId4"/>
          <a:srcRect t="10526"/>
          <a:stretch/>
        </p:blipFill>
        <p:spPr bwMode="auto">
          <a:xfrm>
            <a:off x="571341" y="4164266"/>
            <a:ext cx="4429041" cy="478663"/>
          </a:xfrm>
          <a:prstGeom prst="rect">
            <a:avLst/>
          </a:prstGeom>
          <a:ln w="3175">
            <a:solidFill>
              <a:schemeClr val="tx1"/>
            </a:solid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827D8B74-3627-B372-BFEB-9BE96F031B75}"/>
              </a:ext>
            </a:extLst>
          </p:cNvPr>
          <p:cNvPicPr>
            <a:picLocks noChangeAspect="1"/>
          </p:cNvPicPr>
          <p:nvPr/>
        </p:nvPicPr>
        <p:blipFill>
          <a:blip r:embed="rId5"/>
          <a:stretch>
            <a:fillRect/>
          </a:stretch>
        </p:blipFill>
        <p:spPr>
          <a:xfrm>
            <a:off x="6056278" y="4120933"/>
            <a:ext cx="4688316" cy="565327"/>
          </a:xfrm>
          <a:prstGeom prst="rect">
            <a:avLst/>
          </a:prstGeom>
          <a:ln w="3175">
            <a:solidFill>
              <a:schemeClr val="tx1"/>
            </a:solidFill>
          </a:ln>
        </p:spPr>
      </p:pic>
      <p:sp>
        <p:nvSpPr>
          <p:cNvPr id="10" name="TextBox 9">
            <a:extLst>
              <a:ext uri="{FF2B5EF4-FFF2-40B4-BE49-F238E27FC236}">
                <a16:creationId xmlns:a16="http://schemas.microsoft.com/office/drawing/2014/main" id="{5ADD19C6-8801-9BD2-7D58-E7CB45E6869B}"/>
              </a:ext>
            </a:extLst>
          </p:cNvPr>
          <p:cNvSpPr txBox="1"/>
          <p:nvPr/>
        </p:nvSpPr>
        <p:spPr>
          <a:xfrm>
            <a:off x="650707" y="2809024"/>
            <a:ext cx="4429041" cy="1077218"/>
          </a:xfrm>
          <a:prstGeom prst="rect">
            <a:avLst/>
          </a:prstGeom>
          <a:noFill/>
        </p:spPr>
        <p:txBody>
          <a:bodyPr wrap="square" rtlCol="0">
            <a:spAutoFit/>
          </a:bodyPr>
          <a:lstStyle/>
          <a:p>
            <a:r>
              <a:rPr lang="en-US" sz="1600" dirty="0"/>
              <a:t>The LSTM model's RMSE of 2.42 for training shows a close fit to training data, while 6.31 for testing indicates less accuracy in predicting new data, reflecting its generalization capability.</a:t>
            </a:r>
            <a:endParaRPr lang="en-IN" sz="1600" dirty="0"/>
          </a:p>
        </p:txBody>
      </p:sp>
      <p:sp>
        <p:nvSpPr>
          <p:cNvPr id="11" name="TextBox 10">
            <a:extLst>
              <a:ext uri="{FF2B5EF4-FFF2-40B4-BE49-F238E27FC236}">
                <a16:creationId xmlns:a16="http://schemas.microsoft.com/office/drawing/2014/main" id="{D1D88A09-E997-95DC-A976-EA419CBE69CA}"/>
              </a:ext>
            </a:extLst>
          </p:cNvPr>
          <p:cNvSpPr txBox="1"/>
          <p:nvPr/>
        </p:nvSpPr>
        <p:spPr>
          <a:xfrm>
            <a:off x="6096000" y="2798864"/>
            <a:ext cx="4767759" cy="1077218"/>
          </a:xfrm>
          <a:prstGeom prst="rect">
            <a:avLst/>
          </a:prstGeom>
          <a:noFill/>
        </p:spPr>
        <p:txBody>
          <a:bodyPr wrap="square" rtlCol="0">
            <a:spAutoFit/>
          </a:bodyPr>
          <a:lstStyle/>
          <a:p>
            <a:r>
              <a:rPr lang="en-US" sz="1600" dirty="0"/>
              <a:t>The LSTM model's RMSE of 0.14 for training and 0.15 for testing suggests high accuracy and effective generalization, with predictions closely aligning with actual values in both datasets.</a:t>
            </a:r>
            <a:endParaRPr lang="en-IN" sz="1600" dirty="0"/>
          </a:p>
        </p:txBody>
      </p:sp>
      <p:sp>
        <p:nvSpPr>
          <p:cNvPr id="12" name="TextBox 11">
            <a:extLst>
              <a:ext uri="{FF2B5EF4-FFF2-40B4-BE49-F238E27FC236}">
                <a16:creationId xmlns:a16="http://schemas.microsoft.com/office/drawing/2014/main" id="{D0A7FF8F-E008-ED60-65AD-B2D60DAC2F0D}"/>
              </a:ext>
            </a:extLst>
          </p:cNvPr>
          <p:cNvSpPr txBox="1"/>
          <p:nvPr/>
        </p:nvSpPr>
        <p:spPr>
          <a:xfrm>
            <a:off x="571341" y="4836287"/>
            <a:ext cx="4413860" cy="1077218"/>
          </a:xfrm>
          <a:prstGeom prst="rect">
            <a:avLst/>
          </a:prstGeom>
          <a:noFill/>
        </p:spPr>
        <p:txBody>
          <a:bodyPr wrap="square" rtlCol="0">
            <a:spAutoFit/>
          </a:bodyPr>
          <a:lstStyle/>
          <a:p>
            <a:r>
              <a:rPr lang="en-US" sz="1600" dirty="0"/>
              <a:t>The LSTM model shows strong fit and accuracy with RMSEs of 0.25 for training and 0.28 for testing, indicating reliable predictions for both training and unseen data.</a:t>
            </a:r>
            <a:endParaRPr lang="en-IN" sz="1600" dirty="0"/>
          </a:p>
        </p:txBody>
      </p:sp>
      <p:sp>
        <p:nvSpPr>
          <p:cNvPr id="13" name="TextBox 12">
            <a:extLst>
              <a:ext uri="{FF2B5EF4-FFF2-40B4-BE49-F238E27FC236}">
                <a16:creationId xmlns:a16="http://schemas.microsoft.com/office/drawing/2014/main" id="{308599C4-9D17-8F4F-CA4A-90D7452B1377}"/>
              </a:ext>
            </a:extLst>
          </p:cNvPr>
          <p:cNvSpPr txBox="1"/>
          <p:nvPr/>
        </p:nvSpPr>
        <p:spPr>
          <a:xfrm>
            <a:off x="6109580" y="4836287"/>
            <a:ext cx="4688316" cy="1077218"/>
          </a:xfrm>
          <a:prstGeom prst="rect">
            <a:avLst/>
          </a:prstGeom>
          <a:noFill/>
        </p:spPr>
        <p:txBody>
          <a:bodyPr wrap="square" rtlCol="0">
            <a:spAutoFit/>
          </a:bodyPr>
          <a:lstStyle/>
          <a:p>
            <a:r>
              <a:rPr lang="en-US" sz="1600" dirty="0"/>
              <a:t>The LSTM model's RMSE of 0.23 for training and 0.21 for testing indicates high accuracy and effective generalization, with closer predictions to actual values in both training and unseen data.</a:t>
            </a:r>
            <a:endParaRPr lang="en-IN" sz="1600" dirty="0"/>
          </a:p>
        </p:txBody>
      </p:sp>
      <p:sp>
        <p:nvSpPr>
          <p:cNvPr id="14" name="TextBox 13">
            <a:extLst>
              <a:ext uri="{FF2B5EF4-FFF2-40B4-BE49-F238E27FC236}">
                <a16:creationId xmlns:a16="http://schemas.microsoft.com/office/drawing/2014/main" id="{58BE3D60-8727-BC95-4C35-3C52C5FACD92}"/>
              </a:ext>
            </a:extLst>
          </p:cNvPr>
          <p:cNvSpPr txBox="1"/>
          <p:nvPr/>
        </p:nvSpPr>
        <p:spPr>
          <a:xfrm>
            <a:off x="451006" y="1188911"/>
            <a:ext cx="11210544" cy="461665"/>
          </a:xfrm>
          <a:prstGeom prst="rect">
            <a:avLst/>
          </a:prstGeom>
          <a:noFill/>
        </p:spPr>
        <p:txBody>
          <a:bodyPr wrap="square" rtlCol="0">
            <a:spAutoFit/>
          </a:bodyPr>
          <a:lstStyle/>
          <a:p>
            <a:pPr algn="ctr"/>
            <a:r>
              <a:rPr lang="en-US" sz="2400" b="1" dirty="0"/>
              <a:t>Performance Evaluation of LSTM Model Across Different Economic Crises</a:t>
            </a:r>
            <a:endParaRPr lang="en-IN" sz="2400" b="1" dirty="0"/>
          </a:p>
        </p:txBody>
      </p:sp>
      <p:pic>
        <p:nvPicPr>
          <p:cNvPr id="3" name="Content Placeholder 5">
            <a:extLst>
              <a:ext uri="{FF2B5EF4-FFF2-40B4-BE49-F238E27FC236}">
                <a16:creationId xmlns:a16="http://schemas.microsoft.com/office/drawing/2014/main" id="{D6D5D652-047E-EA9A-6F16-4BA59F7EF140}"/>
              </a:ext>
            </a:extLst>
          </p:cNvPr>
          <p:cNvPicPr>
            <a:picLocks noChangeAspect="1"/>
          </p:cNvPicPr>
          <p:nvPr/>
        </p:nvPicPr>
        <p:blipFill>
          <a:blip r:embed="rId2"/>
          <a:stretch>
            <a:fillRect/>
          </a:stretch>
        </p:blipFill>
        <p:spPr>
          <a:xfrm>
            <a:off x="620346" y="2039850"/>
            <a:ext cx="4459402" cy="545464"/>
          </a:xfrm>
          <a:prstGeom prst="rect">
            <a:avLst/>
          </a:prstGeom>
          <a:ln w="3175">
            <a:solidFill>
              <a:schemeClr val="tx1"/>
            </a:solidFill>
          </a:ln>
        </p:spPr>
      </p:pic>
      <p:pic>
        <p:nvPicPr>
          <p:cNvPr id="15" name="Picture 14">
            <a:extLst>
              <a:ext uri="{FF2B5EF4-FFF2-40B4-BE49-F238E27FC236}">
                <a16:creationId xmlns:a16="http://schemas.microsoft.com/office/drawing/2014/main" id="{FD6F95C5-C567-00C8-28AE-819B29C8175B}"/>
              </a:ext>
            </a:extLst>
          </p:cNvPr>
          <p:cNvPicPr>
            <a:picLocks noChangeAspect="1"/>
          </p:cNvPicPr>
          <p:nvPr/>
        </p:nvPicPr>
        <p:blipFill>
          <a:blip r:embed="rId3"/>
          <a:stretch>
            <a:fillRect/>
          </a:stretch>
        </p:blipFill>
        <p:spPr>
          <a:xfrm>
            <a:off x="6056278" y="2034077"/>
            <a:ext cx="4767759" cy="545464"/>
          </a:xfrm>
          <a:prstGeom prst="rect">
            <a:avLst/>
          </a:prstGeom>
          <a:ln w="3175">
            <a:solidFill>
              <a:schemeClr val="tx1"/>
            </a:solidFill>
          </a:ln>
        </p:spPr>
      </p:pic>
    </p:spTree>
    <p:extLst>
      <p:ext uri="{BB962C8B-B14F-4D97-AF65-F5344CB8AC3E}">
        <p14:creationId xmlns:p14="http://schemas.microsoft.com/office/powerpoint/2010/main" val="2712322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68640-D3B9-F015-4EE3-2A94CB44E52C}"/>
              </a:ext>
            </a:extLst>
          </p:cNvPr>
          <p:cNvSpPr>
            <a:spLocks noGrp="1"/>
          </p:cNvSpPr>
          <p:nvPr>
            <p:ph type="title"/>
          </p:nvPr>
        </p:nvSpPr>
        <p:spPr>
          <a:xfrm>
            <a:off x="955157" y="-153955"/>
            <a:ext cx="10515600" cy="1325563"/>
          </a:xfrm>
        </p:spPr>
        <p:txBody>
          <a:bodyPr/>
          <a:lstStyle/>
          <a:p>
            <a:r>
              <a:rPr lang="en-US" b="1" dirty="0">
                <a:latin typeface="Arial Narrow" panose="020B0606020202030204" pitchFamily="34" charset="0"/>
              </a:rPr>
              <a:t>Results and Discussion</a:t>
            </a:r>
            <a:endParaRPr lang="en-IN" dirty="0"/>
          </a:p>
        </p:txBody>
      </p:sp>
      <p:pic>
        <p:nvPicPr>
          <p:cNvPr id="4" name="Content Placeholder 3">
            <a:extLst>
              <a:ext uri="{FF2B5EF4-FFF2-40B4-BE49-F238E27FC236}">
                <a16:creationId xmlns:a16="http://schemas.microsoft.com/office/drawing/2014/main" id="{68D26B6D-0E06-4690-8F16-BB90B299896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0804" y="799469"/>
            <a:ext cx="4579539" cy="5877778"/>
          </a:xfrm>
          <a:prstGeom prst="rect">
            <a:avLst/>
          </a:prstGeom>
          <a:noFill/>
          <a:ln>
            <a:noFill/>
          </a:ln>
        </p:spPr>
      </p:pic>
      <p:pic>
        <p:nvPicPr>
          <p:cNvPr id="5" name="Picture 4">
            <a:extLst>
              <a:ext uri="{FF2B5EF4-FFF2-40B4-BE49-F238E27FC236}">
                <a16:creationId xmlns:a16="http://schemas.microsoft.com/office/drawing/2014/main" id="{BEE54877-4E2F-6246-0BDF-ED30EBC8301C}"/>
              </a:ext>
            </a:extLst>
          </p:cNvPr>
          <p:cNvPicPr>
            <a:picLocks noChangeAspect="1"/>
          </p:cNvPicPr>
          <p:nvPr/>
        </p:nvPicPr>
        <p:blipFill>
          <a:blip r:embed="rId3"/>
          <a:stretch>
            <a:fillRect/>
          </a:stretch>
        </p:blipFill>
        <p:spPr>
          <a:xfrm>
            <a:off x="5398369" y="976592"/>
            <a:ext cx="5733919" cy="3288665"/>
          </a:xfrm>
          <a:prstGeom prst="rect">
            <a:avLst/>
          </a:prstGeom>
          <a:ln w="3175">
            <a:solidFill>
              <a:schemeClr val="tx1"/>
            </a:solidFill>
          </a:ln>
        </p:spPr>
      </p:pic>
      <p:sp>
        <p:nvSpPr>
          <p:cNvPr id="7" name="TextBox 6">
            <a:extLst>
              <a:ext uri="{FF2B5EF4-FFF2-40B4-BE49-F238E27FC236}">
                <a16:creationId xmlns:a16="http://schemas.microsoft.com/office/drawing/2014/main" id="{F8165747-CAF5-7E54-22E8-E10CFD24A12B}"/>
              </a:ext>
            </a:extLst>
          </p:cNvPr>
          <p:cNvSpPr txBox="1"/>
          <p:nvPr/>
        </p:nvSpPr>
        <p:spPr>
          <a:xfrm>
            <a:off x="5372985" y="4398048"/>
            <a:ext cx="6097772" cy="2204771"/>
          </a:xfrm>
          <a:prstGeom prst="rect">
            <a:avLst/>
          </a:prstGeom>
          <a:noFill/>
        </p:spPr>
        <p:txBody>
          <a:bodyPr wrap="square">
            <a:spAutoFit/>
          </a:bodyPr>
          <a:lstStyle/>
          <a:p>
            <a:pPr marL="342900" lvl="0" indent="-342900">
              <a:lnSpc>
                <a:spcPct val="115000"/>
              </a:lnSpc>
              <a:buFont typeface="Symbol" panose="05050102010706020507" pitchFamily="18" charset="2"/>
              <a:buChar char=""/>
            </a:pPr>
            <a:r>
              <a:rPr lang="en-US" sz="1000" b="1"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Banking Crisis:</a:t>
            </a:r>
            <a:r>
              <a:rPr lang="en-US" sz="10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The forecast probability remains fairly constant, with an initial probability of 14.77% in 2017, showing a negligible rise to 14.80% over two decades. This suggests a stable but persistent risk of banking crises over time. </a:t>
            </a:r>
            <a:endParaRPr lang="en-IN" sz="9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15000"/>
              </a:lnSpc>
              <a:buFont typeface="Symbol" panose="05050102010706020507" pitchFamily="18" charset="2"/>
              <a:buChar char=""/>
            </a:pPr>
            <a:r>
              <a:rPr lang="en-US" sz="1000" b="1"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Systemic Crisis:</a:t>
            </a:r>
            <a:r>
              <a:rPr lang="en-US" sz="10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The probabilities here show a slight but steady increase from 22.18% in 2017 to 22.30% in 2036. The consistency of this rise, although small, might indicate a need for increased vigilance against systemic financial disruptions.</a:t>
            </a:r>
            <a:endParaRPr lang="en-IN" sz="9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15000"/>
              </a:lnSpc>
              <a:buFont typeface="Symbol" panose="05050102010706020507" pitchFamily="18" charset="2"/>
              <a:buChar char=""/>
            </a:pPr>
            <a:r>
              <a:rPr lang="en-US" sz="1000" b="1"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Currency Crisis:</a:t>
            </a:r>
            <a:r>
              <a:rPr lang="en-US" sz="10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There is little variation in the probabilities for currency crises, starting at 9.9277% in 2017 and making a very slight descent to 9.9275% by 2036. The stability in these predictions suggests that while currency crises are not expected to change significantly, they seem to decrease with time</a:t>
            </a:r>
            <a:r>
              <a:rPr lang="en-US" sz="1000" dirty="0">
                <a:solidFill>
                  <a:srgbClr val="000000"/>
                </a:solidFill>
                <a:latin typeface="Times New Roman" panose="02020603050405020304" pitchFamily="18" charset="0"/>
                <a:ea typeface="Times New Roman" panose="02020603050405020304" pitchFamily="18" charset="0"/>
                <a:cs typeface="Latha" panose="020B0604020202020204" pitchFamily="34" charset="0"/>
              </a:rPr>
              <a:t>.</a:t>
            </a:r>
            <a:r>
              <a:rPr lang="en-US" sz="10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a:t>
            </a:r>
            <a:endParaRPr lang="en-IN" sz="9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15000"/>
              </a:lnSpc>
              <a:spcAft>
                <a:spcPts val="800"/>
              </a:spcAft>
              <a:buFont typeface="Symbol" panose="05050102010706020507" pitchFamily="18" charset="2"/>
              <a:buChar char=""/>
            </a:pPr>
            <a:r>
              <a:rPr lang="en-US" sz="1000" b="1"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Inflation Crisis:</a:t>
            </a:r>
            <a:r>
              <a:rPr lang="en-US" sz="10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Starting at a high probability of 44.49% in 2017, the forecast shows a steady increase, ending at 44.83% in 2036. This trend suggests an increasing risk of inflation crises, warranting attention to inflationary pressures and potentially proactive monetary policy.</a:t>
            </a:r>
            <a:endParaRPr lang="en-IN" sz="9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1370185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0385"/>
            <a:ext cx="10515600" cy="928688"/>
          </a:xfrm>
        </p:spPr>
        <p:txBody>
          <a:bodyPr>
            <a:normAutofit/>
          </a:bodyPr>
          <a:lstStyle/>
          <a:p>
            <a:r>
              <a:rPr lang="en-US" sz="4800" b="1" dirty="0">
                <a:latin typeface="Arial Narrow" panose="020B0606020202030204" pitchFamily="34" charset="0"/>
              </a:rPr>
              <a:t>Conclusion</a:t>
            </a:r>
            <a:endParaRPr lang="en-IN" sz="4800" b="1" dirty="0">
              <a:latin typeface="Arial Narrow" panose="020B0606020202030204" pitchFamily="34" charset="0"/>
            </a:endParaRPr>
          </a:p>
        </p:txBody>
      </p:sp>
      <p:sp>
        <p:nvSpPr>
          <p:cNvPr id="3" name="Content Placeholder 2"/>
          <p:cNvSpPr>
            <a:spLocks noGrp="1"/>
          </p:cNvSpPr>
          <p:nvPr>
            <p:ph idx="1"/>
          </p:nvPr>
        </p:nvSpPr>
        <p:spPr>
          <a:xfrm>
            <a:off x="355600" y="1333500"/>
            <a:ext cx="11490960" cy="5387975"/>
          </a:xfrm>
        </p:spPr>
        <p:txBody>
          <a:bodyPr>
            <a:normAutofit fontScale="92500"/>
          </a:bodyPr>
          <a:lstStyle/>
          <a:p>
            <a:endParaRPr lang="en-US" dirty="0"/>
          </a:p>
          <a:p>
            <a:pPr>
              <a:lnSpc>
                <a:spcPct val="150000"/>
              </a:lnSpc>
            </a:pPr>
            <a:r>
              <a:rPr lang="en-US" dirty="0"/>
              <a:t>Validated Logistic Regression, ARIMA, SARIMAX and LSTM models' predictive precision for economic crises.</a:t>
            </a:r>
          </a:p>
          <a:p>
            <a:pPr>
              <a:lnSpc>
                <a:spcPct val="150000"/>
              </a:lnSpc>
            </a:pPr>
            <a:r>
              <a:rPr lang="en-US" dirty="0"/>
              <a:t>Demonstrated superior performance of SARIMAX over traditional ARIMA methods.</a:t>
            </a:r>
          </a:p>
          <a:p>
            <a:pPr>
              <a:lnSpc>
                <a:spcPct val="150000"/>
              </a:lnSpc>
            </a:pPr>
            <a:r>
              <a:rPr lang="en-US" dirty="0"/>
              <a:t>Revealed potential applications in policy-making and investment strategy enhancement.</a:t>
            </a:r>
          </a:p>
          <a:p>
            <a:pPr>
              <a:lnSpc>
                <a:spcPct val="150000"/>
              </a:lnSpc>
            </a:pPr>
            <a:r>
              <a:rPr lang="en-US" dirty="0"/>
              <a:t>Contributed new insights to behavioral finance and crisis prediction literature.</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26</a:t>
            </a:fld>
            <a:endParaRPr lang="en-IN"/>
          </a:p>
        </p:txBody>
      </p:sp>
    </p:spTree>
    <p:extLst>
      <p:ext uri="{BB962C8B-B14F-4D97-AF65-F5344CB8AC3E}">
        <p14:creationId xmlns:p14="http://schemas.microsoft.com/office/powerpoint/2010/main" val="597937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Future Enhancements</a:t>
            </a:r>
            <a:endParaRPr lang="en-IN" b="1" dirty="0">
              <a:latin typeface="Arial Narrow" panose="020B0606020202030204" pitchFamily="34" charset="0"/>
            </a:endParaRPr>
          </a:p>
        </p:txBody>
      </p:sp>
      <p:sp>
        <p:nvSpPr>
          <p:cNvPr id="3" name="Content Placeholder 2"/>
          <p:cNvSpPr>
            <a:spLocks noGrp="1"/>
          </p:cNvSpPr>
          <p:nvPr>
            <p:ph idx="1"/>
          </p:nvPr>
        </p:nvSpPr>
        <p:spPr>
          <a:xfrm>
            <a:off x="447040" y="1825625"/>
            <a:ext cx="11247120" cy="4351338"/>
          </a:xfrm>
        </p:spPr>
        <p:txBody>
          <a:bodyPr/>
          <a:lstStyle/>
          <a:p>
            <a:pPr>
              <a:lnSpc>
                <a:spcPct val="150000"/>
              </a:lnSpc>
            </a:pPr>
            <a:r>
              <a:rPr lang="en-US" dirty="0"/>
              <a:t>Expand datasets to include more diverse economic indicators.</a:t>
            </a:r>
          </a:p>
          <a:p>
            <a:pPr>
              <a:lnSpc>
                <a:spcPct val="150000"/>
              </a:lnSpc>
            </a:pPr>
            <a:r>
              <a:rPr lang="en-US" dirty="0"/>
              <a:t>Explore real-time data integration for dynamic forecasting.</a:t>
            </a:r>
          </a:p>
          <a:p>
            <a:pPr>
              <a:lnSpc>
                <a:spcPct val="150000"/>
              </a:lnSpc>
            </a:pPr>
            <a:r>
              <a:rPr lang="en-US" dirty="0"/>
              <a:t>Test additional ML algorithms for improved accuracy.</a:t>
            </a:r>
          </a:p>
          <a:p>
            <a:pPr>
              <a:lnSpc>
                <a:spcPct val="150000"/>
              </a:lnSpc>
            </a:pPr>
            <a:r>
              <a:rPr lang="en-US" dirty="0"/>
              <a:t>Conduct cross-country analyses for universal applicability.</a:t>
            </a:r>
          </a:p>
          <a:p>
            <a:pPr>
              <a:lnSpc>
                <a:spcPct val="150000"/>
              </a:lnSpc>
            </a:pPr>
            <a:r>
              <a:rPr lang="en-US" dirty="0"/>
              <a:t>Develop a more sophisticated model blending for robust predictions.</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27</a:t>
            </a:fld>
            <a:endParaRPr lang="en-IN"/>
          </a:p>
        </p:txBody>
      </p:sp>
    </p:spTree>
    <p:extLst>
      <p:ext uri="{BB962C8B-B14F-4D97-AF65-F5344CB8AC3E}">
        <p14:creationId xmlns:p14="http://schemas.microsoft.com/office/powerpoint/2010/main" val="1810526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E67B6DC-75E0-78F3-9005-6E676FE6B401}"/>
              </a:ext>
            </a:extLst>
          </p:cNvPr>
          <p:cNvSpPr>
            <a:spLocks noGrp="1"/>
          </p:cNvSpPr>
          <p:nvPr>
            <p:ph type="title"/>
          </p:nvPr>
        </p:nvSpPr>
        <p:spPr>
          <a:xfrm>
            <a:off x="838200" y="136525"/>
            <a:ext cx="10515600" cy="1325563"/>
          </a:xfrm>
        </p:spPr>
        <p:txBody>
          <a:bodyPr/>
          <a:lstStyle/>
          <a:p>
            <a:r>
              <a:rPr lang="en-US" b="1" dirty="0">
                <a:latin typeface="Arial Narrow" panose="020B0606020202030204" pitchFamily="34" charset="0"/>
              </a:rPr>
              <a:t>References : APA format</a:t>
            </a:r>
            <a:endParaRPr lang="en-IN" b="1" dirty="0">
              <a:latin typeface="Arial Narrow" panose="020B0606020202030204" pitchFamily="34" charset="0"/>
            </a:endParaRPr>
          </a:p>
        </p:txBody>
      </p:sp>
      <p:sp>
        <p:nvSpPr>
          <p:cNvPr id="9" name="Content Placeholder 2">
            <a:extLst>
              <a:ext uri="{FF2B5EF4-FFF2-40B4-BE49-F238E27FC236}">
                <a16:creationId xmlns:a16="http://schemas.microsoft.com/office/drawing/2014/main" id="{9B421509-4ECC-990B-F651-85B2277C07C1}"/>
              </a:ext>
            </a:extLst>
          </p:cNvPr>
          <p:cNvSpPr>
            <a:spLocks noGrp="1"/>
          </p:cNvSpPr>
          <p:nvPr>
            <p:ph idx="1"/>
          </p:nvPr>
        </p:nvSpPr>
        <p:spPr>
          <a:xfrm>
            <a:off x="258725" y="1275908"/>
            <a:ext cx="11674550" cy="5445567"/>
          </a:xfrm>
        </p:spPr>
        <p:txBody>
          <a:bodyPr>
            <a:noAutofit/>
          </a:bodyPr>
          <a:lstStyle/>
          <a:p>
            <a:pPr marL="0" indent="0" algn="l">
              <a:buNone/>
            </a:pPr>
            <a:r>
              <a:rPr lang="en-US" sz="1600" b="0" i="0" dirty="0">
                <a:effectLst/>
              </a:rPr>
              <a:t>[1]	Harvard Business School. (2018). </a:t>
            </a:r>
            <a:r>
              <a:rPr lang="en-US" sz="1600" b="0" i="1" dirty="0">
                <a:effectLst/>
              </a:rPr>
              <a:t>2018 Financial Risk and Regulation Survey: Behavioral Finance &amp; Financial Stability</a:t>
            </a:r>
            <a:r>
              <a:rPr lang="en-US" sz="1600" b="0" i="0" dirty="0">
                <a:effectLst/>
              </a:rPr>
              <a:t>.</a:t>
            </a:r>
          </a:p>
          <a:p>
            <a:pPr marL="0" indent="0" algn="l">
              <a:buNone/>
            </a:pPr>
            <a:r>
              <a:rPr lang="en-US" sz="1600" b="0" i="0" dirty="0">
                <a:effectLst/>
              </a:rPr>
              <a:t>[2]	</a:t>
            </a:r>
            <a:r>
              <a:rPr lang="en-US" sz="1600" b="0" i="0" dirty="0" err="1">
                <a:effectLst/>
              </a:rPr>
              <a:t>Tekin</a:t>
            </a:r>
            <a:r>
              <a:rPr lang="en-US" sz="1600" b="0" i="0" dirty="0">
                <a:effectLst/>
              </a:rPr>
              <a:t>, H. (2020). </a:t>
            </a:r>
            <a:r>
              <a:rPr lang="en-US" sz="1600" b="0" i="1" dirty="0">
                <a:effectLst/>
              </a:rPr>
              <a:t>How optimal cash changed by the global financial crisis?</a:t>
            </a:r>
            <a:r>
              <a:rPr lang="en-US" sz="1600" b="0" i="0" dirty="0">
                <a:effectLst/>
              </a:rPr>
              <a:t>. Economics and Business Letters, 9(2), 114-	123.</a:t>
            </a:r>
          </a:p>
          <a:p>
            <a:pPr marL="0" indent="0" algn="l">
              <a:buNone/>
            </a:pPr>
            <a:r>
              <a:rPr lang="en-US" sz="1600" b="0" i="0" dirty="0">
                <a:effectLst/>
              </a:rPr>
              <a:t>[3]	World Bank. (2020). </a:t>
            </a:r>
            <a:r>
              <a:rPr lang="en-US" sz="1600" b="0" i="1" dirty="0">
                <a:effectLst/>
              </a:rPr>
              <a:t>Global Financial Development Report 2019/2020: Bank Regulation and Supervision a Decade after 	the 	Global Financial Crisis</a:t>
            </a:r>
            <a:r>
              <a:rPr lang="en-US" sz="1600" b="0" i="0" dirty="0">
                <a:effectLst/>
              </a:rPr>
              <a:t>.</a:t>
            </a:r>
          </a:p>
          <a:p>
            <a:pPr marL="0" indent="0" algn="l">
              <a:buNone/>
            </a:pPr>
            <a:r>
              <a:rPr lang="en-US" sz="1600" b="0" i="0" dirty="0">
                <a:effectLst/>
              </a:rPr>
              <a:t>[4]	</a:t>
            </a:r>
            <a:r>
              <a:rPr lang="en-US" sz="1600" b="0" i="0" dirty="0" err="1">
                <a:effectLst/>
              </a:rPr>
              <a:t>Lajili</a:t>
            </a:r>
            <a:r>
              <a:rPr lang="en-US" sz="1600" b="0" i="0" dirty="0">
                <a:effectLst/>
              </a:rPr>
              <a:t>, K., Li, T. M., </a:t>
            </a:r>
            <a:r>
              <a:rPr lang="en-US" sz="1600" b="0" i="0" dirty="0" err="1">
                <a:effectLst/>
              </a:rPr>
              <a:t>Chourou</a:t>
            </a:r>
            <a:r>
              <a:rPr lang="en-US" sz="1600" b="0" i="0" dirty="0">
                <a:effectLst/>
              </a:rPr>
              <a:t>, L., </a:t>
            </a:r>
            <a:r>
              <a:rPr lang="en-US" sz="1600" b="0" i="0" dirty="0" err="1">
                <a:effectLst/>
              </a:rPr>
              <a:t>Dobler</a:t>
            </a:r>
            <a:r>
              <a:rPr lang="en-US" sz="1600" b="0" i="0" dirty="0">
                <a:effectLst/>
              </a:rPr>
              <a:t>, M., &amp; </a:t>
            </a:r>
            <a:r>
              <a:rPr lang="en-US" sz="1600" b="0" i="0" dirty="0" err="1">
                <a:effectLst/>
              </a:rPr>
              <a:t>Zéghal</a:t>
            </a:r>
            <a:r>
              <a:rPr lang="en-US" sz="1600" b="0" i="0" dirty="0">
                <a:effectLst/>
              </a:rPr>
              <a:t>, D. (2023). </a:t>
            </a:r>
            <a:r>
              <a:rPr lang="en-US" sz="1600" b="0" i="1" dirty="0">
                <a:effectLst/>
              </a:rPr>
              <a:t>Corporate risk disclosures in turbulent times: An 	international 	analysis in the global financial crisis</a:t>
            </a:r>
            <a:r>
              <a:rPr lang="en-US" sz="1600" b="0" i="0" dirty="0">
                <a:effectLst/>
              </a:rPr>
              <a:t>. Journal of International Financial Management &amp; Accounting.</a:t>
            </a:r>
          </a:p>
          <a:p>
            <a:pPr marL="0" indent="0" algn="l">
              <a:buNone/>
            </a:pPr>
            <a:r>
              <a:rPr lang="en-US" sz="1600" b="0" i="0" dirty="0">
                <a:effectLst/>
              </a:rPr>
              <a:t>[5]	Shehzad, K., Xiaoxing, L., &amp; </a:t>
            </a:r>
            <a:r>
              <a:rPr lang="en-US" sz="1600" b="0" i="0" dirty="0" err="1">
                <a:effectLst/>
              </a:rPr>
              <a:t>Kazouz</a:t>
            </a:r>
            <a:r>
              <a:rPr lang="en-US" sz="1600" b="0" i="0" dirty="0">
                <a:effectLst/>
              </a:rPr>
              <a:t>, H. (2020). </a:t>
            </a:r>
            <a:r>
              <a:rPr lang="en-US" sz="1600" b="0" i="1" dirty="0">
                <a:effectLst/>
              </a:rPr>
              <a:t>COVID-19’s disasters are perilous than Global Financial Crisis: A rumor or 	fact?</a:t>
            </a:r>
            <a:r>
              <a:rPr lang="en-US" sz="1600" b="0" i="0" dirty="0">
                <a:effectLst/>
              </a:rPr>
              <a:t>. 	Finance Research Letters, 36.</a:t>
            </a:r>
          </a:p>
          <a:p>
            <a:pPr marL="0" indent="0" algn="l">
              <a:buNone/>
            </a:pPr>
            <a:r>
              <a:rPr lang="en-US" sz="1600" b="0" i="0" dirty="0">
                <a:effectLst/>
              </a:rPr>
              <a:t>[6]	</a:t>
            </a:r>
            <a:r>
              <a:rPr lang="en-US" sz="1600" b="0" i="0" dirty="0" err="1">
                <a:effectLst/>
              </a:rPr>
              <a:t>Lolea</a:t>
            </a:r>
            <a:r>
              <a:rPr lang="en-US" sz="1600" b="0" i="0" dirty="0">
                <a:effectLst/>
              </a:rPr>
              <a:t>, I.-C., </a:t>
            </a:r>
            <a:r>
              <a:rPr lang="en-US" sz="1600" b="0" i="0" dirty="0" err="1">
                <a:effectLst/>
              </a:rPr>
              <a:t>Petrariu</a:t>
            </a:r>
            <a:r>
              <a:rPr lang="en-US" sz="1600" b="0" i="0" dirty="0">
                <a:effectLst/>
              </a:rPr>
              <a:t>, I.-R., &amp; Giurgiu, A. (2021). </a:t>
            </a:r>
            <a:r>
              <a:rPr lang="en-US" sz="1600" b="0" i="1" dirty="0">
                <a:effectLst/>
              </a:rPr>
              <a:t>ARIMA vs. MACHINE LEARNING IN TERMS OF EQUITY MARKET 	FORECASTING</a:t>
            </a:r>
            <a:r>
              <a:rPr lang="en-US" sz="1600" b="0" i="0" dirty="0">
                <a:effectLst/>
              </a:rPr>
              <a:t>. 	The Annals of the University of Oradea. Economic Sciences, XXX(2), 299-308.</a:t>
            </a:r>
          </a:p>
          <a:p>
            <a:pPr marL="0" indent="0" algn="l">
              <a:buNone/>
            </a:pPr>
            <a:r>
              <a:rPr lang="en-US" sz="1600" b="0" i="0" dirty="0">
                <a:effectLst/>
              </a:rPr>
              <a:t>[7]	Tang, Y. M., Chau, K.-Y., Li, W., &amp; Wan, T. W. (2020). </a:t>
            </a:r>
            <a:r>
              <a:rPr lang="en-US" sz="1600" b="0" i="1" dirty="0">
                <a:effectLst/>
              </a:rPr>
              <a:t>Forecasting Economic Recession through Share Price in the Logistics Industry 	with Artificial Intelligence (AI)</a:t>
            </a:r>
            <a:r>
              <a:rPr lang="en-US" sz="1600" b="0" i="0" dirty="0">
                <a:effectLst/>
              </a:rPr>
              <a:t>. Computation, 8(3).</a:t>
            </a:r>
          </a:p>
          <a:p>
            <a:pPr marL="0" indent="0" algn="l">
              <a:buNone/>
            </a:pPr>
            <a:r>
              <a:rPr lang="en-US" sz="1600" b="0" i="0" dirty="0">
                <a:effectLst/>
              </a:rPr>
              <a:t>[8]	Liu, J., Yan, R., &amp; Zhang, Y. (2023). </a:t>
            </a:r>
            <a:r>
              <a:rPr lang="en-US" sz="1600" b="0" i="1" dirty="0">
                <a:effectLst/>
              </a:rPr>
              <a:t>Stock Market Forecasting Using the ARIMA GARCH and Random Forest Model During The 	Russia–Ukraine War</a:t>
            </a:r>
            <a:r>
              <a:rPr lang="en-US" sz="1600" b="0" i="0" dirty="0">
                <a:effectLst/>
              </a:rPr>
              <a:t>. Applied Economics and Policy Studies book series (AEPS), Springer.</a:t>
            </a:r>
          </a:p>
          <a:p>
            <a:pPr marL="0" indent="0" algn="l">
              <a:buNone/>
            </a:pPr>
            <a:r>
              <a:rPr lang="en-US" sz="1600" b="0" i="0" dirty="0">
                <a:effectLst/>
              </a:rPr>
              <a:t>[9]	</a:t>
            </a:r>
            <a:r>
              <a:rPr lang="en-US" sz="1600" b="0" i="0" dirty="0" err="1">
                <a:effectLst/>
              </a:rPr>
              <a:t>Zulkefly</a:t>
            </a:r>
            <a:r>
              <a:rPr lang="en-US" sz="1600" b="0" i="0" dirty="0">
                <a:effectLst/>
              </a:rPr>
              <a:t>, R. N., Karim, A. A., Rahman, A. A., &amp; </a:t>
            </a:r>
            <a:r>
              <a:rPr lang="en-US" sz="1600" b="0" i="0" dirty="0" err="1">
                <a:effectLst/>
              </a:rPr>
              <a:t>Sarmidi</a:t>
            </a:r>
            <a:r>
              <a:rPr lang="en-US" sz="1600" b="0" i="0" dirty="0">
                <a:effectLst/>
              </a:rPr>
              <a:t>, T. (2020). </a:t>
            </a:r>
            <a:r>
              <a:rPr lang="en-US" sz="1600" b="0" i="1" dirty="0">
                <a:effectLst/>
              </a:rPr>
              <a:t>Financial inclusiveness and economic growth: New evidence 	using a threshold regression analysis</a:t>
            </a:r>
            <a:r>
              <a:rPr lang="en-US" sz="1600" b="0" i="0" dirty="0">
                <a:effectLst/>
              </a:rPr>
              <a:t>. Economic Research-</a:t>
            </a:r>
            <a:r>
              <a:rPr lang="en-US" sz="1600" b="0" i="0" dirty="0" err="1">
                <a:effectLst/>
              </a:rPr>
              <a:t>Ekonomska</a:t>
            </a:r>
            <a:r>
              <a:rPr lang="en-US" sz="1600" b="0" i="0" dirty="0">
                <a:effectLst/>
              </a:rPr>
              <a:t> </a:t>
            </a:r>
            <a:r>
              <a:rPr lang="en-US" sz="1600" b="0" i="0" dirty="0" err="1">
                <a:effectLst/>
              </a:rPr>
              <a:t>Istraživanja</a:t>
            </a:r>
            <a:r>
              <a:rPr lang="en-US" sz="1600" b="0" i="0" dirty="0">
                <a:effectLst/>
              </a:rPr>
              <a:t>, 33(1), 1465-1484.</a:t>
            </a:r>
          </a:p>
          <a:p>
            <a:pPr marL="0" indent="0" algn="l">
              <a:buNone/>
            </a:pPr>
            <a:r>
              <a:rPr lang="en-US" sz="1600" b="0" i="0" dirty="0">
                <a:effectLst/>
              </a:rPr>
              <a:t>[10]	Hossain, M. J. (2023). </a:t>
            </a:r>
            <a:r>
              <a:rPr lang="en-US" sz="1600" b="0" i="1" dirty="0">
                <a:effectLst/>
              </a:rPr>
              <a:t>Comparative Analysis of ARIMA SARIMAX and Random Forest Models for Forecasting Future GDP in 	Relation to Unemployment Rate</a:t>
            </a:r>
            <a:r>
              <a:rPr lang="en-US" sz="1600" b="0" i="0" dirty="0">
                <a:effectLst/>
              </a:rPr>
              <a:t>.</a:t>
            </a:r>
          </a:p>
        </p:txBody>
      </p:sp>
      <p:sp>
        <p:nvSpPr>
          <p:cNvPr id="10" name="Footer Placeholder 3">
            <a:extLst>
              <a:ext uri="{FF2B5EF4-FFF2-40B4-BE49-F238E27FC236}">
                <a16:creationId xmlns:a16="http://schemas.microsoft.com/office/drawing/2014/main" id="{C375BA2F-D9CF-8D67-949D-06E2B2F41AFD}"/>
              </a:ext>
            </a:extLst>
          </p:cNvPr>
          <p:cNvSpPr>
            <a:spLocks noGrp="1"/>
          </p:cNvSpPr>
          <p:nvPr>
            <p:ph type="ftr" sz="quarter" idx="11"/>
          </p:nvPr>
        </p:nvSpPr>
        <p:spPr>
          <a:xfrm>
            <a:off x="4038600" y="6356350"/>
            <a:ext cx="4114800" cy="365125"/>
          </a:xfrm>
        </p:spPr>
        <p:txBody>
          <a:bodyPr/>
          <a:lstStyle/>
          <a:p>
            <a:r>
              <a:rPr lang="en-IN"/>
              <a:t>CS6501 Project I PGP, ICER, VIT Bangalore</a:t>
            </a:r>
          </a:p>
        </p:txBody>
      </p:sp>
      <p:sp>
        <p:nvSpPr>
          <p:cNvPr id="11" name="Slide Number Placeholder 4">
            <a:extLst>
              <a:ext uri="{FF2B5EF4-FFF2-40B4-BE49-F238E27FC236}">
                <a16:creationId xmlns:a16="http://schemas.microsoft.com/office/drawing/2014/main" id="{B1E97513-6936-35CE-A799-8BAD7373E5C4}"/>
              </a:ext>
            </a:extLst>
          </p:cNvPr>
          <p:cNvSpPr>
            <a:spLocks noGrp="1"/>
          </p:cNvSpPr>
          <p:nvPr>
            <p:ph type="sldNum" sz="quarter" idx="12"/>
          </p:nvPr>
        </p:nvSpPr>
        <p:spPr>
          <a:xfrm>
            <a:off x="8610600" y="6356350"/>
            <a:ext cx="2743200" cy="365125"/>
          </a:xfrm>
        </p:spPr>
        <p:txBody>
          <a:bodyPr/>
          <a:lstStyle/>
          <a:p>
            <a:fld id="{90EDC104-672A-4227-99C4-0E2CC007FDBA}" type="slidenum">
              <a:rPr lang="en-IN" smtClean="0"/>
              <a:t>28</a:t>
            </a:fld>
            <a:endParaRPr lang="en-IN" dirty="0"/>
          </a:p>
        </p:txBody>
      </p:sp>
    </p:spTree>
    <p:extLst>
      <p:ext uri="{BB962C8B-B14F-4D97-AF65-F5344CB8AC3E}">
        <p14:creationId xmlns:p14="http://schemas.microsoft.com/office/powerpoint/2010/main" val="4144063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TotalTime>
  <Words>3518</Words>
  <Application>Microsoft Office PowerPoint</Application>
  <PresentationFormat>Widescreen</PresentationFormat>
  <Paragraphs>210</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Arial Narrow</vt:lpstr>
      <vt:lpstr>Calibri</vt:lpstr>
      <vt:lpstr>Calibri Light</vt:lpstr>
      <vt:lpstr>Symbol</vt:lpstr>
      <vt:lpstr>Times New Roman</vt:lpstr>
      <vt:lpstr>Office Theme</vt:lpstr>
      <vt:lpstr>Project Title: Behavioral Finance Patterns in Predicting Global Financial Crises: An Analytical Approach to Crisis Forecasting  Domain: Economics &amp; Finance  </vt:lpstr>
      <vt:lpstr>Abstract</vt:lpstr>
      <vt:lpstr>Introduction</vt:lpstr>
      <vt:lpstr>Objectives</vt:lpstr>
      <vt:lpstr>Review of Related Literature</vt:lpstr>
      <vt:lpstr>Related Work</vt:lpstr>
      <vt:lpstr>Proposed Methodology</vt:lpstr>
      <vt:lpstr>Proposed Methodology</vt:lpstr>
      <vt:lpstr>Tools and Techniques</vt:lpstr>
      <vt:lpstr>PowerPoint Presentation</vt:lpstr>
      <vt:lpstr>Column/Feature Details of the Dataset</vt:lpstr>
      <vt:lpstr>Column/Feature Details of the Dataset (continued)</vt:lpstr>
      <vt:lpstr>Exploratory Data Analysis</vt:lpstr>
      <vt:lpstr>Exploratory Data Analysis </vt:lpstr>
      <vt:lpstr>Exploratory Data Analysis </vt:lpstr>
      <vt:lpstr>Exploratory Data Analysis</vt:lpstr>
      <vt:lpstr>Exploratory Data Analysis</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Conclusion</vt:lpstr>
      <vt:lpstr>Future Enhancements</vt:lpstr>
      <vt:lpstr>References : APA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Behavioral Finance Patterns in Predicting Global Financial Crises: An Analytical Approach to Crisis Forecasting  Domain: Economics &amp; Finance  </dc:title>
  <dc:creator>Dharshani A</dc:creator>
  <cp:lastModifiedBy>Dharshani A</cp:lastModifiedBy>
  <cp:revision>2</cp:revision>
  <dcterms:created xsi:type="dcterms:W3CDTF">2023-12-11T19:12:38Z</dcterms:created>
  <dcterms:modified xsi:type="dcterms:W3CDTF">2023-12-12T09:19:04Z</dcterms:modified>
</cp:coreProperties>
</file>