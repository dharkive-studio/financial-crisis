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7" r:id="rId3"/>
    <p:sldId id="257" r:id="rId4"/>
    <p:sldId id="261" r:id="rId5"/>
    <p:sldId id="262" r:id="rId6"/>
    <p:sldId id="258" r:id="rId7"/>
    <p:sldId id="268" r:id="rId8"/>
    <p:sldId id="269" r:id="rId9"/>
    <p:sldId id="270" r:id="rId10"/>
    <p:sldId id="260" r:id="rId11"/>
    <p:sldId id="263" r:id="rId12"/>
    <p:sldId id="275" r:id="rId13"/>
    <p:sldId id="274" r:id="rId14"/>
    <p:sldId id="273" r:id="rId15"/>
    <p:sldId id="272" r:id="rId16"/>
    <p:sldId id="271" r:id="rId17"/>
    <p:sldId id="264" r:id="rId18"/>
    <p:sldId id="265" r:id="rId19"/>
    <p:sldId id="26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358BF-5E3A-4811-B791-3537E5F14C31}" type="datetimeFigureOut">
              <a:rPr lang="en-IN" smtClean="0"/>
              <a:t>27-11-2023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1CF65-329B-4FC0-BD81-F7BF02420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527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FEE0-0CD7-45A5-A730-5EC8BDE0D8D9}" type="datetime1">
              <a:rPr lang="en-IN" smtClean="0"/>
              <a:t>27-11-2023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579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7DE58-FC96-420A-ACEA-15241A896A4C}" type="datetime1">
              <a:rPr lang="en-IN" smtClean="0"/>
              <a:t>27-11-2023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45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49E9C-B3B6-46FE-A568-B9D577388D42}" type="datetime1">
              <a:rPr lang="en-IN" smtClean="0"/>
              <a:t>27-11-2023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75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A508-102F-45DB-994A-FCDA0CAE14C8}" type="datetime1">
              <a:rPr lang="en-IN" smtClean="0"/>
              <a:t>27-11-2023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824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C774E-B8A2-4F5C-B5FA-D785A0C05A2E}" type="datetime1">
              <a:rPr lang="en-IN" smtClean="0"/>
              <a:t>27-11-2023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596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F70BE-0155-47E7-8509-A88648CCEC82}" type="datetime1">
              <a:rPr lang="en-IN" smtClean="0"/>
              <a:t>27-11-2023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63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DE71-85FA-4296-BD22-FA3717DCA8E2}" type="datetime1">
              <a:rPr lang="en-IN" smtClean="0"/>
              <a:t>27-11-2023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02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EEF0E-D1E3-413E-934B-8549D7D1A21A}" type="datetime1">
              <a:rPr lang="en-IN" smtClean="0"/>
              <a:t>27-11-2023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41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72768-1913-4B51-9959-F62F8ED684BE}" type="datetime1">
              <a:rPr lang="en-IN" smtClean="0"/>
              <a:t>27-11-2023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19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653BA-939B-4E91-B3F4-265E71AFADD6}" type="datetime1">
              <a:rPr lang="en-IN" smtClean="0"/>
              <a:t>27-11-2023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652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F933-5EA4-4E01-9CD8-F0B091D3891D}" type="datetime1">
              <a:rPr lang="en-IN" smtClean="0"/>
              <a:t>27-11-2023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64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838B7-DBF2-4351-ADC6-B01D4416F11D}" type="datetime1">
              <a:rPr lang="en-IN" smtClean="0"/>
              <a:t>27-11-2023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317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kaggle.com/code/jorgegarciainiguez/global-financial-crisis-analytic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29480"/>
            <a:ext cx="9144000" cy="4124194"/>
          </a:xfrm>
        </p:spPr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Project Title: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Behavioral Finance Patterns in Predicting Global Financial Crises: An Analytical Approach to Crisis Forecasting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j-ea"/>
                <a:cs typeface="+mj-cs"/>
              </a:rPr>
            </a:b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j-ea"/>
                <a:cs typeface="+mj-cs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j-ea"/>
                <a:cs typeface="+mj-cs"/>
              </a:rPr>
              <a:t>Domain: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j-ea"/>
                <a:cs typeface="+mj-cs"/>
              </a:rPr>
              <a:t>Economics &amp; Finance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j-ea"/>
                <a:cs typeface="+mj-cs"/>
              </a:rPr>
              <a:t> 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 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188" y="5203181"/>
            <a:ext cx="10952813" cy="1655762"/>
          </a:xfrm>
        </p:spPr>
        <p:txBody>
          <a:bodyPr>
            <a:normAutofit/>
          </a:bodyPr>
          <a:lstStyle/>
          <a:p>
            <a:pPr algn="r"/>
            <a:r>
              <a:rPr lang="en-US" sz="2000" b="1" dirty="0">
                <a:solidFill>
                  <a:schemeClr val="tx1"/>
                </a:solidFill>
              </a:rPr>
              <a:t>Register Number: </a:t>
            </a:r>
            <a:r>
              <a:rPr lang="en-US" sz="2000" dirty="0">
                <a:solidFill>
                  <a:schemeClr val="tx1"/>
                </a:solidFill>
              </a:rPr>
              <a:t>23MSP3068</a:t>
            </a:r>
          </a:p>
          <a:p>
            <a:pPr algn="r"/>
            <a:r>
              <a:rPr lang="en-US" sz="2000" b="1" dirty="0">
                <a:solidFill>
                  <a:schemeClr val="tx1"/>
                </a:solidFill>
              </a:rPr>
              <a:t>Name:</a:t>
            </a:r>
            <a:r>
              <a:rPr lang="en-US" sz="2000" dirty="0">
                <a:solidFill>
                  <a:schemeClr val="tx1"/>
                </a:solidFill>
              </a:rPr>
              <a:t> Dharshani A.</a:t>
            </a:r>
          </a:p>
          <a:p>
            <a:pPr algn="r"/>
            <a:r>
              <a:rPr lang="en-US" sz="2000" b="1" dirty="0">
                <a:solidFill>
                  <a:schemeClr val="tx1"/>
                </a:solidFill>
              </a:rPr>
              <a:t>Date: </a:t>
            </a:r>
            <a:r>
              <a:rPr lang="en-US" sz="2000" dirty="0">
                <a:solidFill>
                  <a:schemeClr val="tx1"/>
                </a:solidFill>
              </a:rPr>
              <a:t>27-11-2023</a:t>
            </a:r>
            <a:endParaRPr lang="en-IN" sz="2000" dirty="0">
              <a:solidFill>
                <a:schemeClr val="tx1"/>
              </a:solidFill>
            </a:endParaRPr>
          </a:p>
          <a:p>
            <a:pPr algn="r"/>
            <a:endParaRPr lang="en-IN" dirty="0">
              <a:latin typeface="Arial Narrow" panose="020B0606020202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68" y="0"/>
            <a:ext cx="7621064" cy="16956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27227" y="1816676"/>
            <a:ext cx="3507698" cy="58461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Arial Narrow" panose="020B0606020202030204" pitchFamily="34" charset="0"/>
              </a:rPr>
              <a:t>First Review</a:t>
            </a:r>
            <a:endParaRPr lang="en-IN" sz="3200" b="1" dirty="0">
              <a:latin typeface="Arial Narrow" panose="020B0606020202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9843" y="4781862"/>
            <a:ext cx="4916773" cy="179507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Arial Narrow" panose="020B0606020202030204" pitchFamily="34" charset="0"/>
              </a:rPr>
              <a:t>Course Code: </a:t>
            </a:r>
            <a:r>
              <a:rPr lang="en-US" dirty="0">
                <a:latin typeface="Arial Narrow" panose="020B0606020202030204" pitchFamily="34" charset="0"/>
              </a:rPr>
              <a:t>CS6510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Course Title:  </a:t>
            </a:r>
            <a:r>
              <a:rPr lang="en-US">
                <a:latin typeface="Arial Narrow" panose="020B0606020202030204" pitchFamily="34" charset="0"/>
              </a:rPr>
              <a:t>Project 1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>
                <a:latin typeface="Arial Narrow" panose="020B0606020202030204" pitchFamily="34" charset="0"/>
              </a:rPr>
              <a:t>CS6501 Project I , PGP, ICER, VIT Bangalore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7700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16B3B-FE95-94BC-6EEF-3E8ED77E6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370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INTRODUCTION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76AE3-000B-3B43-510B-1F77C86CE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422400"/>
            <a:ext cx="11785600" cy="5070475"/>
          </a:xfrm>
        </p:spPr>
        <p:txBody>
          <a:bodyPr>
            <a:normAutofit fontScale="77500" lnSpcReduction="20000"/>
          </a:bodyPr>
          <a:lstStyle/>
          <a:p>
            <a:r>
              <a:rPr lang="en-US" b="0" i="0" dirty="0">
                <a:solidFill>
                  <a:srgbClr val="0F0F0F"/>
                </a:solidFill>
                <a:effectLst/>
                <a:latin typeface="Söhne"/>
              </a:rPr>
              <a:t>The financial sector is ever-evolving, and there's a critical need for models that can predict crises before they occur. </a:t>
            </a:r>
          </a:p>
          <a:p>
            <a:r>
              <a:rPr lang="en-US" b="0" i="0" dirty="0">
                <a:solidFill>
                  <a:srgbClr val="0F0F0F"/>
                </a:solidFill>
                <a:effectLst/>
                <a:latin typeface="Söhne"/>
              </a:rPr>
              <a:t>Traditional methods, while useful, often fall short in capturing the complex dynamics of economic fluctuations. </a:t>
            </a:r>
          </a:p>
          <a:p>
            <a:r>
              <a:rPr lang="en-US" b="0" i="0" dirty="0">
                <a:solidFill>
                  <a:srgbClr val="0F0F0F"/>
                </a:solidFill>
                <a:effectLst/>
                <a:latin typeface="Söhne"/>
              </a:rPr>
              <a:t>This study addresses this gap by constructing a predictive model that not only analyzes a wealth of historical economic data, market behaviors, and financial information from past global downturns but also introduces an innovative approach. </a:t>
            </a:r>
          </a:p>
          <a:p>
            <a:r>
              <a:rPr lang="en-US" b="0" i="0" dirty="0">
                <a:solidFill>
                  <a:srgbClr val="0F0F0F"/>
                </a:solidFill>
                <a:effectLst/>
                <a:latin typeface="Söhne"/>
              </a:rPr>
              <a:t>By integrating SARIMAX for seasonal trend analysis and Neural Networks for pattern recognition in economic data, this research offers a comprehensive tool for forecasting financial crises.</a:t>
            </a:r>
          </a:p>
          <a:p>
            <a:r>
              <a:rPr lang="en-US" b="0" i="0" dirty="0">
                <a:solidFill>
                  <a:srgbClr val="0F0F0F"/>
                </a:solidFill>
                <a:effectLst/>
                <a:latin typeface="Söhne"/>
              </a:rPr>
              <a:t> Utilizing a dataset from Global Financial Crisis Analytics, the study combines ARIMA time series analysis with advanced machine learning methods to detect intricate economic patterns and interactions. </a:t>
            </a:r>
          </a:p>
          <a:p>
            <a:r>
              <a:rPr lang="en-US" b="0" i="0" dirty="0">
                <a:solidFill>
                  <a:srgbClr val="0F0F0F"/>
                </a:solidFill>
                <a:effectLst/>
                <a:latin typeface="Söhne"/>
              </a:rPr>
              <a:t>The outcomes of this research are significant, as they provide new directions for lessening financial risks and bolstering the economy's defenses against instability. </a:t>
            </a:r>
          </a:p>
          <a:p>
            <a:r>
              <a:rPr lang="en-US" b="0" i="0" dirty="0">
                <a:solidFill>
                  <a:srgbClr val="0F0F0F"/>
                </a:solidFill>
                <a:effectLst/>
                <a:latin typeface="Söhne"/>
              </a:rPr>
              <a:t>This integration of tried-and-true econometric techniques with modern machine learning technology offers fresh insights into behavioral finance and a robust model for predicting when the economy might face a downturn.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21957-2CF0-BE93-7296-303CDE346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025DF-35CE-7D1A-62F0-41F385C6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749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pPr>
              <a:tabLst>
                <a:tab pos="1528763" algn="l"/>
              </a:tabLst>
            </a:pPr>
            <a:r>
              <a:rPr lang="en-US" b="1" dirty="0">
                <a:latin typeface="Arial Narrow" panose="020B0606020202030204" pitchFamily="34" charset="0"/>
              </a:rPr>
              <a:t>Problem Statement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1798320"/>
            <a:ext cx="11795760" cy="4694555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latin typeface="Söhne"/>
              </a:rPr>
              <a:t>Traditional economic forecasting methods lack the finesse to predict financial crises accurately, missing complex and seasonal trends.</a:t>
            </a:r>
          </a:p>
          <a:p>
            <a:r>
              <a:rPr lang="en-US" b="0" i="0" dirty="0">
                <a:effectLst/>
                <a:latin typeface="Söhne"/>
              </a:rPr>
              <a:t>This study proposes a novel model integrating SARIMAX, for its strength in seasonal analysis, with Neural Networks, adept at uncovering non-linear patterns.</a:t>
            </a:r>
          </a:p>
          <a:p>
            <a:r>
              <a:rPr lang="en-US" b="0" i="0" dirty="0">
                <a:effectLst/>
                <a:latin typeface="Söhne"/>
              </a:rPr>
              <a:t>Aimed at equipping policymakers with timely, actionable insights, this hybrid approach seeks to enhance the precision of crisis prediction, ensuring robust economic defense strategies.</a:t>
            </a:r>
          </a:p>
          <a:p>
            <a:pPr marL="0" indent="0" algn="l">
              <a:buNone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404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Objectives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80161"/>
            <a:ext cx="11866880" cy="5441314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900" b="1" i="0" dirty="0">
                <a:effectLst/>
                <a:latin typeface="Söhne"/>
              </a:rPr>
              <a:t>Aim</a:t>
            </a:r>
            <a:r>
              <a:rPr lang="en-US" sz="2900" b="0" i="0" dirty="0">
                <a:effectLst/>
                <a:latin typeface="Söhne"/>
              </a:rPr>
              <a:t>:</a:t>
            </a:r>
          </a:p>
          <a:p>
            <a:pPr marL="0" indent="0" algn="l">
              <a:buNone/>
            </a:pPr>
            <a:r>
              <a:rPr lang="en-US" sz="2900" b="0" i="0" dirty="0">
                <a:effectLst/>
                <a:latin typeface="Söhne"/>
              </a:rPr>
              <a:t>To enhance the accuracy of financial crisis forecasting by developing a hybrid predictive model that incorporates SARIMAX for seasonal trend analysis in economic time series and Neural Networks to identify complex patterns in financial indicators.</a:t>
            </a:r>
          </a:p>
          <a:p>
            <a:pPr marL="0" indent="0" algn="l">
              <a:buNone/>
            </a:pPr>
            <a:endParaRPr lang="en-US" sz="2900" b="0" i="0" dirty="0">
              <a:effectLst/>
              <a:latin typeface="Söhne"/>
            </a:endParaRPr>
          </a:p>
          <a:p>
            <a:pPr marL="0" indent="0" algn="l">
              <a:buNone/>
            </a:pPr>
            <a:r>
              <a:rPr lang="en-US" sz="2900" b="1" i="0" dirty="0">
                <a:effectLst/>
                <a:latin typeface="Söhne"/>
              </a:rPr>
              <a:t>Need for Research</a:t>
            </a:r>
            <a:r>
              <a:rPr lang="en-US" sz="2900" b="0" i="0" dirty="0">
                <a:effectLst/>
                <a:latin typeface="Söhn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Söhne"/>
              </a:rPr>
              <a:t>To maintain vigilance in the financial sector and among policymakers and investors for the anticipation and mitigation of future financial downturns.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Söhne"/>
              </a:rPr>
              <a:t>To leverage SARIMAX in identifying seasonal and cyclical trends within economic data that traditional forecasting methods may overlook.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Söhne"/>
              </a:rPr>
              <a:t>To harness the capabilities of Neural Networks in recognizing subtle and non-linear patterns that serve as early warning signals of potential financial crises.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Söhne"/>
              </a:rPr>
              <a:t>To analyze historical data and key economic indicators, specifically examining changes leading up to the 2007-2008 crisis, to refine the model's forecasting capabilities.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Söhne"/>
              </a:rPr>
              <a:t>To enable stakeholders to take preemptive measures to protect the global economy by predicting potential crises with greater precision.</a:t>
            </a:r>
            <a:br>
              <a:rPr lang="en-US" sz="2900" dirty="0"/>
            </a:br>
            <a:endParaRPr lang="en-IN" sz="2900" dirty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722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Review of Related Literature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560" y="5115188"/>
            <a:ext cx="11866880" cy="12041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Previous studies have focused on ARIMA models for economic forecasting, but they fall short in handling complex, non-linear patterns. Recent advancements in machine learning, particularly Neural Networks, have shown potential in financial applications. This research builds upon these findings, proposing a novel integration of SARIMAX and Neural Networks.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8B66F74-A54F-6104-AEE2-5C493E69A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652965"/>
              </p:ext>
            </p:extLst>
          </p:nvPr>
        </p:nvGraphicFramePr>
        <p:xfrm>
          <a:off x="162560" y="1153700"/>
          <a:ext cx="11866880" cy="35775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3360">
                  <a:extLst>
                    <a:ext uri="{9D8B030D-6E8A-4147-A177-3AD203B41FA5}">
                      <a16:colId xmlns:a16="http://schemas.microsoft.com/office/drawing/2014/main" val="226413593"/>
                    </a:ext>
                  </a:extLst>
                </a:gridCol>
                <a:gridCol w="1432732">
                  <a:extLst>
                    <a:ext uri="{9D8B030D-6E8A-4147-A177-3AD203B41FA5}">
                      <a16:colId xmlns:a16="http://schemas.microsoft.com/office/drawing/2014/main" val="296175627"/>
                    </a:ext>
                  </a:extLst>
                </a:gridCol>
                <a:gridCol w="1533988">
                  <a:extLst>
                    <a:ext uri="{9D8B030D-6E8A-4147-A177-3AD203B41FA5}">
                      <a16:colId xmlns:a16="http://schemas.microsoft.com/office/drawing/2014/main" val="915511190"/>
                    </a:ext>
                  </a:extLst>
                </a:gridCol>
                <a:gridCol w="1371978">
                  <a:extLst>
                    <a:ext uri="{9D8B030D-6E8A-4147-A177-3AD203B41FA5}">
                      <a16:colId xmlns:a16="http://schemas.microsoft.com/office/drawing/2014/main" val="1531935796"/>
                    </a:ext>
                  </a:extLst>
                </a:gridCol>
                <a:gridCol w="1594742">
                  <a:extLst>
                    <a:ext uri="{9D8B030D-6E8A-4147-A177-3AD203B41FA5}">
                      <a16:colId xmlns:a16="http://schemas.microsoft.com/office/drawing/2014/main" val="3801670869"/>
                    </a:ext>
                  </a:extLst>
                </a:gridCol>
                <a:gridCol w="1483360">
                  <a:extLst>
                    <a:ext uri="{9D8B030D-6E8A-4147-A177-3AD203B41FA5}">
                      <a16:colId xmlns:a16="http://schemas.microsoft.com/office/drawing/2014/main" val="2281328566"/>
                    </a:ext>
                  </a:extLst>
                </a:gridCol>
                <a:gridCol w="1483360">
                  <a:extLst>
                    <a:ext uri="{9D8B030D-6E8A-4147-A177-3AD203B41FA5}">
                      <a16:colId xmlns:a16="http://schemas.microsoft.com/office/drawing/2014/main" val="4246839249"/>
                    </a:ext>
                  </a:extLst>
                </a:gridCol>
                <a:gridCol w="1483360">
                  <a:extLst>
                    <a:ext uri="{9D8B030D-6E8A-4147-A177-3AD203B41FA5}">
                      <a16:colId xmlns:a16="http://schemas.microsoft.com/office/drawing/2014/main" val="1910529053"/>
                    </a:ext>
                  </a:extLst>
                </a:gridCol>
              </a:tblGrid>
              <a:tr h="8124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</a:rPr>
                        <a:t>Title of the Paper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</a:rPr>
                        <a:t>Authors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</a:rPr>
                        <a:t>Journal Name/ Conference Title &amp; Publisher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Year of Publication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Methodology used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Performance of the proposed algorithm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Limitations of the Research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</a:rPr>
                        <a:t>Future approach if any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01767"/>
                  </a:ext>
                </a:extLst>
              </a:tr>
              <a:tr h="23010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</a:rPr>
                        <a:t>2018 Financial Risk and Regulation Survey: </a:t>
                      </a:r>
                      <a:r>
                        <a:rPr lang="en-IN" sz="1800" dirty="0" err="1">
                          <a:solidFill>
                            <a:schemeClr val="tx1"/>
                          </a:solidFill>
                          <a:effectLst/>
                        </a:rPr>
                        <a:t>Behavioral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</a:rPr>
                        <a:t> Finance &amp; Financial Stability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dirty="0">
                          <a:effectLst/>
                        </a:rPr>
                        <a:t>Harvard Business School</a:t>
                      </a:r>
                      <a:endParaRPr lang="en-IN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dirty="0">
                          <a:effectLst/>
                        </a:rPr>
                        <a:t>Harvard Business School</a:t>
                      </a:r>
                      <a:endParaRPr lang="en-IN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dirty="0">
                          <a:effectLst/>
                        </a:rPr>
                        <a:t>2018</a:t>
                      </a:r>
                      <a:endParaRPr lang="en-IN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dirty="0">
                          <a:effectLst/>
                        </a:rPr>
                        <a:t>The study employed a combination of regression analysis, econometric methods, and possibly modern machine learning techniques, given its focus on understanding and forecasting financial downturns.</a:t>
                      </a:r>
                      <a:endParaRPr lang="en-IN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dirty="0">
                          <a:effectLst/>
                        </a:rPr>
                        <a:t>The study focuses on the analysis of financial risks such as asset price inflation and high debt, contributing to a better understanding of financial instabilities.</a:t>
                      </a:r>
                      <a:endParaRPr lang="en-IN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dirty="0">
                          <a:effectLst/>
                        </a:rPr>
                        <a:t>Potential limitation in integrating traditional and modern techniques effectively.</a:t>
                      </a:r>
                      <a:endParaRPr lang="en-IN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dirty="0">
                          <a:effectLst/>
                        </a:rPr>
                        <a:t>The study can be expanded with traditional time series analysis, including ARIMA models, with advanced machine learning techniques, to discern cyclical patterns and complex interactions among various economic factors</a:t>
                      </a:r>
                      <a:endParaRPr lang="en-IN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998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366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6</a:t>
            </a:fld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09579F-A7CE-9F6F-88B6-60DF8FC26632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359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latin typeface="Arial Narrow" panose="020B0606020202030204" pitchFamily="34" charset="0"/>
              </a:rPr>
              <a:t>Dataset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04036A-4B44-F196-26CD-31D27DC73393}"/>
              </a:ext>
            </a:extLst>
          </p:cNvPr>
          <p:cNvSpPr txBox="1">
            <a:spLocks/>
          </p:cNvSpPr>
          <p:nvPr/>
        </p:nvSpPr>
        <p:spPr>
          <a:xfrm>
            <a:off x="105878" y="1087655"/>
            <a:ext cx="12086122" cy="5633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 Narrow" panose="020B0606020202030204" pitchFamily="34" charset="0"/>
              </a:rPr>
              <a:t>Source of the Dataset: </a:t>
            </a:r>
            <a:r>
              <a:rPr lang="en-IN">
                <a:hlinkClick r:id="rId2"/>
              </a:rPr>
              <a:t>Global Financial Crisis Analytics | Kaggle</a:t>
            </a:r>
            <a:endParaRPr lang="en-US">
              <a:latin typeface="Arial Narrow" panose="020B0606020202030204" pitchFamily="34" charset="0"/>
            </a:endParaRPr>
          </a:p>
          <a:p>
            <a:r>
              <a:rPr lang="en-US">
                <a:latin typeface="Arial Narrow" panose="020B0606020202030204" pitchFamily="34" charset="0"/>
              </a:rPr>
              <a:t>No. of Observations: 15,192</a:t>
            </a:r>
          </a:p>
          <a:p>
            <a:r>
              <a:rPr lang="en-US">
                <a:latin typeface="Arial Narrow" panose="020B0606020202030204" pitchFamily="34" charset="0"/>
              </a:rPr>
              <a:t> Screenshot of the dataset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en-US">
                <a:latin typeface="Arial Narrow" panose="020B0606020202030204" pitchFamily="34" charset="0"/>
              </a:rPr>
            </a:br>
            <a:endParaRPr lang="en-US">
              <a:latin typeface="Arial Narrow" panose="020B0606020202030204" pitchFamily="34" charset="0"/>
            </a:endParaRPr>
          </a:p>
          <a:p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E66B78C0-21C0-1F54-027E-8A698F7FCE4A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CS6501 Project I PGP, ICER, VIT Bangalore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BEBC40F0-5463-7C2E-C540-6337C0193AE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EDC104-672A-4227-99C4-0E2CC007FDBA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1D791EA8-383A-F9A9-6D66-85583CB23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75" y="2565471"/>
            <a:ext cx="11034563" cy="393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47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A179BB-E353-C3DA-88C6-1592BB5D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1E2E2-8212-A20D-E1CE-65136FE4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7</a:t>
            </a:fld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A3DE97-5737-F7D5-92B2-F1CBD466D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517525"/>
            <a:ext cx="10515600" cy="60702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Column/Feature Details of the Dataset</a:t>
            </a:r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9D83B5-2698-FD77-3935-96ED16C6E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85" y="1432560"/>
            <a:ext cx="11482938" cy="5441315"/>
          </a:xfrm>
        </p:spPr>
        <p:txBody>
          <a:bodyPr>
            <a:noAutofit/>
          </a:bodyPr>
          <a:lstStyle/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1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Case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 numeric identifier for each record. Each country appears to have a unique case number.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1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CC3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The three-letter country code, following the standard ISO alpha-3 country codes.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1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Country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The name of the country to which the data row corresponds.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US" sz="1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Year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The year for which the data is recorded.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en-US" sz="1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Banking Crisis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Indicates the occurrence of a banking crisis. '0' indicates no crisis, while '1’ indicates a crisis.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</a:t>
            </a:r>
            <a:r>
              <a:rPr lang="en-US" sz="19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Banking_Crisis_Notes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Additional notes or explanations about the banking crisis, if any.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 </a:t>
            </a:r>
            <a:r>
              <a:rPr lang="en-US" sz="1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Systemic Crisis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Indicates whether a systemic crisis occurred in that year. Similar to 'Banking Crisis', '0' likely means no systemic crisis.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 </a:t>
            </a:r>
            <a:r>
              <a:rPr lang="en-US" sz="1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Gold Standard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Indicates whether the country was on the gold standard in that year.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 </a:t>
            </a:r>
            <a:r>
              <a:rPr lang="en-US" sz="19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exch_usd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The exchange rate of the country's currency to the US dollar.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 </a:t>
            </a:r>
            <a:r>
              <a:rPr lang="en-US" sz="1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exch_usd_alt1, exch_usd_alt2, exch_usd_alt3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Alternative exchange rate values, representing different sources or calculation methods.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11. </a:t>
            </a:r>
            <a:r>
              <a:rPr lang="en-US" sz="1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Conversion to USD notes/sources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Notes or sources for the exchange rate data.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1057572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82320-2960-BA37-EEB8-41EAC3D3E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0B31D4-6924-8CAA-91CA-DC4554000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8</a:t>
            </a:fld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9A5D958-C9A6-06A2-6C45-07787908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 Narrow" panose="020B0606020202030204" pitchFamily="34" charset="0"/>
              </a:rPr>
              <a:t>Column/Feature Details of the Dataset (continued)</a:t>
            </a:r>
            <a:endParaRPr lang="en-IN" sz="4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2C5805-DE68-610C-F8F0-4BEEACDC5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285" y="1336785"/>
            <a:ext cx="11405937" cy="5313144"/>
          </a:xfrm>
        </p:spPr>
        <p:txBody>
          <a:bodyPr>
            <a:noAutofit/>
          </a:bodyPr>
          <a:lstStyle/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12.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Domestic Debt In Default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Indicates whether there was a default on domestic debt.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13. </a:t>
            </a:r>
            <a:r>
              <a:rPr lang="en-US" sz="20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Domestic_Debt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 Notes/Sources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Notes or sources regarding the domestic debt data.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14.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SOVEREIGN EXTERNAL DEBT 1 and 2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Indicates whether there was a default or restructuring of sovereign external debt. Different columns might represent different categorizations or time periods of the debt.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15. </a:t>
            </a:r>
            <a:r>
              <a:rPr lang="en-US" sz="20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Defaults_External_Notes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Notes about external debt defaults.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16. </a:t>
            </a:r>
            <a:r>
              <a:rPr lang="en-US" sz="20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GDP_Weighted_default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 measure of defaults weighted by GDP, possibly indicating the severity or impact of the default relative to the country's economy.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17.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Inflation, Annual percentages of average consumer prices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The annual inflation rate, measured as the percentage change in consumer prices.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18.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Independence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Indicates whether the country was independent in that year.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19.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Currency Crises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Indicates the occurrence of a currency crisis.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20.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Inflation Crises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Indicates the occurrence of an inflation crisis.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53073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0866E-7AB3-F891-E09C-1CDECDFD8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Arial Narrow" panose="020B0606020202030204" pitchFamily="34" charset="0"/>
              </a:rPr>
              <a:t>Details about the columns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906E4-96D9-E269-8349-D6AB69699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825625"/>
            <a:ext cx="11369040" cy="46672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Categorical Columns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CC3, Country, Banking Crisis, </a:t>
            </a:r>
            <a:r>
              <a:rPr lang="en-IN" dirty="0" err="1"/>
              <a:t>Banking_Crisis_Notes</a:t>
            </a:r>
            <a:r>
              <a:rPr lang="en-IN" dirty="0"/>
              <a:t>, Systemic Crisis, Gold Standard, </a:t>
            </a:r>
            <a:r>
              <a:rPr lang="en-IN" dirty="0" err="1"/>
              <a:t>exch_usd</a:t>
            </a:r>
            <a:r>
              <a:rPr lang="en-IN" dirty="0"/>
              <a:t>, exch_usd_alt2, exch_usd_alt3, </a:t>
            </a:r>
            <a:r>
              <a:rPr lang="en-IN" dirty="0" err="1"/>
              <a:t>conversion_notes</a:t>
            </a:r>
            <a:r>
              <a:rPr lang="en-IN" dirty="0"/>
              <a:t>, national currency, </a:t>
            </a:r>
            <a:r>
              <a:rPr lang="en-IN" dirty="0" err="1"/>
              <a:t>exch_primary</a:t>
            </a:r>
            <a:r>
              <a:rPr lang="en-IN" dirty="0"/>
              <a:t> source code, </a:t>
            </a:r>
            <a:r>
              <a:rPr lang="en-IN" dirty="0" err="1"/>
              <a:t>exch_sources</a:t>
            </a:r>
            <a:r>
              <a:rPr lang="en-IN" dirty="0"/>
              <a:t>, </a:t>
            </a:r>
            <a:r>
              <a:rPr lang="en-IN" dirty="0" err="1"/>
              <a:t>Domestic_Debt_In_Default</a:t>
            </a:r>
            <a:r>
              <a:rPr lang="en-IN" dirty="0"/>
              <a:t>, </a:t>
            </a:r>
            <a:r>
              <a:rPr lang="en-IN" dirty="0" err="1"/>
              <a:t>Domestic_Debt_Notes</a:t>
            </a:r>
            <a:r>
              <a:rPr lang="en-IN" dirty="0"/>
              <a:t>/Sources, SOVEREIGN EXTERNAL DEBT 1: DEFAULT and RESTRUCTURINGS, 1800-2012, SOVEREIGN EXTERNAL DEBT 2: DEFAULT and RESTRUCTURINGS, 1800-2012, </a:t>
            </a:r>
            <a:r>
              <a:rPr lang="en-IN" dirty="0" err="1"/>
              <a:t>Defaults_External_Notes</a:t>
            </a:r>
            <a:r>
              <a:rPr lang="en-IN" dirty="0"/>
              <a:t>, </a:t>
            </a:r>
            <a:r>
              <a:rPr lang="en-IN" dirty="0" err="1"/>
              <a:t>GDP_Weighted_default</a:t>
            </a:r>
            <a:r>
              <a:rPr lang="en-IN" dirty="0"/>
              <a:t>, "&lt;", Inflation, Annual percentages of average consumer prices, Independence, Currency Crises, Inflation Crises.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Continuous Columns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Case, Year, exch_usd_alt1.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Discrete Columns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None identified as discrete based on the provided data.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D4B456-8BE1-B42D-19A0-5FF4E0D6B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AD71-124A-2FDD-F7B5-1B70D5A5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544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Proposed Methodology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B2AB3A-24AC-FB04-72C6-C8E838F09AE5}"/>
              </a:ext>
            </a:extLst>
          </p:cNvPr>
          <p:cNvSpPr txBox="1"/>
          <p:nvPr/>
        </p:nvSpPr>
        <p:spPr>
          <a:xfrm>
            <a:off x="8610600" y="865648"/>
            <a:ext cx="3175000" cy="561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Söhne"/>
              </a:rPr>
              <a:t>Utilizing Python's data analysis ecosystem for its robust capabilities in handling extensive economic datasets.</a:t>
            </a:r>
          </a:p>
          <a:p>
            <a:pPr algn="l"/>
            <a:endParaRPr lang="en-US" sz="1100" b="0" i="0" dirty="0"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Söhne"/>
              </a:rPr>
              <a:t>Preprocessing involves cleaning the data, handling missing values, and normalizing features to prepare for advanced analysis.</a:t>
            </a:r>
          </a:p>
          <a:p>
            <a:pPr algn="l"/>
            <a:endParaRPr lang="en-US" sz="1100" b="0" i="0" dirty="0"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Söhne"/>
              </a:rPr>
              <a:t>Implementing SARIMAX models to capture and analyze seasonal trends and cycles within the economic time series data.</a:t>
            </a:r>
          </a:p>
          <a:p>
            <a:pPr algn="l"/>
            <a:endParaRPr lang="en-US" sz="1100" b="0" i="0" dirty="0"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Söhne"/>
              </a:rPr>
              <a:t>Integrating Neural Networks to interpret the SARIMAX output, focusing on pattern recognition to identify potential leading indicators of financial crises.</a:t>
            </a:r>
          </a:p>
          <a:p>
            <a:pPr algn="l"/>
            <a:endParaRPr lang="en-US" sz="1100" b="0" i="0" dirty="0"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Söhne"/>
              </a:rPr>
              <a:t>Aiming for a comprehensive understanding of the predictors of financial crises through a combined approach of time series decomposition and machine learning-based pattern identification.</a:t>
            </a:r>
          </a:p>
          <a:p>
            <a:pPr algn="l"/>
            <a:endParaRPr lang="en-US" sz="1100" b="0" i="0" dirty="0"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Söhne"/>
              </a:rPr>
              <a:t>The approach is rooted in behavioral finance, leveraging regression analysis alongside machine learning to forecast and understand financial instability.</a:t>
            </a:r>
          </a:p>
          <a:p>
            <a:pPr algn="l"/>
            <a:endParaRPr lang="en-US" sz="1100" b="0" i="0" dirty="0"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Söhne"/>
              </a:rPr>
              <a:t>This methodology is designed to unveil a clear relationship between economic indicators and the onset of financial crises, providing actionable insights for policymakers and investors.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FD73CF-434D-E102-C693-F668CDD96A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3" t="2363" r="1254" b="2197"/>
          <a:stretch/>
        </p:blipFill>
        <p:spPr>
          <a:xfrm>
            <a:off x="223520" y="991869"/>
            <a:ext cx="8260080" cy="536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428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4F0659-5A0B-0F97-7C59-EC7AE87A5F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28"/>
          <a:stretch/>
        </p:blipFill>
        <p:spPr bwMode="auto">
          <a:xfrm>
            <a:off x="34289" y="4608830"/>
            <a:ext cx="5731510" cy="22491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Exploratory Data Analysis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11</a:t>
            </a:fld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4819B4-FD71-05BC-75F9-30C9ADDFF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289" y="998034"/>
            <a:ext cx="6245404" cy="37472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331271-138B-BE98-7692-BE9FAFC05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588" y="946150"/>
            <a:ext cx="5731510" cy="3662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EEEF60-44EC-ED48-8B83-B0A79AB0AA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3571" y="4545886"/>
            <a:ext cx="5731510" cy="194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931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19C46C-4971-9AD7-2492-F47D1558C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77000"/>
            <a:ext cx="5731510" cy="19444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150145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Exploratory Data Analysis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12</a:t>
            </a:fld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96BA65-9AD0-EE2B-9240-8D7D38EFEE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890165"/>
            <a:ext cx="5577840" cy="39663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936D94-02E0-DE1A-ED8D-4F90E6CF0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005" y="890165"/>
            <a:ext cx="5731510" cy="1448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CD608-58A2-9F69-3DCD-4F5716F19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004" y="2514600"/>
            <a:ext cx="6025515" cy="384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508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958C71D-0998-34BB-38E8-05BB802502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9242" y="2914725"/>
            <a:ext cx="5943814" cy="39250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Exploratory Data Analysis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89C020-FD87-4F48-6A13-79F4DA871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44" y="924910"/>
            <a:ext cx="5398576" cy="5260505"/>
          </a:xfrm>
          <a:prstGeom prst="rect">
            <a:avLst/>
          </a:prstGeom>
        </p:spPr>
      </p:pic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34E61246-3687-2C9C-5A41-AFC078572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642" y="264118"/>
            <a:ext cx="4360718" cy="268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901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Exploratory Data Analysis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14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28F8F4-0150-C02A-9EA2-8C30D99D4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3" y="1105217"/>
            <a:ext cx="6123585" cy="46475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CB8BD5-D293-3829-83B1-22B8426ED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964" y="1105217"/>
            <a:ext cx="6267036" cy="476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21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Exploratory Data Analysis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C90799-0B25-CBAC-DD3B-1D0EAD107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63" y="1343817"/>
            <a:ext cx="6014720" cy="4578049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A6DB65C-34CF-AD13-EEA7-710FD60F0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7123" y="1343817"/>
            <a:ext cx="5416314" cy="48243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0053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606577A-3E9D-4D76-DE0B-19EB1DC0C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561" y="3286426"/>
            <a:ext cx="4252867" cy="325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0D3016B-C388-C89B-AF0F-7209E9465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880" y="3601733"/>
            <a:ext cx="6185680" cy="31311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Exploratory Data Analysis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C1439C-2B0B-5C67-2B66-9D79446525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2326"/>
          <a:stretch/>
        </p:blipFill>
        <p:spPr>
          <a:xfrm>
            <a:off x="5532119" y="1063783"/>
            <a:ext cx="6081669" cy="21600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9AEE0D-EC31-933A-6ACC-DAB3F53005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6222"/>
          <a:stretch/>
        </p:blipFill>
        <p:spPr>
          <a:xfrm>
            <a:off x="0" y="1054179"/>
            <a:ext cx="5415280" cy="216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0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Next Step of Research Focus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560" y="1310640"/>
            <a:ext cx="11866880" cy="541083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3000" b="0" i="0" dirty="0">
                <a:effectLst/>
                <a:latin typeface="Söhne"/>
              </a:rPr>
              <a:t>To advance the predictive analysis of financial crises: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b="0" i="0" dirty="0">
                <a:effectLst/>
                <a:latin typeface="Söhne"/>
              </a:rPr>
              <a:t>Validate the SARIMAX-neural network model using past crisis events for improved forecast reliability.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b="0" i="0" dirty="0">
                <a:effectLst/>
                <a:latin typeface="Söhne"/>
              </a:rPr>
              <a:t>Examine emergent patterns from the model to identify key predictors of market downturns.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b="0" i="0" dirty="0">
                <a:effectLst/>
                <a:latin typeface="Söhne"/>
              </a:rPr>
              <a:t>Establish a real-time data analysis framework for proactive economic decision-making.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b="0" i="0" dirty="0">
                <a:effectLst/>
                <a:latin typeface="Söhne"/>
              </a:rPr>
              <a:t>Evaluate model performance through case studies, including its applicability to the recent pandemic's economic effects, thus addressing the current gap in applying advanced predictive models to modern financial challenges.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526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Conclusion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937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72939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References : APA format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50605"/>
            <a:ext cx="12192000" cy="5784112"/>
          </a:xfrm>
        </p:spPr>
        <p:txBody>
          <a:bodyPr>
            <a:normAutofit fontScale="70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Harvard Business School. (2018). </a:t>
            </a:r>
            <a:r>
              <a:rPr lang="en-US" b="0" i="1" dirty="0">
                <a:effectLst/>
                <a:latin typeface="Söhne"/>
              </a:rPr>
              <a:t>2018 Financial Risk and Regulation Survey: Behavioral Finance &amp; Financial Stability</a:t>
            </a:r>
            <a:r>
              <a:rPr lang="en-US" b="0" i="0" dirty="0"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b="0" i="0" dirty="0" err="1">
                <a:effectLst/>
                <a:latin typeface="Söhne"/>
              </a:rPr>
              <a:t>Tekin</a:t>
            </a:r>
            <a:r>
              <a:rPr lang="en-US" b="0" i="0" dirty="0">
                <a:effectLst/>
                <a:latin typeface="Söhne"/>
              </a:rPr>
              <a:t>, H. (2020). </a:t>
            </a:r>
            <a:r>
              <a:rPr lang="en-US" b="0" i="1" dirty="0">
                <a:effectLst/>
                <a:latin typeface="Söhne"/>
              </a:rPr>
              <a:t>How optimal cash changed by the global financial crisis?</a:t>
            </a:r>
            <a:r>
              <a:rPr lang="en-US" b="0" i="0" dirty="0">
                <a:effectLst/>
                <a:latin typeface="Söhne"/>
              </a:rPr>
              <a:t>. Economics and Business Letters, 9(2), 114-123.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World Bank. (2020). </a:t>
            </a:r>
            <a:r>
              <a:rPr lang="en-US" b="0" i="1" dirty="0">
                <a:effectLst/>
                <a:latin typeface="Söhne"/>
              </a:rPr>
              <a:t>Global Financial Development Report 2019/2020: Bank Regulation and Supervision a Decade after the Global Financial Crisis</a:t>
            </a:r>
            <a:r>
              <a:rPr lang="en-US" b="0" i="0" dirty="0"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b="0" i="0" dirty="0" err="1">
                <a:effectLst/>
                <a:latin typeface="Söhne"/>
              </a:rPr>
              <a:t>Lajili</a:t>
            </a:r>
            <a:r>
              <a:rPr lang="en-US" b="0" i="0" dirty="0">
                <a:effectLst/>
                <a:latin typeface="Söhne"/>
              </a:rPr>
              <a:t>, K., Li, T. M., </a:t>
            </a:r>
            <a:r>
              <a:rPr lang="en-US" b="0" i="0" dirty="0" err="1">
                <a:effectLst/>
                <a:latin typeface="Söhne"/>
              </a:rPr>
              <a:t>Chourou</a:t>
            </a:r>
            <a:r>
              <a:rPr lang="en-US" b="0" i="0" dirty="0">
                <a:effectLst/>
                <a:latin typeface="Söhne"/>
              </a:rPr>
              <a:t>, L., </a:t>
            </a:r>
            <a:r>
              <a:rPr lang="en-US" b="0" i="0" dirty="0" err="1">
                <a:effectLst/>
                <a:latin typeface="Söhne"/>
              </a:rPr>
              <a:t>Dobler</a:t>
            </a:r>
            <a:r>
              <a:rPr lang="en-US" b="0" i="0" dirty="0">
                <a:effectLst/>
                <a:latin typeface="Söhne"/>
              </a:rPr>
              <a:t>, M., &amp; </a:t>
            </a:r>
            <a:r>
              <a:rPr lang="en-US" b="0" i="0" dirty="0" err="1">
                <a:effectLst/>
                <a:latin typeface="Söhne"/>
              </a:rPr>
              <a:t>Zéghal</a:t>
            </a:r>
            <a:r>
              <a:rPr lang="en-US" b="0" i="0" dirty="0">
                <a:effectLst/>
                <a:latin typeface="Söhne"/>
              </a:rPr>
              <a:t>, D. (2023). </a:t>
            </a:r>
            <a:r>
              <a:rPr lang="en-US" b="0" i="1" dirty="0">
                <a:effectLst/>
                <a:latin typeface="Söhne"/>
              </a:rPr>
              <a:t>Corporate risk disclosures in turbulent times: An international analysis in the global financial crisis</a:t>
            </a:r>
            <a:r>
              <a:rPr lang="en-US" b="0" i="0" dirty="0">
                <a:effectLst/>
                <a:latin typeface="Söhne"/>
              </a:rPr>
              <a:t>. Journal of International Financial Management &amp; Accounting.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Shehzad, K., Xiaoxing, L., &amp; </a:t>
            </a:r>
            <a:r>
              <a:rPr lang="en-US" b="0" i="0" dirty="0" err="1">
                <a:effectLst/>
                <a:latin typeface="Söhne"/>
              </a:rPr>
              <a:t>Kazouz</a:t>
            </a:r>
            <a:r>
              <a:rPr lang="en-US" b="0" i="0" dirty="0">
                <a:effectLst/>
                <a:latin typeface="Söhne"/>
              </a:rPr>
              <a:t>, H. (2020). </a:t>
            </a:r>
            <a:r>
              <a:rPr lang="en-US" b="0" i="1" dirty="0">
                <a:effectLst/>
                <a:latin typeface="Söhne"/>
              </a:rPr>
              <a:t>COVID-19’s disasters are perilous than Global Financial Crisis: A rumor or fact?</a:t>
            </a:r>
            <a:r>
              <a:rPr lang="en-US" b="0" i="0" dirty="0">
                <a:effectLst/>
                <a:latin typeface="Söhne"/>
              </a:rPr>
              <a:t>. Finance Research Letters, 36.</a:t>
            </a:r>
          </a:p>
          <a:p>
            <a:pPr algn="l">
              <a:buFont typeface="+mj-lt"/>
              <a:buAutoNum type="arabicPeriod"/>
            </a:pPr>
            <a:r>
              <a:rPr lang="en-US" b="0" i="0" dirty="0" err="1">
                <a:effectLst/>
                <a:latin typeface="Söhne"/>
              </a:rPr>
              <a:t>Lolea</a:t>
            </a:r>
            <a:r>
              <a:rPr lang="en-US" b="0" i="0" dirty="0">
                <a:effectLst/>
                <a:latin typeface="Söhne"/>
              </a:rPr>
              <a:t>, I.-C., </a:t>
            </a:r>
            <a:r>
              <a:rPr lang="en-US" b="0" i="0" dirty="0" err="1">
                <a:effectLst/>
                <a:latin typeface="Söhne"/>
              </a:rPr>
              <a:t>Petrariu</a:t>
            </a:r>
            <a:r>
              <a:rPr lang="en-US" b="0" i="0" dirty="0">
                <a:effectLst/>
                <a:latin typeface="Söhne"/>
              </a:rPr>
              <a:t>, I.-R., &amp; Giurgiu, A. (2021). </a:t>
            </a:r>
            <a:r>
              <a:rPr lang="en-US" b="0" i="1" dirty="0">
                <a:effectLst/>
                <a:latin typeface="Söhne"/>
              </a:rPr>
              <a:t>ARIMA vs. MACHINE LEARNING IN TERMS OF EQUITY MARKET FORECASTING</a:t>
            </a:r>
            <a:r>
              <a:rPr lang="en-US" b="0" i="0" dirty="0">
                <a:effectLst/>
                <a:latin typeface="Söhne"/>
              </a:rPr>
              <a:t>. The Annals of the University of Oradea. Economic Sciences, XXX(2), 299-308.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Tang, Y. M., Chau, K.-Y., Li, W., &amp; Wan, T. W. (2020). </a:t>
            </a:r>
            <a:r>
              <a:rPr lang="en-US" b="0" i="1" dirty="0">
                <a:effectLst/>
                <a:latin typeface="Söhne"/>
              </a:rPr>
              <a:t>Forecasting Economic Recession through Share Price in the Logistics Industry with Artificial Intelligence (AI)</a:t>
            </a:r>
            <a:r>
              <a:rPr lang="en-US" b="0" i="0" dirty="0">
                <a:effectLst/>
                <a:latin typeface="Söhne"/>
              </a:rPr>
              <a:t>. Computation, 8(3).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Liu, J., Yan, R., &amp; Zhang, Y. (2023). </a:t>
            </a:r>
            <a:r>
              <a:rPr lang="en-US" b="0" i="1" dirty="0">
                <a:effectLst/>
                <a:latin typeface="Söhne"/>
              </a:rPr>
              <a:t>Stock Market Forecasting Using the ARIMA GARCH and Random Forest Model During The Russia–Ukraine War</a:t>
            </a:r>
            <a:r>
              <a:rPr lang="en-US" b="0" i="0" dirty="0">
                <a:effectLst/>
                <a:latin typeface="Söhne"/>
              </a:rPr>
              <a:t>. Applied Economics and Policy Studies book series (AEPS), Springer.</a:t>
            </a:r>
          </a:p>
          <a:p>
            <a:pPr algn="l">
              <a:buFont typeface="+mj-lt"/>
              <a:buAutoNum type="arabicPeriod"/>
            </a:pPr>
            <a:r>
              <a:rPr lang="en-US" b="0" i="0" dirty="0" err="1">
                <a:effectLst/>
                <a:latin typeface="Söhne"/>
              </a:rPr>
              <a:t>Zulkefly</a:t>
            </a:r>
            <a:r>
              <a:rPr lang="en-US" b="0" i="0" dirty="0">
                <a:effectLst/>
                <a:latin typeface="Söhne"/>
              </a:rPr>
              <a:t>, R. N., Karim, A. A., Rahman, A. A., &amp; </a:t>
            </a:r>
            <a:r>
              <a:rPr lang="en-US" b="0" i="0" dirty="0" err="1">
                <a:effectLst/>
                <a:latin typeface="Söhne"/>
              </a:rPr>
              <a:t>Sarmidi</a:t>
            </a:r>
            <a:r>
              <a:rPr lang="en-US" b="0" i="0" dirty="0">
                <a:effectLst/>
                <a:latin typeface="Söhne"/>
              </a:rPr>
              <a:t>, T. (2020). </a:t>
            </a:r>
            <a:r>
              <a:rPr lang="en-US" b="0" i="1" dirty="0">
                <a:effectLst/>
                <a:latin typeface="Söhne"/>
              </a:rPr>
              <a:t>Financial inclusiveness and economic growth: New evidence using a threshold regression analysis</a:t>
            </a:r>
            <a:r>
              <a:rPr lang="en-US" b="0" i="0" dirty="0">
                <a:effectLst/>
                <a:latin typeface="Söhne"/>
              </a:rPr>
              <a:t>. Economic Research-</a:t>
            </a:r>
            <a:r>
              <a:rPr lang="en-US" b="0" i="0" dirty="0" err="1">
                <a:effectLst/>
                <a:latin typeface="Söhne"/>
              </a:rPr>
              <a:t>Ekonomska</a:t>
            </a:r>
            <a:r>
              <a:rPr lang="en-US" b="0" i="0" dirty="0">
                <a:effectLst/>
                <a:latin typeface="Söhne"/>
              </a:rPr>
              <a:t> </a:t>
            </a:r>
            <a:r>
              <a:rPr lang="en-US" b="0" i="0" dirty="0" err="1">
                <a:effectLst/>
                <a:latin typeface="Söhne"/>
              </a:rPr>
              <a:t>Istraživanja</a:t>
            </a:r>
            <a:r>
              <a:rPr lang="en-US" b="0" i="0" dirty="0">
                <a:effectLst/>
                <a:latin typeface="Söhne"/>
              </a:rPr>
              <a:t>, 33(1), 1465-1484.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Hossain, M. J. (2023). </a:t>
            </a:r>
            <a:r>
              <a:rPr lang="en-US" b="0" i="1" dirty="0">
                <a:effectLst/>
                <a:latin typeface="Söhne"/>
              </a:rPr>
              <a:t>Comparative Analysis of ARIMA SARIMAX and Random Forest Models for Forecasting Future GDP in Relation to Unemployment Rate</a:t>
            </a:r>
            <a:r>
              <a:rPr lang="en-US" b="0" i="0" dirty="0">
                <a:effectLst/>
                <a:latin typeface="Söhne"/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063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2112</Words>
  <Application>Microsoft Office PowerPoint</Application>
  <PresentationFormat>Widescreen</PresentationFormat>
  <Paragraphs>161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Narrow</vt:lpstr>
      <vt:lpstr>Calibri</vt:lpstr>
      <vt:lpstr>Calibri Light</vt:lpstr>
      <vt:lpstr>Söhne</vt:lpstr>
      <vt:lpstr>Office Theme</vt:lpstr>
      <vt:lpstr>Project Title: Behavioral Finance Patterns in Predicting Global Financial Crises: An Analytical Approach to Crisis Forecasting  Domain: Economics &amp; Finance   </vt:lpstr>
      <vt:lpstr>INTRODUCTION</vt:lpstr>
      <vt:lpstr>Problem Statement</vt:lpstr>
      <vt:lpstr>Objectives</vt:lpstr>
      <vt:lpstr>Review of Related Literature</vt:lpstr>
      <vt:lpstr>PowerPoint Presentation</vt:lpstr>
      <vt:lpstr>Column/Feature Details of the Dataset</vt:lpstr>
      <vt:lpstr>Column/Feature Details of the Dataset (continued)</vt:lpstr>
      <vt:lpstr>Details about the columns</vt:lpstr>
      <vt:lpstr>Proposed Methodology</vt:lpstr>
      <vt:lpstr>Exploratory Data Analysis </vt:lpstr>
      <vt:lpstr>Exploratory Data Analysis </vt:lpstr>
      <vt:lpstr>Exploratory Data Analysis </vt:lpstr>
      <vt:lpstr>Exploratory Data Analysis </vt:lpstr>
      <vt:lpstr>Exploratory Data Analysis </vt:lpstr>
      <vt:lpstr>Exploratory Data Analysis </vt:lpstr>
      <vt:lpstr>Next Step of Research Focus</vt:lpstr>
      <vt:lpstr>Conclusion</vt:lpstr>
      <vt:lpstr>References : APA format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Domain:</dc:title>
  <dc:creator>Angay</dc:creator>
  <cp:lastModifiedBy>Dharshani A</cp:lastModifiedBy>
  <cp:revision>14</cp:revision>
  <dcterms:created xsi:type="dcterms:W3CDTF">2023-11-15T14:09:37Z</dcterms:created>
  <dcterms:modified xsi:type="dcterms:W3CDTF">2023-11-27T04:03:16Z</dcterms:modified>
</cp:coreProperties>
</file>